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1"/>
    </p:embeddedFont>
    <p:embeddedFont>
      <p:font typeface="Kingred Modern" charset="1" panose="00000000000000000000"/>
      <p:regular r:id="rId22"/>
    </p:embeddedFont>
    <p:embeddedFont>
      <p:font typeface="Arimo" charset="1" panose="020B0604020202020204"/>
      <p:regular r:id="rId23"/>
    </p:embeddedFont>
    <p:embeddedFont>
      <p:font typeface="Montserrat"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680183" y="2014814"/>
            <a:ext cx="12927644" cy="5194297"/>
            <a:chOff x="0" y="0"/>
            <a:chExt cx="12927635" cy="5194300"/>
          </a:xfrm>
        </p:grpSpPr>
        <p:sp>
          <p:nvSpPr>
            <p:cNvPr name="Freeform 3" id="3"/>
            <p:cNvSpPr/>
            <p:nvPr/>
          </p:nvSpPr>
          <p:spPr>
            <a:xfrm flipH="false" flipV="false" rot="0">
              <a:off x="63500" y="82550"/>
              <a:ext cx="12800584" cy="5029200"/>
            </a:xfrm>
            <a:custGeom>
              <a:avLst/>
              <a:gdLst/>
              <a:ahLst/>
              <a:cxnLst/>
              <a:rect r="r" b="b" t="t" l="l"/>
              <a:pathLst>
                <a:path h="5029200" w="12800584">
                  <a:moveTo>
                    <a:pt x="19050" y="19050"/>
                  </a:moveTo>
                  <a:lnTo>
                    <a:pt x="19050" y="5010150"/>
                  </a:lnTo>
                  <a:moveTo>
                    <a:pt x="6325362" y="19050"/>
                  </a:moveTo>
                  <a:lnTo>
                    <a:pt x="6325362" y="5010150"/>
                  </a:lnTo>
                  <a:moveTo>
                    <a:pt x="12781534" y="19050"/>
                  </a:moveTo>
                  <a:lnTo>
                    <a:pt x="12781534" y="5010150"/>
                  </a:lnTo>
                  <a:moveTo>
                    <a:pt x="0" y="0"/>
                  </a:moveTo>
                  <a:lnTo>
                    <a:pt x="12800584" y="0"/>
                  </a:lnTo>
                  <a:moveTo>
                    <a:pt x="0" y="1066800"/>
                  </a:moveTo>
                  <a:lnTo>
                    <a:pt x="12800584" y="1066800"/>
                  </a:lnTo>
                  <a:moveTo>
                    <a:pt x="0" y="2057400"/>
                  </a:moveTo>
                  <a:lnTo>
                    <a:pt x="12800584" y="2057400"/>
                  </a:lnTo>
                  <a:moveTo>
                    <a:pt x="0" y="3048000"/>
                  </a:moveTo>
                  <a:lnTo>
                    <a:pt x="12800584" y="3048000"/>
                  </a:lnTo>
                  <a:moveTo>
                    <a:pt x="0" y="4038600"/>
                  </a:moveTo>
                  <a:lnTo>
                    <a:pt x="12800584" y="4038600"/>
                  </a:lnTo>
                  <a:moveTo>
                    <a:pt x="0" y="5029200"/>
                  </a:moveTo>
                  <a:lnTo>
                    <a:pt x="12800584" y="5029200"/>
                  </a:lnTo>
                </a:path>
              </a:pathLst>
            </a:custGeom>
            <a:solidFill>
              <a:srgbClr val="000000"/>
            </a:solidFill>
          </p:spPr>
        </p:sp>
        <p:sp>
          <p:nvSpPr>
            <p:cNvPr name="Freeform 4" id="4"/>
            <p:cNvSpPr/>
            <p:nvPr/>
          </p:nvSpPr>
          <p:spPr>
            <a:xfrm flipH="false" flipV="false" rot="0">
              <a:off x="63500" y="63500"/>
              <a:ext cx="12800584" cy="5067300"/>
            </a:xfrm>
            <a:custGeom>
              <a:avLst/>
              <a:gdLst/>
              <a:ahLst/>
              <a:cxnLst/>
              <a:rect r="r" b="b" t="t" l="l"/>
              <a:pathLst>
                <a:path h="5067300" w="12800584">
                  <a:moveTo>
                    <a:pt x="6306312" y="38100"/>
                  </a:moveTo>
                  <a:lnTo>
                    <a:pt x="6306312" y="1066800"/>
                  </a:lnTo>
                  <a:lnTo>
                    <a:pt x="38100" y="1066800"/>
                  </a:lnTo>
                  <a:lnTo>
                    <a:pt x="38100" y="38100"/>
                  </a:lnTo>
                  <a:close/>
                  <a:moveTo>
                    <a:pt x="12762611" y="38100"/>
                  </a:moveTo>
                  <a:lnTo>
                    <a:pt x="12762611" y="1066800"/>
                  </a:lnTo>
                  <a:lnTo>
                    <a:pt x="6344412" y="1066800"/>
                  </a:lnTo>
                  <a:lnTo>
                    <a:pt x="6344412" y="38100"/>
                  </a:lnTo>
                  <a:close/>
                  <a:moveTo>
                    <a:pt x="6306312" y="1104900"/>
                  </a:moveTo>
                  <a:lnTo>
                    <a:pt x="6306312" y="2057400"/>
                  </a:lnTo>
                  <a:lnTo>
                    <a:pt x="38100" y="2057400"/>
                  </a:lnTo>
                  <a:lnTo>
                    <a:pt x="38100" y="1104900"/>
                  </a:lnTo>
                  <a:close/>
                  <a:moveTo>
                    <a:pt x="12762611" y="1104900"/>
                  </a:moveTo>
                  <a:lnTo>
                    <a:pt x="12762611" y="2057400"/>
                  </a:lnTo>
                  <a:lnTo>
                    <a:pt x="6344412" y="2057400"/>
                  </a:lnTo>
                  <a:lnTo>
                    <a:pt x="6344412" y="1104900"/>
                  </a:lnTo>
                  <a:close/>
                  <a:moveTo>
                    <a:pt x="6306312" y="2095500"/>
                  </a:moveTo>
                  <a:lnTo>
                    <a:pt x="6306312" y="3048000"/>
                  </a:lnTo>
                  <a:lnTo>
                    <a:pt x="38100" y="3048000"/>
                  </a:lnTo>
                  <a:lnTo>
                    <a:pt x="38100" y="2095500"/>
                  </a:lnTo>
                  <a:close/>
                  <a:moveTo>
                    <a:pt x="12762611" y="2095500"/>
                  </a:moveTo>
                  <a:lnTo>
                    <a:pt x="12762611" y="3048000"/>
                  </a:lnTo>
                  <a:lnTo>
                    <a:pt x="6344412" y="3048000"/>
                  </a:lnTo>
                  <a:lnTo>
                    <a:pt x="6344412" y="2095500"/>
                  </a:lnTo>
                  <a:close/>
                  <a:moveTo>
                    <a:pt x="6306312" y="3086100"/>
                  </a:moveTo>
                  <a:lnTo>
                    <a:pt x="6306312" y="4038600"/>
                  </a:lnTo>
                  <a:lnTo>
                    <a:pt x="38100" y="4038600"/>
                  </a:lnTo>
                  <a:lnTo>
                    <a:pt x="38100" y="3086100"/>
                  </a:lnTo>
                  <a:close/>
                  <a:moveTo>
                    <a:pt x="12762611" y="3086100"/>
                  </a:moveTo>
                  <a:lnTo>
                    <a:pt x="12762611" y="4038600"/>
                  </a:lnTo>
                  <a:lnTo>
                    <a:pt x="6344412" y="4038600"/>
                  </a:lnTo>
                  <a:lnTo>
                    <a:pt x="6344412" y="3086100"/>
                  </a:lnTo>
                  <a:close/>
                  <a:moveTo>
                    <a:pt x="6306312" y="4076700"/>
                  </a:moveTo>
                  <a:lnTo>
                    <a:pt x="6306312" y="5029200"/>
                  </a:lnTo>
                  <a:lnTo>
                    <a:pt x="38100" y="5029200"/>
                  </a:lnTo>
                  <a:lnTo>
                    <a:pt x="38100" y="4076700"/>
                  </a:lnTo>
                  <a:close/>
                  <a:moveTo>
                    <a:pt x="12762611" y="4076700"/>
                  </a:moveTo>
                  <a:lnTo>
                    <a:pt x="12762611" y="5029200"/>
                  </a:lnTo>
                  <a:lnTo>
                    <a:pt x="6344412" y="5029200"/>
                  </a:lnTo>
                  <a:lnTo>
                    <a:pt x="6344412" y="4076700"/>
                  </a:lnTo>
                  <a:close/>
                  <a:moveTo>
                    <a:pt x="0" y="0"/>
                  </a:moveTo>
                  <a:lnTo>
                    <a:pt x="0" y="5067300"/>
                  </a:lnTo>
                  <a:lnTo>
                    <a:pt x="12800584" y="5067300"/>
                  </a:lnTo>
                  <a:lnTo>
                    <a:pt x="12800584" y="5029200"/>
                  </a:lnTo>
                  <a:lnTo>
                    <a:pt x="12800584" y="38100"/>
                  </a:lnTo>
                  <a:lnTo>
                    <a:pt x="12800584" y="0"/>
                  </a:lnTo>
                  <a:close/>
                </a:path>
              </a:pathLst>
            </a:custGeom>
            <a:solidFill>
              <a:srgbClr val="000000"/>
            </a:solidFill>
          </p:spPr>
        </p:sp>
      </p:grpSp>
      <p:sp>
        <p:nvSpPr>
          <p:cNvPr name="Freeform 5" id="5"/>
          <p:cNvSpPr/>
          <p:nvPr/>
        </p:nvSpPr>
        <p:spPr>
          <a:xfrm flipH="false" flipV="false" rot="0">
            <a:off x="798576" y="362712"/>
            <a:ext cx="16020288" cy="1740408"/>
          </a:xfrm>
          <a:custGeom>
            <a:avLst/>
            <a:gdLst/>
            <a:ahLst/>
            <a:cxnLst/>
            <a:rect r="r" b="b" t="t" l="l"/>
            <a:pathLst>
              <a:path h="1740408" w="16020288">
                <a:moveTo>
                  <a:pt x="0" y="0"/>
                </a:moveTo>
                <a:lnTo>
                  <a:pt x="16020288" y="0"/>
                </a:lnTo>
                <a:lnTo>
                  <a:pt x="16020288" y="1740408"/>
                </a:lnTo>
                <a:lnTo>
                  <a:pt x="0" y="1740408"/>
                </a:lnTo>
                <a:lnTo>
                  <a:pt x="0" y="0"/>
                </a:lnTo>
                <a:close/>
              </a:path>
            </a:pathLst>
          </a:custGeom>
          <a:blipFill>
            <a:blip r:embed="rId2"/>
            <a:stretch>
              <a:fillRect l="0" t="0" r="0" b="0"/>
            </a:stretch>
          </a:blipFill>
        </p:spPr>
      </p:sp>
      <p:sp>
        <p:nvSpPr>
          <p:cNvPr name="TextBox 6" id="6"/>
          <p:cNvSpPr txBox="true"/>
          <p:nvPr/>
        </p:nvSpPr>
        <p:spPr>
          <a:xfrm rot="0">
            <a:off x="2972276" y="3130734"/>
            <a:ext cx="3086919"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MONIKA SHREE A</a:t>
            </a:r>
          </a:p>
        </p:txBody>
      </p:sp>
      <p:sp>
        <p:nvSpPr>
          <p:cNvPr name="TextBox 7" id="7"/>
          <p:cNvSpPr txBox="true"/>
          <p:nvPr/>
        </p:nvSpPr>
        <p:spPr>
          <a:xfrm rot="0">
            <a:off x="2972276" y="4121334"/>
            <a:ext cx="1558280"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DINESH J</a:t>
            </a:r>
          </a:p>
        </p:txBody>
      </p:sp>
      <p:sp>
        <p:nvSpPr>
          <p:cNvPr name="TextBox 8" id="8"/>
          <p:cNvSpPr txBox="true"/>
          <p:nvPr/>
        </p:nvSpPr>
        <p:spPr>
          <a:xfrm rot="0">
            <a:off x="2972276" y="5111934"/>
            <a:ext cx="2271427"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THARUN M N</a:t>
            </a:r>
          </a:p>
        </p:txBody>
      </p:sp>
      <p:sp>
        <p:nvSpPr>
          <p:cNvPr name="TextBox 9" id="9"/>
          <p:cNvSpPr txBox="true"/>
          <p:nvPr/>
        </p:nvSpPr>
        <p:spPr>
          <a:xfrm rot="0">
            <a:off x="2972276" y="6102534"/>
            <a:ext cx="2838421"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GAUTHAM BHAT</a:t>
            </a:r>
          </a:p>
        </p:txBody>
      </p:sp>
      <p:sp>
        <p:nvSpPr>
          <p:cNvPr name="TextBox 10" id="10"/>
          <p:cNvSpPr txBox="true"/>
          <p:nvPr/>
        </p:nvSpPr>
        <p:spPr>
          <a:xfrm rot="0">
            <a:off x="9278579" y="2102034"/>
            <a:ext cx="2399376"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20241IST0112</a:t>
            </a:r>
          </a:p>
        </p:txBody>
      </p:sp>
      <p:sp>
        <p:nvSpPr>
          <p:cNvPr name="TextBox 11" id="11"/>
          <p:cNvSpPr txBox="true"/>
          <p:nvPr/>
        </p:nvSpPr>
        <p:spPr>
          <a:xfrm rot="0">
            <a:off x="9278579" y="3130734"/>
            <a:ext cx="2392632"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20241IST0113</a:t>
            </a:r>
          </a:p>
        </p:txBody>
      </p:sp>
      <p:sp>
        <p:nvSpPr>
          <p:cNvPr name="TextBox 12" id="12"/>
          <p:cNvSpPr txBox="true"/>
          <p:nvPr/>
        </p:nvSpPr>
        <p:spPr>
          <a:xfrm rot="0">
            <a:off x="9278579" y="4121334"/>
            <a:ext cx="2392975"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20241IST0114</a:t>
            </a:r>
          </a:p>
        </p:txBody>
      </p:sp>
      <p:sp>
        <p:nvSpPr>
          <p:cNvPr name="TextBox 13" id="13"/>
          <p:cNvSpPr txBox="true"/>
          <p:nvPr/>
        </p:nvSpPr>
        <p:spPr>
          <a:xfrm rot="0">
            <a:off x="9278579" y="5111934"/>
            <a:ext cx="2384555"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20241IST0115</a:t>
            </a:r>
          </a:p>
        </p:txBody>
      </p:sp>
      <p:sp>
        <p:nvSpPr>
          <p:cNvPr name="TextBox 14" id="14"/>
          <p:cNvSpPr txBox="true"/>
          <p:nvPr/>
        </p:nvSpPr>
        <p:spPr>
          <a:xfrm rot="0">
            <a:off x="9278579" y="6102534"/>
            <a:ext cx="2377821" cy="714613"/>
          </a:xfrm>
          <a:prstGeom prst="rect">
            <a:avLst/>
          </a:prstGeom>
        </p:spPr>
        <p:txBody>
          <a:bodyPr anchor="t" rtlCol="false" tIns="0" lIns="0" bIns="0" rIns="0">
            <a:spAutoFit/>
          </a:bodyPr>
          <a:lstStyle/>
          <a:p>
            <a:pPr algn="l">
              <a:lnSpc>
                <a:spcPts val="6498"/>
              </a:lnSpc>
            </a:pPr>
            <a:r>
              <a:rPr lang="en-US" b="true" sz="2599">
                <a:solidFill>
                  <a:srgbClr val="000000"/>
                </a:solidFill>
                <a:latin typeface="League Spartan"/>
                <a:ea typeface="League Spartan"/>
                <a:cs typeface="League Spartan"/>
                <a:sym typeface="League Spartan"/>
              </a:rPr>
              <a:t>20241IST0116</a:t>
            </a:r>
          </a:p>
        </p:txBody>
      </p:sp>
      <p:sp>
        <p:nvSpPr>
          <p:cNvPr name="TextBox 15" id="15"/>
          <p:cNvSpPr txBox="true"/>
          <p:nvPr/>
        </p:nvSpPr>
        <p:spPr>
          <a:xfrm rot="0">
            <a:off x="6699152" y="7417251"/>
            <a:ext cx="4503325" cy="489137"/>
          </a:xfrm>
          <a:prstGeom prst="rect">
            <a:avLst/>
          </a:prstGeom>
        </p:spPr>
        <p:txBody>
          <a:bodyPr anchor="t" rtlCol="false" tIns="0" lIns="0" bIns="0" rIns="0">
            <a:spAutoFit/>
          </a:bodyPr>
          <a:lstStyle/>
          <a:p>
            <a:pPr algn="l">
              <a:lnSpc>
                <a:spcPts val="3923"/>
              </a:lnSpc>
            </a:pPr>
            <a:r>
              <a:rPr lang="en-US" b="true" sz="2743">
                <a:solidFill>
                  <a:srgbClr val="000000"/>
                </a:solidFill>
                <a:latin typeface="League Spartan"/>
                <a:ea typeface="League Spartan"/>
                <a:cs typeface="League Spartan"/>
                <a:sym typeface="League Spartan"/>
              </a:rPr>
              <a:t>Under the supervision of</a:t>
            </a:r>
          </a:p>
        </p:txBody>
      </p:sp>
      <p:sp>
        <p:nvSpPr>
          <p:cNvPr name="TextBox 16" id="16"/>
          <p:cNvSpPr txBox="true"/>
          <p:nvPr/>
        </p:nvSpPr>
        <p:spPr>
          <a:xfrm rot="0">
            <a:off x="7728918" y="7901807"/>
            <a:ext cx="79334" cy="402584"/>
          </a:xfrm>
          <a:prstGeom prst="rect">
            <a:avLst/>
          </a:prstGeom>
        </p:spPr>
        <p:txBody>
          <a:bodyPr anchor="t" rtlCol="false" tIns="0" lIns="0" bIns="0" rIns="0">
            <a:spAutoFit/>
          </a:bodyPr>
          <a:lstStyle/>
          <a:p>
            <a:pPr algn="l">
              <a:lnSpc>
                <a:spcPts val="3207"/>
              </a:lnSpc>
            </a:pPr>
            <a:r>
              <a:rPr lang="en-US" b="true" sz="2243">
                <a:solidFill>
                  <a:srgbClr val="FF0000"/>
                </a:solidFill>
                <a:latin typeface="League Spartan"/>
                <a:ea typeface="League Spartan"/>
                <a:cs typeface="League Spartan"/>
                <a:sym typeface="League Spartan"/>
              </a:rPr>
              <a:t> </a:t>
            </a:r>
          </a:p>
        </p:txBody>
      </p:sp>
      <p:sp>
        <p:nvSpPr>
          <p:cNvPr name="TextBox 17" id="17"/>
          <p:cNvSpPr txBox="true"/>
          <p:nvPr/>
        </p:nvSpPr>
        <p:spPr>
          <a:xfrm rot="0">
            <a:off x="7146388" y="7911332"/>
            <a:ext cx="3590982" cy="393059"/>
          </a:xfrm>
          <a:prstGeom prst="rect">
            <a:avLst/>
          </a:prstGeom>
        </p:spPr>
        <p:txBody>
          <a:bodyPr anchor="t" rtlCol="false" tIns="0" lIns="0" bIns="0" rIns="0">
            <a:spAutoFit/>
          </a:bodyPr>
          <a:lstStyle/>
          <a:p>
            <a:pPr algn="l">
              <a:lnSpc>
                <a:spcPts val="3140"/>
              </a:lnSpc>
            </a:pPr>
            <a:r>
              <a:rPr lang="en-US" b="true" sz="2243">
                <a:solidFill>
                  <a:srgbClr val="FF0000"/>
                </a:solidFill>
                <a:latin typeface="League Spartan"/>
                <a:ea typeface="League Spartan"/>
                <a:cs typeface="League Spartan"/>
                <a:sym typeface="League Spartan"/>
              </a:rPr>
              <a:t>SIR.</a:t>
            </a:r>
            <a:r>
              <a:rPr lang="en-US" b="true" sz="2243">
                <a:solidFill>
                  <a:srgbClr val="000000"/>
                </a:solidFill>
                <a:latin typeface="League Spartan"/>
                <a:ea typeface="League Spartan"/>
                <a:cs typeface="League Spartan"/>
                <a:sym typeface="League Spartan"/>
              </a:rPr>
              <a:t> </a:t>
            </a:r>
            <a:r>
              <a:rPr lang="en-US" b="true" sz="2243">
                <a:solidFill>
                  <a:srgbClr val="FF0000"/>
                </a:solidFill>
                <a:latin typeface="League Spartan"/>
                <a:ea typeface="League Spartan"/>
                <a:cs typeface="League Spartan"/>
                <a:sym typeface="League Spartan"/>
              </a:rPr>
              <a:t>Sunil</a:t>
            </a:r>
            <a:r>
              <a:rPr lang="en-US" b="true" sz="2243">
                <a:solidFill>
                  <a:srgbClr val="000000"/>
                </a:solidFill>
                <a:latin typeface="League Spartan"/>
                <a:ea typeface="League Spartan"/>
                <a:cs typeface="League Spartan"/>
                <a:sym typeface="League Spartan"/>
              </a:rPr>
              <a:t> </a:t>
            </a:r>
            <a:r>
              <a:rPr lang="en-US" b="true" sz="2243">
                <a:solidFill>
                  <a:srgbClr val="FF0000"/>
                </a:solidFill>
                <a:latin typeface="League Spartan"/>
                <a:ea typeface="League Spartan"/>
                <a:cs typeface="League Spartan"/>
                <a:sym typeface="League Spartan"/>
              </a:rPr>
              <a:t>Kumar</a:t>
            </a:r>
            <a:r>
              <a:rPr lang="en-US" b="true" sz="2243">
                <a:solidFill>
                  <a:srgbClr val="000000"/>
                </a:solidFill>
                <a:latin typeface="League Spartan"/>
                <a:ea typeface="League Spartan"/>
                <a:cs typeface="League Spartan"/>
                <a:sym typeface="League Spartan"/>
              </a:rPr>
              <a:t> </a:t>
            </a:r>
            <a:r>
              <a:rPr lang="en-US" b="true" sz="2243">
                <a:solidFill>
                  <a:srgbClr val="FF0000"/>
                </a:solidFill>
                <a:latin typeface="League Spartan"/>
                <a:ea typeface="League Spartan"/>
                <a:cs typeface="League Spartan"/>
                <a:sym typeface="League Spartan"/>
              </a:rPr>
              <a:t>Sahoo</a:t>
            </a:r>
          </a:p>
        </p:txBody>
      </p:sp>
      <p:sp>
        <p:nvSpPr>
          <p:cNvPr name="TextBox 18" id="18"/>
          <p:cNvSpPr txBox="true"/>
          <p:nvPr/>
        </p:nvSpPr>
        <p:spPr>
          <a:xfrm rot="0">
            <a:off x="3927529" y="8380990"/>
            <a:ext cx="10157698" cy="578444"/>
          </a:xfrm>
          <a:prstGeom prst="rect">
            <a:avLst/>
          </a:prstGeom>
        </p:spPr>
        <p:txBody>
          <a:bodyPr anchor="t" rtlCol="false" tIns="0" lIns="0" bIns="0" rIns="0">
            <a:spAutoFit/>
          </a:bodyPr>
          <a:lstStyle/>
          <a:p>
            <a:pPr algn="l">
              <a:lnSpc>
                <a:spcPts val="4921"/>
              </a:lnSpc>
            </a:pPr>
            <a:r>
              <a:rPr lang="en-US" b="true" sz="2643">
                <a:solidFill>
                  <a:srgbClr val="000000"/>
                </a:solidFill>
                <a:latin typeface="League Spartan"/>
                <a:ea typeface="League Spartan"/>
                <a:cs typeface="League Spartan"/>
                <a:sym typeface="League Spartan"/>
              </a:rPr>
              <a:t>DEPARTMENT OF COMPUTER SCIENCE AND ENGINNERING</a:t>
            </a:r>
          </a:p>
        </p:txBody>
      </p:sp>
      <p:sp>
        <p:nvSpPr>
          <p:cNvPr name="TextBox 19" id="19"/>
          <p:cNvSpPr txBox="true"/>
          <p:nvPr/>
        </p:nvSpPr>
        <p:spPr>
          <a:xfrm rot="0">
            <a:off x="8240582" y="9003763"/>
            <a:ext cx="65199" cy="512474"/>
          </a:xfrm>
          <a:prstGeom prst="rect">
            <a:avLst/>
          </a:prstGeom>
        </p:spPr>
        <p:txBody>
          <a:bodyPr anchor="t" rtlCol="false" tIns="0" lIns="0" bIns="0" rIns="0">
            <a:spAutoFit/>
          </a:bodyPr>
          <a:lstStyle/>
          <a:p>
            <a:pPr algn="l">
              <a:lnSpc>
                <a:spcPts val="4608"/>
              </a:lnSpc>
            </a:pPr>
            <a:r>
              <a:rPr lang="en-US" b="true" sz="1843">
                <a:solidFill>
                  <a:srgbClr val="FF0000"/>
                </a:solidFill>
                <a:latin typeface="League Spartan"/>
                <a:ea typeface="League Spartan"/>
                <a:cs typeface="League Spartan"/>
                <a:sym typeface="League Spartan"/>
              </a:rPr>
              <a:t> </a:t>
            </a:r>
          </a:p>
        </p:txBody>
      </p:sp>
      <p:sp>
        <p:nvSpPr>
          <p:cNvPr name="TextBox 20" id="20"/>
          <p:cNvSpPr txBox="true"/>
          <p:nvPr/>
        </p:nvSpPr>
        <p:spPr>
          <a:xfrm rot="0">
            <a:off x="7693476" y="9203788"/>
            <a:ext cx="2475052" cy="312449"/>
          </a:xfrm>
          <a:prstGeom prst="rect">
            <a:avLst/>
          </a:prstGeom>
        </p:spPr>
        <p:txBody>
          <a:bodyPr anchor="t" rtlCol="false" tIns="0" lIns="0" bIns="0" rIns="0">
            <a:spAutoFit/>
          </a:bodyPr>
          <a:lstStyle/>
          <a:p>
            <a:pPr algn="l">
              <a:lnSpc>
                <a:spcPts val="2549"/>
              </a:lnSpc>
            </a:pPr>
            <a:r>
              <a:rPr lang="en-US" b="true" sz="1843">
                <a:solidFill>
                  <a:srgbClr val="FF0000"/>
                </a:solidFill>
                <a:latin typeface="League Spartan"/>
                <a:ea typeface="League Spartan"/>
                <a:cs typeface="League Spartan"/>
                <a:sym typeface="League Spartan"/>
              </a:rPr>
              <a:t>Web</a:t>
            </a:r>
            <a:r>
              <a:rPr lang="en-US" b="true" sz="1843">
                <a:solidFill>
                  <a:srgbClr val="000000"/>
                </a:solidFill>
                <a:latin typeface="League Spartan"/>
                <a:ea typeface="League Spartan"/>
                <a:cs typeface="League Spartan"/>
                <a:sym typeface="League Spartan"/>
              </a:rPr>
              <a:t> </a:t>
            </a:r>
            <a:r>
              <a:rPr lang="en-US" b="true" sz="1843">
                <a:solidFill>
                  <a:srgbClr val="FF0000"/>
                </a:solidFill>
                <a:latin typeface="League Spartan"/>
                <a:ea typeface="League Spartan"/>
                <a:cs typeface="League Spartan"/>
                <a:sym typeface="League Spartan"/>
              </a:rPr>
              <a:t>Technology</a:t>
            </a:r>
            <a:r>
              <a:rPr lang="en-US" b="true" sz="1843">
                <a:solidFill>
                  <a:srgbClr val="000000"/>
                </a:solidFill>
                <a:latin typeface="League Spartan"/>
                <a:ea typeface="League Spartan"/>
                <a:cs typeface="League Spartan"/>
                <a:sym typeface="League Spartan"/>
              </a:rPr>
              <a:t> </a:t>
            </a:r>
            <a:r>
              <a:rPr lang="en-US" b="true" sz="1843">
                <a:solidFill>
                  <a:srgbClr val="FF0000"/>
                </a:solidFill>
                <a:latin typeface="League Spartan"/>
                <a:ea typeface="League Spartan"/>
                <a:cs typeface="League Spartan"/>
                <a:sym typeface="League Spartan"/>
              </a:rPr>
              <a:t>lab</a:t>
            </a:r>
          </a:p>
        </p:txBody>
      </p:sp>
      <p:sp>
        <p:nvSpPr>
          <p:cNvPr name="TextBox 21" id="21"/>
          <p:cNvSpPr txBox="true"/>
          <p:nvPr/>
        </p:nvSpPr>
        <p:spPr>
          <a:xfrm rot="0">
            <a:off x="8340138" y="9527638"/>
            <a:ext cx="1155992" cy="312449"/>
          </a:xfrm>
          <a:prstGeom prst="rect">
            <a:avLst/>
          </a:prstGeom>
        </p:spPr>
        <p:txBody>
          <a:bodyPr anchor="t" rtlCol="false" tIns="0" lIns="0" bIns="0" rIns="0">
            <a:spAutoFit/>
          </a:bodyPr>
          <a:lstStyle/>
          <a:p>
            <a:pPr algn="l">
              <a:lnSpc>
                <a:spcPts val="2549"/>
              </a:lnSpc>
            </a:pPr>
            <a:r>
              <a:rPr lang="en-US" b="true" sz="1843">
                <a:solidFill>
                  <a:srgbClr val="FF0000"/>
                </a:solidFill>
                <a:latin typeface="League Spartan"/>
                <a:ea typeface="League Spartan"/>
                <a:cs typeface="League Spartan"/>
                <a:sym typeface="League Spartan"/>
              </a:rPr>
              <a:t>CSE2259</a:t>
            </a:r>
          </a:p>
        </p:txBody>
      </p:sp>
      <p:sp>
        <p:nvSpPr>
          <p:cNvPr name="TextBox 22" id="22"/>
          <p:cNvSpPr txBox="true"/>
          <p:nvPr/>
        </p:nvSpPr>
        <p:spPr>
          <a:xfrm rot="0">
            <a:off x="1145515" y="1410976"/>
            <a:ext cx="15757188" cy="857812"/>
          </a:xfrm>
          <a:prstGeom prst="rect">
            <a:avLst/>
          </a:prstGeom>
        </p:spPr>
        <p:txBody>
          <a:bodyPr anchor="t" rtlCol="false" tIns="0" lIns="0" bIns="0" rIns="0">
            <a:spAutoFit/>
          </a:bodyPr>
          <a:lstStyle/>
          <a:p>
            <a:pPr algn="l">
              <a:lnSpc>
                <a:spcPts val="5349"/>
              </a:lnSpc>
            </a:pPr>
            <a:r>
              <a:rPr lang="en-US" sz="10699">
                <a:solidFill>
                  <a:srgbClr val="00264B"/>
                </a:solidFill>
                <a:latin typeface="Kingred Modern"/>
                <a:ea typeface="Kingred Modern"/>
                <a:cs typeface="Kingred Modern"/>
                <a:sym typeface="Kingred Modern"/>
              </a:rPr>
              <a:t>DDMGT BOYS HOSTEL</a:t>
            </a:r>
          </a:p>
        </p:txBody>
      </p:sp>
      <p:sp>
        <p:nvSpPr>
          <p:cNvPr name="TextBox 23" id="23"/>
          <p:cNvSpPr txBox="true"/>
          <p:nvPr/>
        </p:nvSpPr>
        <p:spPr>
          <a:xfrm rot="0">
            <a:off x="2972276" y="2049447"/>
            <a:ext cx="1917659" cy="798909"/>
          </a:xfrm>
          <a:prstGeom prst="rect">
            <a:avLst/>
          </a:prstGeom>
        </p:spPr>
        <p:txBody>
          <a:bodyPr anchor="t" rtlCol="false" tIns="0" lIns="0" bIns="0" rIns="0">
            <a:spAutoFit/>
          </a:bodyPr>
          <a:lstStyle/>
          <a:p>
            <a:pPr algn="l">
              <a:lnSpc>
                <a:spcPts val="7248"/>
              </a:lnSpc>
            </a:pPr>
            <a:r>
              <a:rPr lang="en-US" b="true" sz="2899">
                <a:solidFill>
                  <a:srgbClr val="000000"/>
                </a:solidFill>
                <a:latin typeface="League Spartan"/>
                <a:ea typeface="League Spartan"/>
                <a:cs typeface="League Spartan"/>
                <a:sym typeface="League Spartan"/>
              </a:rPr>
              <a:t>DEEPAK 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grpSp>
        <p:nvGrpSpPr>
          <p:cNvPr name="Group 3" id="3"/>
          <p:cNvGrpSpPr>
            <a:grpSpLocks noChangeAspect="true"/>
          </p:cNvGrpSpPr>
          <p:nvPr/>
        </p:nvGrpSpPr>
        <p:grpSpPr>
          <a:xfrm rot="0">
            <a:off x="914400" y="633984"/>
            <a:ext cx="70104" cy="396240"/>
            <a:chOff x="0" y="0"/>
            <a:chExt cx="70104" cy="396240"/>
          </a:xfrm>
        </p:grpSpPr>
        <p:sp>
          <p:nvSpPr>
            <p:cNvPr name="Freeform 4" id="4"/>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5" id="5"/>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718995" y="1663856"/>
            <a:ext cx="3697586" cy="758581"/>
          </a:xfrm>
          <a:prstGeom prst="rect">
            <a:avLst/>
          </a:prstGeom>
        </p:spPr>
        <p:txBody>
          <a:bodyPr anchor="t" rtlCol="false" tIns="0" lIns="0" bIns="0" rIns="0">
            <a:spAutoFit/>
          </a:bodyPr>
          <a:lstStyle/>
          <a:p>
            <a:pPr algn="l">
              <a:lnSpc>
                <a:spcPts val="6088"/>
              </a:lnSpc>
            </a:pPr>
            <a:r>
              <a:rPr lang="en-US" b="true" sz="4493">
                <a:solidFill>
                  <a:srgbClr val="FF0000"/>
                </a:solidFill>
                <a:latin typeface="League Spartan"/>
                <a:ea typeface="League Spartan"/>
                <a:cs typeface="League Spartan"/>
                <a:sym typeface="League Spartan"/>
              </a:rPr>
              <a:t>Introduction</a:t>
            </a:r>
          </a:p>
        </p:txBody>
      </p:sp>
      <p:sp>
        <p:nvSpPr>
          <p:cNvPr name="TextBox 8" id="8"/>
          <p:cNvSpPr txBox="true"/>
          <p:nvPr/>
        </p:nvSpPr>
        <p:spPr>
          <a:xfrm rot="0">
            <a:off x="1303087" y="2575531"/>
            <a:ext cx="87449" cy="685571"/>
          </a:xfrm>
          <a:prstGeom prst="rect">
            <a:avLst/>
          </a:prstGeom>
        </p:spPr>
        <p:txBody>
          <a:bodyPr anchor="t" rtlCol="false" tIns="0" lIns="0" bIns="0" rIns="0">
            <a:spAutoFit/>
          </a:bodyPr>
          <a:lstStyle/>
          <a:p>
            <a:pPr algn="l">
              <a:lnSpc>
                <a:spcPts val="6181"/>
              </a:lnSpc>
            </a:pPr>
            <a:r>
              <a:rPr lang="en-US" b="true" sz="2472">
                <a:solidFill>
                  <a:srgbClr val="000000"/>
                </a:solidFill>
                <a:latin typeface="League Spartan"/>
                <a:ea typeface="League Spartan"/>
                <a:cs typeface="League Spartan"/>
                <a:sym typeface="League Spartan"/>
              </a:rPr>
              <a:t> </a:t>
            </a:r>
          </a:p>
        </p:txBody>
      </p:sp>
      <p:sp>
        <p:nvSpPr>
          <p:cNvPr name="TextBox 9" id="9"/>
          <p:cNvSpPr txBox="true"/>
          <p:nvPr/>
        </p:nvSpPr>
        <p:spPr>
          <a:xfrm rot="0">
            <a:off x="718995" y="2842231"/>
            <a:ext cx="17186853" cy="418871"/>
          </a:xfrm>
          <a:prstGeom prst="rect">
            <a:avLst/>
          </a:prstGeom>
        </p:spPr>
        <p:txBody>
          <a:bodyPr anchor="t" rtlCol="false" tIns="0" lIns="0" bIns="0" rIns="0">
            <a:spAutoFit/>
          </a:bodyPr>
          <a:lstStyle/>
          <a:p>
            <a:pPr algn="l">
              <a:lnSpc>
                <a:spcPts val="3380"/>
              </a:lnSpc>
            </a:pPr>
            <a:r>
              <a:rPr lang="en-US" b="true" sz="2472">
                <a:solidFill>
                  <a:srgbClr val="000000"/>
                </a:solidFill>
                <a:latin typeface="League Spartan"/>
                <a:ea typeface="League Spartan"/>
                <a:cs typeface="League Spartan"/>
                <a:sym typeface="League Spartan"/>
              </a:rPr>
              <a:t>TheHostel ManagementSystem is a web-based platform designed to streamline and automate hostel</a:t>
            </a:r>
          </a:p>
        </p:txBody>
      </p:sp>
      <p:sp>
        <p:nvSpPr>
          <p:cNvPr name="TextBox 10" id="10"/>
          <p:cNvSpPr txBox="true"/>
          <p:nvPr/>
        </p:nvSpPr>
        <p:spPr>
          <a:xfrm rot="0">
            <a:off x="718995" y="3270856"/>
            <a:ext cx="17186815" cy="1276121"/>
          </a:xfrm>
          <a:prstGeom prst="rect">
            <a:avLst/>
          </a:prstGeom>
        </p:spPr>
        <p:txBody>
          <a:bodyPr anchor="t" rtlCol="false" tIns="0" lIns="0" bIns="0" rIns="0">
            <a:spAutoFit/>
          </a:bodyPr>
          <a:lstStyle/>
          <a:p>
            <a:pPr algn="just">
              <a:lnSpc>
                <a:spcPts val="3380"/>
              </a:lnSpc>
            </a:pPr>
            <a:r>
              <a:rPr lang="en-US" b="true" sz="2472">
                <a:solidFill>
                  <a:srgbClr val="000000"/>
                </a:solidFill>
                <a:latin typeface="League Spartan"/>
                <a:ea typeface="League Spartan"/>
                <a:cs typeface="League Spartan"/>
                <a:sym typeface="League Spartan"/>
              </a:rPr>
              <a:t>operations such as room allocation, student registration, payments, complaints, and food management. It helps administrators maintain accurate records and provides students with an easy interface to access hostel services.</a:t>
            </a:r>
          </a:p>
        </p:txBody>
      </p:sp>
      <p:sp>
        <p:nvSpPr>
          <p:cNvPr name="TextBox 11" id="11"/>
          <p:cNvSpPr txBox="true"/>
          <p:nvPr/>
        </p:nvSpPr>
        <p:spPr>
          <a:xfrm rot="0">
            <a:off x="921868" y="4541015"/>
            <a:ext cx="80362" cy="397564"/>
          </a:xfrm>
          <a:prstGeom prst="rect">
            <a:avLst/>
          </a:prstGeom>
        </p:spPr>
        <p:txBody>
          <a:bodyPr anchor="t" rtlCol="false" tIns="0" lIns="0" bIns="0" rIns="0">
            <a:spAutoFit/>
          </a:bodyPr>
          <a:lstStyle/>
          <a:p>
            <a:pPr algn="l">
              <a:lnSpc>
                <a:spcPts val="3106"/>
              </a:lnSpc>
            </a:pPr>
            <a:r>
              <a:rPr lang="en-US" b="true" sz="2272">
                <a:solidFill>
                  <a:srgbClr val="000000"/>
                </a:solidFill>
                <a:latin typeface="League Spartan"/>
                <a:ea typeface="League Spartan"/>
                <a:cs typeface="League Spartan"/>
                <a:sym typeface="League Spartan"/>
              </a:rPr>
              <a:t> </a:t>
            </a:r>
          </a:p>
        </p:txBody>
      </p:sp>
      <p:sp>
        <p:nvSpPr>
          <p:cNvPr name="TextBox 12" id="12"/>
          <p:cNvSpPr txBox="true"/>
          <p:nvPr/>
        </p:nvSpPr>
        <p:spPr>
          <a:xfrm rot="0">
            <a:off x="718995" y="4541015"/>
            <a:ext cx="13768159" cy="397564"/>
          </a:xfrm>
          <a:prstGeom prst="rect">
            <a:avLst/>
          </a:prstGeom>
        </p:spPr>
        <p:txBody>
          <a:bodyPr anchor="t" rtlCol="false" tIns="0" lIns="0" bIns="0" rIns="0">
            <a:spAutoFit/>
          </a:bodyPr>
          <a:lstStyle/>
          <a:p>
            <a:pPr algn="l">
              <a:lnSpc>
                <a:spcPts val="3181"/>
              </a:lnSpc>
            </a:pPr>
            <a:r>
              <a:rPr lang="en-US" b="true" sz="2272">
                <a:solidFill>
                  <a:srgbClr val="000000"/>
                </a:solidFill>
                <a:latin typeface="League Spartan"/>
                <a:ea typeface="League Spartan"/>
                <a:cs typeface="League Spartan"/>
                <a:sym typeface="League Spartan"/>
              </a:rPr>
              <a:t>It</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reduces</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paperwork,</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improves</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efficiency,</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and</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ensures</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transparent</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hostel</a:t>
            </a:r>
            <a:r>
              <a:rPr lang="en-US" b="true" sz="2272">
                <a:solidFill>
                  <a:srgbClr val="000000"/>
                </a:solidFill>
                <a:latin typeface="League Spartan"/>
                <a:ea typeface="League Spartan"/>
                <a:cs typeface="League Spartan"/>
                <a:sym typeface="League Spartan"/>
              </a:rPr>
              <a:t> </a:t>
            </a:r>
            <a:r>
              <a:rPr lang="en-US" b="true" sz="2272">
                <a:solidFill>
                  <a:srgbClr val="000000"/>
                </a:solidFill>
                <a:latin typeface="League Spartan"/>
                <a:ea typeface="League Spartan"/>
                <a:cs typeface="League Spartan"/>
                <a:sym typeface="League Spartan"/>
              </a:rPr>
              <a:t>administration.</a:t>
            </a:r>
          </a:p>
        </p:txBody>
      </p:sp>
      <p:sp>
        <p:nvSpPr>
          <p:cNvPr name="TextBox 13" id="13"/>
          <p:cNvSpPr txBox="true"/>
          <p:nvPr/>
        </p:nvSpPr>
        <p:spPr>
          <a:xfrm rot="0">
            <a:off x="718995" y="5576449"/>
            <a:ext cx="479269" cy="635832"/>
          </a:xfrm>
          <a:prstGeom prst="rect">
            <a:avLst/>
          </a:prstGeom>
        </p:spPr>
        <p:txBody>
          <a:bodyPr anchor="t" rtlCol="false" tIns="0" lIns="0" bIns="0" rIns="0">
            <a:spAutoFit/>
          </a:bodyPr>
          <a:lstStyle/>
          <a:p>
            <a:pPr algn="l">
              <a:lnSpc>
                <a:spcPts val="5179"/>
              </a:lnSpc>
            </a:pPr>
            <a:r>
              <a:rPr lang="en-US" sz="3699">
                <a:solidFill>
                  <a:srgbClr val="FF0000"/>
                </a:solidFill>
                <a:latin typeface="Arimo"/>
                <a:ea typeface="Arimo"/>
                <a:cs typeface="Arimo"/>
                <a:sym typeface="Arimo"/>
              </a:rPr>
              <a:t>🎯</a:t>
            </a:r>
          </a:p>
        </p:txBody>
      </p:sp>
      <p:sp>
        <p:nvSpPr>
          <p:cNvPr name="TextBox 14" id="14"/>
          <p:cNvSpPr txBox="true"/>
          <p:nvPr/>
        </p:nvSpPr>
        <p:spPr>
          <a:xfrm rot="0">
            <a:off x="1188844" y="5639057"/>
            <a:ext cx="1123369" cy="636394"/>
          </a:xfrm>
          <a:prstGeom prst="rect">
            <a:avLst/>
          </a:prstGeom>
        </p:spPr>
        <p:txBody>
          <a:bodyPr anchor="t" rtlCol="false" tIns="0" lIns="0" bIns="0" rIns="0">
            <a:spAutoFit/>
          </a:bodyPr>
          <a:lstStyle/>
          <a:p>
            <a:pPr algn="l">
              <a:lnSpc>
                <a:spcPts val="5179"/>
              </a:lnSpc>
            </a:pPr>
            <a:r>
              <a:rPr lang="en-US" b="true" sz="3699">
                <a:solidFill>
                  <a:srgbClr val="FF0000"/>
                </a:solidFill>
                <a:latin typeface="League Spartan"/>
                <a:ea typeface="League Spartan"/>
                <a:cs typeface="League Spartan"/>
                <a:sym typeface="League Spartan"/>
              </a:rPr>
              <a:t> Aim</a:t>
            </a:r>
          </a:p>
        </p:txBody>
      </p:sp>
      <p:sp>
        <p:nvSpPr>
          <p:cNvPr name="TextBox 15" id="15"/>
          <p:cNvSpPr txBox="true"/>
          <p:nvPr/>
        </p:nvSpPr>
        <p:spPr>
          <a:xfrm rot="0">
            <a:off x="718995" y="6722459"/>
            <a:ext cx="17458268" cy="1387202"/>
          </a:xfrm>
          <a:prstGeom prst="rect">
            <a:avLst/>
          </a:prstGeom>
        </p:spPr>
        <p:txBody>
          <a:bodyPr anchor="t" rtlCol="false" tIns="0" lIns="0" bIns="0" rIns="0">
            <a:spAutoFit/>
          </a:bodyPr>
          <a:lstStyle/>
          <a:p>
            <a:pPr algn="l">
              <a:lnSpc>
                <a:spcPts val="3673"/>
              </a:lnSpc>
            </a:pPr>
            <a:r>
              <a:rPr lang="en-US" b="true" sz="2699">
                <a:solidFill>
                  <a:srgbClr val="000000"/>
                </a:solidFill>
                <a:latin typeface="League Spartan"/>
                <a:ea typeface="League Spartan"/>
                <a:cs typeface="League Spartan"/>
                <a:sym typeface="League Spartan"/>
              </a:rPr>
              <a:t>The main aim of the Hostel Management System is to develop an organized and efficient platform that manages hostel activities including room booking, student details, food menu, and payments — all in one place.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grpSp>
        <p:nvGrpSpPr>
          <p:cNvPr name="Group 3" id="3"/>
          <p:cNvGrpSpPr>
            <a:grpSpLocks noChangeAspect="true"/>
          </p:cNvGrpSpPr>
          <p:nvPr/>
        </p:nvGrpSpPr>
        <p:grpSpPr>
          <a:xfrm rot="0">
            <a:off x="914400" y="633984"/>
            <a:ext cx="70104" cy="396240"/>
            <a:chOff x="0" y="0"/>
            <a:chExt cx="70104" cy="396240"/>
          </a:xfrm>
        </p:grpSpPr>
        <p:sp>
          <p:nvSpPr>
            <p:cNvPr name="Freeform 4" id="4"/>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5" id="5"/>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49452" y="1750819"/>
            <a:ext cx="4351839" cy="961330"/>
          </a:xfrm>
          <a:prstGeom prst="rect">
            <a:avLst/>
          </a:prstGeom>
        </p:spPr>
        <p:txBody>
          <a:bodyPr anchor="t" rtlCol="false" tIns="0" lIns="0" bIns="0" rIns="0">
            <a:spAutoFit/>
          </a:bodyPr>
          <a:lstStyle/>
          <a:p>
            <a:pPr algn="l">
              <a:lnSpc>
                <a:spcPts val="7668"/>
              </a:lnSpc>
            </a:pPr>
            <a:r>
              <a:rPr lang="en-US" b="true" sz="5871">
                <a:solidFill>
                  <a:srgbClr val="FF0000"/>
                </a:solidFill>
                <a:latin typeface="League Spartan"/>
                <a:ea typeface="League Spartan"/>
                <a:cs typeface="League Spartan"/>
                <a:sym typeface="League Spartan"/>
              </a:rPr>
              <a:t>Objectives:</a:t>
            </a:r>
          </a:p>
        </p:txBody>
      </p:sp>
      <p:sp>
        <p:nvSpPr>
          <p:cNvPr name="TextBox 8" id="8"/>
          <p:cNvSpPr txBox="true"/>
          <p:nvPr/>
        </p:nvSpPr>
        <p:spPr>
          <a:xfrm rot="0">
            <a:off x="1756658" y="2558558"/>
            <a:ext cx="120863" cy="954919"/>
          </a:xfrm>
          <a:prstGeom prst="rect">
            <a:avLst/>
          </a:prstGeom>
        </p:spPr>
        <p:txBody>
          <a:bodyPr anchor="t" rtlCol="false" tIns="0" lIns="0" bIns="0" rIns="0">
            <a:spAutoFit/>
          </a:bodyPr>
          <a:lstStyle/>
          <a:p>
            <a:pPr algn="l">
              <a:lnSpc>
                <a:spcPts val="8544"/>
              </a:lnSpc>
            </a:pPr>
            <a:r>
              <a:rPr lang="en-US" b="true" sz="3417">
                <a:solidFill>
                  <a:srgbClr val="000000"/>
                </a:solidFill>
                <a:latin typeface="League Spartan"/>
                <a:ea typeface="League Spartan"/>
                <a:cs typeface="League Spartan"/>
                <a:sym typeface="League Spartan"/>
              </a:rPr>
              <a:t> </a:t>
            </a:r>
          </a:p>
        </p:txBody>
      </p:sp>
      <p:sp>
        <p:nvSpPr>
          <p:cNvPr name="TextBox 9" id="9"/>
          <p:cNvSpPr txBox="true"/>
          <p:nvPr/>
        </p:nvSpPr>
        <p:spPr>
          <a:xfrm rot="0">
            <a:off x="949452" y="2920508"/>
            <a:ext cx="7133301" cy="592969"/>
          </a:xfrm>
          <a:prstGeom prst="rect">
            <a:avLst/>
          </a:prstGeom>
        </p:spPr>
        <p:txBody>
          <a:bodyPr anchor="t" rtlCol="false" tIns="0" lIns="0" bIns="0" rIns="0">
            <a:spAutoFit/>
          </a:bodyPr>
          <a:lstStyle/>
          <a:p>
            <a:pPr algn="l">
              <a:lnSpc>
                <a:spcPts val="4784"/>
              </a:lnSpc>
            </a:pPr>
            <a:r>
              <a:rPr lang="en-US" b="true" sz="3417">
                <a:solidFill>
                  <a:srgbClr val="000000"/>
                </a:solidFill>
                <a:latin typeface="League Spartan"/>
                <a:ea typeface="League Spartan"/>
                <a:cs typeface="League Spartan"/>
                <a:sym typeface="League Spartan"/>
              </a:rPr>
              <a:t>Themainobjectivesof the are:</a:t>
            </a:r>
          </a:p>
        </p:txBody>
      </p:sp>
      <p:sp>
        <p:nvSpPr>
          <p:cNvPr name="TextBox 10" id="10"/>
          <p:cNvSpPr txBox="true"/>
          <p:nvPr/>
        </p:nvSpPr>
        <p:spPr>
          <a:xfrm rot="0">
            <a:off x="949452" y="4013968"/>
            <a:ext cx="14864629" cy="3490160"/>
          </a:xfrm>
          <a:prstGeom prst="rect">
            <a:avLst/>
          </a:prstGeom>
        </p:spPr>
        <p:txBody>
          <a:bodyPr anchor="t" rtlCol="false" tIns="0" lIns="0" bIns="0" rIns="0">
            <a:spAutoFit/>
          </a:bodyPr>
          <a:lstStyle/>
          <a:p>
            <a:pPr algn="l">
              <a:lnSpc>
                <a:spcPts val="6976"/>
              </a:lnSpc>
            </a:pPr>
            <a:r>
              <a:rPr lang="en-US" b="true" sz="4108">
                <a:solidFill>
                  <a:srgbClr val="000000"/>
                </a:solidFill>
                <a:latin typeface="League Spartan"/>
                <a:ea typeface="League Spartan"/>
                <a:cs typeface="League Spartan"/>
                <a:sym typeface="League Spartan"/>
              </a:rPr>
              <a:t>1. To maintain digital records of students and rooms. 2. To simplify fee payment and registration processes. 3. To enhance communication between students and management.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grpSp>
        <p:nvGrpSpPr>
          <p:cNvPr name="Group 3" id="3"/>
          <p:cNvGrpSpPr>
            <a:grpSpLocks noChangeAspect="true"/>
          </p:cNvGrpSpPr>
          <p:nvPr/>
        </p:nvGrpSpPr>
        <p:grpSpPr>
          <a:xfrm rot="0">
            <a:off x="914400" y="633984"/>
            <a:ext cx="70104" cy="396240"/>
            <a:chOff x="0" y="0"/>
            <a:chExt cx="70104" cy="396240"/>
          </a:xfrm>
        </p:grpSpPr>
        <p:sp>
          <p:nvSpPr>
            <p:cNvPr name="Freeform 4" id="4"/>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5" id="5"/>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700221" y="1108529"/>
            <a:ext cx="494909" cy="649443"/>
          </a:xfrm>
          <a:prstGeom prst="rect">
            <a:avLst/>
          </a:prstGeom>
        </p:spPr>
        <p:txBody>
          <a:bodyPr anchor="t" rtlCol="false" tIns="0" lIns="0" bIns="0" rIns="0">
            <a:spAutoFit/>
          </a:bodyPr>
          <a:lstStyle/>
          <a:p>
            <a:pPr algn="l">
              <a:lnSpc>
                <a:spcPts val="5348"/>
              </a:lnSpc>
            </a:pPr>
            <a:r>
              <a:rPr lang="en-US" sz="3820">
                <a:solidFill>
                  <a:srgbClr val="FF0000"/>
                </a:solidFill>
                <a:latin typeface="Arimo"/>
                <a:ea typeface="Arimo"/>
                <a:cs typeface="Arimo"/>
                <a:sym typeface="Arimo"/>
              </a:rPr>
              <a:t>💡</a:t>
            </a:r>
          </a:p>
        </p:txBody>
      </p:sp>
      <p:sp>
        <p:nvSpPr>
          <p:cNvPr name="TextBox 8" id="8"/>
          <p:cNvSpPr txBox="true"/>
          <p:nvPr/>
        </p:nvSpPr>
        <p:spPr>
          <a:xfrm rot="0">
            <a:off x="1185396" y="1163364"/>
            <a:ext cx="3236547" cy="654987"/>
          </a:xfrm>
          <a:prstGeom prst="rect">
            <a:avLst/>
          </a:prstGeom>
        </p:spPr>
        <p:txBody>
          <a:bodyPr anchor="t" rtlCol="false" tIns="0" lIns="0" bIns="0" rIns="0">
            <a:spAutoFit/>
          </a:bodyPr>
          <a:lstStyle/>
          <a:p>
            <a:pPr algn="l">
              <a:lnSpc>
                <a:spcPts val="5348"/>
              </a:lnSpc>
            </a:pPr>
            <a:r>
              <a:rPr lang="en-US" b="true" sz="3820">
                <a:solidFill>
                  <a:srgbClr val="FF0000"/>
                </a:solidFill>
                <a:latin typeface="League Spartan"/>
                <a:ea typeface="League Spartan"/>
                <a:cs typeface="League Spartan"/>
                <a:sym typeface="League Spartan"/>
              </a:rPr>
              <a:t> Advantages</a:t>
            </a:r>
          </a:p>
        </p:txBody>
      </p:sp>
      <p:sp>
        <p:nvSpPr>
          <p:cNvPr name="TextBox 9" id="9"/>
          <p:cNvSpPr txBox="true"/>
          <p:nvPr/>
        </p:nvSpPr>
        <p:spPr>
          <a:xfrm rot="0">
            <a:off x="700221" y="2459126"/>
            <a:ext cx="15910531" cy="1556833"/>
          </a:xfrm>
          <a:prstGeom prst="rect">
            <a:avLst/>
          </a:prstGeom>
        </p:spPr>
        <p:txBody>
          <a:bodyPr anchor="t" rtlCol="false" tIns="0" lIns="0" bIns="0" rIns="0">
            <a:spAutoFit/>
          </a:bodyPr>
          <a:lstStyle/>
          <a:p>
            <a:pPr algn="l">
              <a:lnSpc>
                <a:spcPts val="2998"/>
              </a:lnSpc>
            </a:pPr>
            <a:r>
              <a:rPr lang="en-US" b="true" sz="3306" spc="52">
                <a:solidFill>
                  <a:srgbClr val="000000"/>
                </a:solidFill>
                <a:latin typeface="League Spartan"/>
                <a:ea typeface="League Spartan"/>
                <a:cs typeface="League Spartan"/>
                <a:sym typeface="League Spartan"/>
              </a:rPr>
              <a:t>The Hostel Management System provides quick access to information, minimizes manual effort, and ensures data accuracy. It improves transparency and allows administrators to efficiently manage hostel activities through a single platform.</a:t>
            </a:r>
          </a:p>
        </p:txBody>
      </p:sp>
      <p:sp>
        <p:nvSpPr>
          <p:cNvPr name="TextBox 10" id="10"/>
          <p:cNvSpPr txBox="true"/>
          <p:nvPr/>
        </p:nvSpPr>
        <p:spPr>
          <a:xfrm rot="0">
            <a:off x="914400" y="4262152"/>
            <a:ext cx="14391370" cy="4993748"/>
          </a:xfrm>
          <a:prstGeom prst="rect">
            <a:avLst/>
          </a:prstGeom>
        </p:spPr>
        <p:txBody>
          <a:bodyPr anchor="t" rtlCol="false" tIns="0" lIns="0" bIns="0" rIns="0">
            <a:spAutoFit/>
          </a:bodyPr>
          <a:lstStyle/>
          <a:p>
            <a:pPr algn="l">
              <a:lnSpc>
                <a:spcPts val="6136"/>
              </a:lnSpc>
            </a:pPr>
            <a:r>
              <a:rPr lang="en-US" b="true" sz="2454">
                <a:solidFill>
                  <a:srgbClr val="FF0000"/>
                </a:solidFill>
                <a:latin typeface="League Spartan"/>
                <a:ea typeface="League Spartan"/>
                <a:cs typeface="League Spartan"/>
                <a:sym typeface="League Spartan"/>
              </a:rPr>
              <a:t>1. Time Saving: </a:t>
            </a:r>
            <a:r>
              <a:rPr lang="en-US" b="true" sz="2454">
                <a:solidFill>
                  <a:srgbClr val="000000"/>
                </a:solidFill>
                <a:latin typeface="League Spartan"/>
                <a:ea typeface="League Spartan"/>
                <a:cs typeface="League Spartan"/>
                <a:sym typeface="League Spartan"/>
              </a:rPr>
              <a:t>Automates hostel management tasks, reducing administrative effort.</a:t>
            </a:r>
          </a:p>
          <a:p>
            <a:pPr algn="l">
              <a:lnSpc>
                <a:spcPts val="6136"/>
              </a:lnSpc>
            </a:pPr>
            <a:r>
              <a:rPr lang="en-US" b="true" sz="2454">
                <a:solidFill>
                  <a:srgbClr val="FF0000"/>
                </a:solidFill>
                <a:latin typeface="League Spartan"/>
                <a:ea typeface="League Spartan"/>
                <a:cs typeface="League Spartan"/>
                <a:sym typeface="League Spartan"/>
              </a:rPr>
              <a:t>2. Accuracy:</a:t>
            </a:r>
            <a:r>
              <a:rPr lang="en-US" b="true" sz="2454">
                <a:solidFill>
                  <a:srgbClr val="000000"/>
                </a:solidFill>
                <a:latin typeface="League Spartan"/>
                <a:ea typeface="League Spartan"/>
                <a:cs typeface="League Spartan"/>
                <a:sym typeface="League Spartan"/>
              </a:rPr>
              <a:t> Minimizes errors in student and payment records. </a:t>
            </a:r>
            <a:r>
              <a:rPr lang="en-US" b="true" sz="2454">
                <a:solidFill>
                  <a:srgbClr val="FF0000"/>
                </a:solidFill>
                <a:latin typeface="League Spartan"/>
                <a:ea typeface="League Spartan"/>
                <a:cs typeface="League Spartan"/>
                <a:sym typeface="League Spartan"/>
              </a:rPr>
              <a:t>3. Accessibility:</a:t>
            </a:r>
            <a:r>
              <a:rPr lang="en-US" b="true" sz="2454">
                <a:solidFill>
                  <a:srgbClr val="000000"/>
                </a:solidFill>
                <a:latin typeface="League Spartan"/>
                <a:ea typeface="League Spartan"/>
                <a:cs typeface="League Spartan"/>
                <a:sym typeface="League Spartan"/>
              </a:rPr>
              <a:t> Allows both admin and students to access information online. </a:t>
            </a:r>
            <a:r>
              <a:rPr lang="en-US" b="true" sz="2454">
                <a:solidFill>
                  <a:srgbClr val="FF0000"/>
                </a:solidFill>
                <a:latin typeface="League Spartan"/>
                <a:ea typeface="League Spartan"/>
                <a:cs typeface="League Spartan"/>
                <a:sym typeface="League Spartan"/>
              </a:rPr>
              <a:t>4. Transparency:</a:t>
            </a:r>
            <a:r>
              <a:rPr lang="en-US" b="true" sz="2454">
                <a:solidFill>
                  <a:srgbClr val="000000"/>
                </a:solidFill>
                <a:latin typeface="League Spartan"/>
                <a:ea typeface="League Spartan"/>
                <a:cs typeface="League Spartan"/>
                <a:sym typeface="League Spartan"/>
              </a:rPr>
              <a:t> Easy tracking of room allocation, payments, and food facilities. </a:t>
            </a:r>
            <a:r>
              <a:rPr lang="en-US" b="true" sz="2454">
                <a:solidFill>
                  <a:srgbClr val="FF0000"/>
                </a:solidFill>
                <a:latin typeface="League Spartan"/>
                <a:ea typeface="League Spartan"/>
                <a:cs typeface="League Spartan"/>
                <a:sym typeface="League Spartan"/>
              </a:rPr>
              <a:t>5. User-Friendly Interface:</a:t>
            </a:r>
            <a:r>
              <a:rPr lang="en-US" b="true" sz="2454">
                <a:solidFill>
                  <a:srgbClr val="000000"/>
                </a:solidFill>
                <a:latin typeface="League Spartan"/>
                <a:ea typeface="League Spartan"/>
                <a:cs typeface="League Spartan"/>
                <a:sym typeface="League Spartan"/>
              </a:rPr>
              <a:t> Simple navigation for both students and management. </a:t>
            </a:r>
            <a:r>
              <a:rPr lang="en-US" b="true" sz="2454">
                <a:solidFill>
                  <a:srgbClr val="FF0000"/>
                </a:solidFill>
                <a:latin typeface="League Spartan"/>
                <a:ea typeface="League Spartan"/>
                <a:cs typeface="League Spartan"/>
                <a:sym typeface="League Spartan"/>
              </a:rPr>
              <a:t>6. Improved Communication: </a:t>
            </a:r>
            <a:r>
              <a:rPr lang="en-US" b="true" sz="2454">
                <a:solidFill>
                  <a:srgbClr val="000000"/>
                </a:solidFill>
                <a:latin typeface="League Spartan"/>
                <a:ea typeface="League Spartan"/>
                <a:cs typeface="League Spartan"/>
                <a:sym typeface="League Spartan"/>
              </a:rPr>
              <a:t>Students can easily submit complaints or feedback online.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grpSp>
        <p:nvGrpSpPr>
          <p:cNvPr name="Group 3" id="3"/>
          <p:cNvGrpSpPr>
            <a:grpSpLocks noChangeAspect="true"/>
          </p:cNvGrpSpPr>
          <p:nvPr/>
        </p:nvGrpSpPr>
        <p:grpSpPr>
          <a:xfrm rot="0">
            <a:off x="914400" y="633984"/>
            <a:ext cx="70104" cy="396240"/>
            <a:chOff x="0" y="0"/>
            <a:chExt cx="70104" cy="396240"/>
          </a:xfrm>
        </p:grpSpPr>
        <p:sp>
          <p:nvSpPr>
            <p:cNvPr name="Freeform 4" id="4"/>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5" id="5"/>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14400" y="1088888"/>
            <a:ext cx="635413" cy="751827"/>
          </a:xfrm>
          <a:prstGeom prst="rect">
            <a:avLst/>
          </a:prstGeom>
        </p:spPr>
        <p:txBody>
          <a:bodyPr anchor="t" rtlCol="false" tIns="0" lIns="0" bIns="0" rIns="0">
            <a:spAutoFit/>
          </a:bodyPr>
          <a:lstStyle/>
          <a:p>
            <a:pPr algn="l">
              <a:lnSpc>
                <a:spcPts val="5394"/>
              </a:lnSpc>
            </a:pPr>
            <a:r>
              <a:rPr lang="en-US" b="true" sz="3853">
                <a:solidFill>
                  <a:srgbClr val="FF0000"/>
                </a:solidFill>
                <a:latin typeface="League Spartan"/>
                <a:ea typeface="League Spartan"/>
                <a:cs typeface="League Spartan"/>
                <a:sym typeface="League Spartan"/>
              </a:rPr>
              <a:t>⚙ </a:t>
            </a:r>
          </a:p>
        </p:txBody>
      </p:sp>
      <p:sp>
        <p:nvSpPr>
          <p:cNvPr name="TextBox 8" id="8"/>
          <p:cNvSpPr txBox="true"/>
          <p:nvPr/>
        </p:nvSpPr>
        <p:spPr>
          <a:xfrm rot="0">
            <a:off x="1527553" y="1134770"/>
            <a:ext cx="6910540" cy="660063"/>
          </a:xfrm>
          <a:prstGeom prst="rect">
            <a:avLst/>
          </a:prstGeom>
        </p:spPr>
        <p:txBody>
          <a:bodyPr anchor="t" rtlCol="false" tIns="0" lIns="0" bIns="0" rIns="0">
            <a:spAutoFit/>
          </a:bodyPr>
          <a:lstStyle/>
          <a:p>
            <a:pPr algn="l">
              <a:lnSpc>
                <a:spcPts val="5394"/>
              </a:lnSpc>
            </a:pPr>
            <a:r>
              <a:rPr lang="en-US" b="true" sz="3853">
                <a:solidFill>
                  <a:srgbClr val="FF0000"/>
                </a:solidFill>
                <a:latin typeface="League Spartan"/>
                <a:ea typeface="League Spartan"/>
                <a:cs typeface="League Spartan"/>
                <a:sym typeface="League Spartan"/>
              </a:rPr>
              <a:t>Steps to Create the System</a:t>
            </a:r>
          </a:p>
        </p:txBody>
      </p:sp>
      <p:sp>
        <p:nvSpPr>
          <p:cNvPr name="TextBox 9" id="9"/>
          <p:cNvSpPr txBox="true"/>
          <p:nvPr/>
        </p:nvSpPr>
        <p:spPr>
          <a:xfrm rot="0">
            <a:off x="914400" y="6563116"/>
            <a:ext cx="1289628" cy="243107"/>
          </a:xfrm>
          <a:prstGeom prst="rect">
            <a:avLst/>
          </a:prstGeom>
        </p:spPr>
        <p:txBody>
          <a:bodyPr anchor="t" rtlCol="false" tIns="0" lIns="0" bIns="0" rIns="0">
            <a:spAutoFit/>
          </a:bodyPr>
          <a:lstStyle/>
          <a:p>
            <a:pPr algn="l">
              <a:lnSpc>
                <a:spcPts val="1377"/>
              </a:lnSpc>
            </a:pPr>
            <a:r>
              <a:rPr lang="en-US" b="true" sz="2754">
                <a:solidFill>
                  <a:srgbClr val="000000"/>
                </a:solidFill>
                <a:latin typeface="League Spartan"/>
                <a:ea typeface="League Spartan"/>
                <a:cs typeface="League Spartan"/>
                <a:sym typeface="League Spartan"/>
              </a:rPr>
              <a:t>1. Plan </a:t>
            </a:r>
          </a:p>
        </p:txBody>
      </p:sp>
      <p:sp>
        <p:nvSpPr>
          <p:cNvPr name="TextBox 10" id="10"/>
          <p:cNvSpPr txBox="true"/>
          <p:nvPr/>
        </p:nvSpPr>
        <p:spPr>
          <a:xfrm rot="0">
            <a:off x="2178739" y="6482867"/>
            <a:ext cx="6937915" cy="352911"/>
          </a:xfrm>
          <a:prstGeom prst="rect">
            <a:avLst/>
          </a:prstGeom>
        </p:spPr>
        <p:txBody>
          <a:bodyPr anchor="t" rtlCol="false" tIns="0" lIns="0" bIns="0" rIns="0">
            <a:spAutoFit/>
          </a:bodyPr>
          <a:lstStyle/>
          <a:p>
            <a:pPr algn="l">
              <a:lnSpc>
                <a:spcPts val="1377"/>
              </a:lnSpc>
            </a:pPr>
            <a:r>
              <a:rPr lang="en-US" b="true" sz="2754">
                <a:solidFill>
                  <a:srgbClr val="000000"/>
                </a:solidFill>
                <a:latin typeface="League Spartan"/>
                <a:ea typeface="League Spartan"/>
                <a:cs typeface="League Spartan"/>
                <a:sym typeface="League Spartan"/>
              </a:rPr>
              <a:t>→ Design → Develop → Test → Deploy.</a:t>
            </a:r>
          </a:p>
        </p:txBody>
      </p:sp>
      <p:sp>
        <p:nvSpPr>
          <p:cNvPr name="TextBox 11" id="11"/>
          <p:cNvSpPr txBox="true"/>
          <p:nvPr/>
        </p:nvSpPr>
        <p:spPr>
          <a:xfrm rot="0">
            <a:off x="914400" y="7010791"/>
            <a:ext cx="12270143" cy="1738532"/>
          </a:xfrm>
          <a:prstGeom prst="rect">
            <a:avLst/>
          </a:prstGeom>
        </p:spPr>
        <p:txBody>
          <a:bodyPr anchor="t" rtlCol="false" tIns="0" lIns="0" bIns="0" rIns="0">
            <a:spAutoFit/>
          </a:bodyPr>
          <a:lstStyle/>
          <a:p>
            <a:pPr algn="l">
              <a:lnSpc>
                <a:spcPts val="6885"/>
              </a:lnSpc>
            </a:pPr>
            <a:r>
              <a:rPr lang="en-US" b="true" sz="2754">
                <a:solidFill>
                  <a:srgbClr val="000000"/>
                </a:solidFill>
                <a:latin typeface="League Spartan"/>
                <a:ea typeface="League Spartan"/>
                <a:cs typeface="League Spartan"/>
                <a:sym typeface="League Spartan"/>
              </a:rPr>
              <a:t>2. Use HTML, CSS, and JavaScript for the frontend. 3. Connect a backend like PHP/MySQL for database management.</a:t>
            </a:r>
          </a:p>
        </p:txBody>
      </p:sp>
      <p:sp>
        <p:nvSpPr>
          <p:cNvPr name="TextBox 12" id="12"/>
          <p:cNvSpPr txBox="true"/>
          <p:nvPr/>
        </p:nvSpPr>
        <p:spPr>
          <a:xfrm rot="0">
            <a:off x="914400" y="2295916"/>
            <a:ext cx="16859983" cy="1938557"/>
          </a:xfrm>
          <a:prstGeom prst="rect">
            <a:avLst/>
          </a:prstGeom>
        </p:spPr>
        <p:txBody>
          <a:bodyPr anchor="t" rtlCol="false" tIns="0" lIns="0" bIns="0" rIns="0">
            <a:spAutoFit/>
          </a:bodyPr>
          <a:lstStyle/>
          <a:p>
            <a:pPr algn="just">
              <a:lnSpc>
                <a:spcPts val="3825"/>
              </a:lnSpc>
            </a:pPr>
            <a:r>
              <a:rPr lang="en-US" b="true" sz="2754">
                <a:solidFill>
                  <a:srgbClr val="000000"/>
                </a:solidFill>
                <a:latin typeface="League Spartan"/>
                <a:ea typeface="League Spartan"/>
                <a:cs typeface="League Spartan"/>
                <a:sym typeface="League Spartan"/>
              </a:rPr>
              <a:t>To create the Hostel Management System, start by planning the structure and designing the web pages. Use HTML for page creation, CSS for styling, and JavaScript for validation and interactivity. Then, test all functionalities and, if needed, use PHP/MySQL for backend data storage before deployment.</a:t>
            </a:r>
          </a:p>
        </p:txBody>
      </p:sp>
      <p:sp>
        <p:nvSpPr>
          <p:cNvPr name="TextBox 13" id="13"/>
          <p:cNvSpPr txBox="true"/>
          <p:nvPr/>
        </p:nvSpPr>
        <p:spPr>
          <a:xfrm rot="0">
            <a:off x="914400" y="5257790"/>
            <a:ext cx="2487749" cy="573624"/>
          </a:xfrm>
          <a:prstGeom prst="rect">
            <a:avLst/>
          </a:prstGeom>
        </p:spPr>
        <p:txBody>
          <a:bodyPr anchor="t" rtlCol="false" tIns="0" lIns="0" bIns="0" rIns="0">
            <a:spAutoFit/>
          </a:bodyPr>
          <a:lstStyle/>
          <a:p>
            <a:pPr algn="l">
              <a:lnSpc>
                <a:spcPts val="4695"/>
              </a:lnSpc>
            </a:pPr>
            <a:r>
              <a:rPr lang="en-US" b="true" sz="3354">
                <a:solidFill>
                  <a:srgbClr val="FF0000"/>
                </a:solidFill>
                <a:latin typeface="League Spartan"/>
                <a:ea typeface="League Spartan"/>
                <a:cs typeface="League Spartan"/>
                <a:sym typeface="League Spartan"/>
              </a:rPr>
              <a:t>Key Points: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30000"/>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14400" y="1170832"/>
            <a:ext cx="460324" cy="604714"/>
          </a:xfrm>
          <a:prstGeom prst="rect">
            <a:avLst/>
          </a:prstGeom>
        </p:spPr>
        <p:txBody>
          <a:bodyPr anchor="t" rtlCol="false" tIns="0" lIns="0" bIns="0" rIns="0">
            <a:spAutoFit/>
          </a:bodyPr>
          <a:lstStyle/>
          <a:p>
            <a:pPr algn="l">
              <a:lnSpc>
                <a:spcPts val="4974"/>
              </a:lnSpc>
            </a:pPr>
            <a:r>
              <a:rPr lang="en-US" sz="3553">
                <a:solidFill>
                  <a:srgbClr val="FF0000"/>
                </a:solidFill>
                <a:latin typeface="Arimo"/>
                <a:ea typeface="Arimo"/>
                <a:cs typeface="Arimo"/>
                <a:sym typeface="Arimo"/>
              </a:rPr>
              <a:t>🌐</a:t>
            </a:r>
          </a:p>
        </p:txBody>
      </p:sp>
      <p:sp>
        <p:nvSpPr>
          <p:cNvPr name="TextBox 8" id="8"/>
          <p:cNvSpPr txBox="true"/>
          <p:nvPr/>
        </p:nvSpPr>
        <p:spPr>
          <a:xfrm rot="0">
            <a:off x="1365647" y="1049912"/>
            <a:ext cx="4146604" cy="785317"/>
          </a:xfrm>
          <a:prstGeom prst="rect">
            <a:avLst/>
          </a:prstGeom>
        </p:spPr>
        <p:txBody>
          <a:bodyPr anchor="t" rtlCol="false" tIns="0" lIns="0" bIns="0" rIns="0">
            <a:spAutoFit/>
          </a:bodyPr>
          <a:lstStyle/>
          <a:p>
            <a:pPr algn="l">
              <a:lnSpc>
                <a:spcPts val="6740"/>
              </a:lnSpc>
            </a:pPr>
            <a:r>
              <a:rPr lang="en-US" b="true" sz="3553">
                <a:solidFill>
                  <a:srgbClr val="FF0000"/>
                </a:solidFill>
                <a:latin typeface="League Spartan"/>
                <a:ea typeface="League Spartan"/>
                <a:cs typeface="League Spartan"/>
                <a:sym typeface="League Spartan"/>
              </a:rPr>
              <a:t> Content of Pages</a:t>
            </a:r>
          </a:p>
        </p:txBody>
      </p:sp>
      <p:sp>
        <p:nvSpPr>
          <p:cNvPr name="TextBox 9" id="9"/>
          <p:cNvSpPr txBox="true"/>
          <p:nvPr/>
        </p:nvSpPr>
        <p:spPr>
          <a:xfrm rot="0">
            <a:off x="1327547" y="1912039"/>
            <a:ext cx="115081" cy="710660"/>
          </a:xfrm>
          <a:prstGeom prst="rect">
            <a:avLst/>
          </a:prstGeom>
        </p:spPr>
        <p:txBody>
          <a:bodyPr anchor="t" rtlCol="false" tIns="0" lIns="0" bIns="0" rIns="0">
            <a:spAutoFit/>
          </a:bodyPr>
          <a:lstStyle/>
          <a:p>
            <a:pPr algn="l">
              <a:lnSpc>
                <a:spcPts val="6173"/>
              </a:lnSpc>
            </a:pPr>
            <a:r>
              <a:rPr lang="en-US" b="true" sz="3254">
                <a:solidFill>
                  <a:srgbClr val="FF0000"/>
                </a:solidFill>
                <a:latin typeface="League Spartan"/>
                <a:ea typeface="League Spartan"/>
                <a:cs typeface="League Spartan"/>
                <a:sym typeface="League Spartan"/>
              </a:rPr>
              <a:t> </a:t>
            </a:r>
          </a:p>
        </p:txBody>
      </p:sp>
      <p:sp>
        <p:nvSpPr>
          <p:cNvPr name="TextBox 10" id="10"/>
          <p:cNvSpPr txBox="true"/>
          <p:nvPr/>
        </p:nvSpPr>
        <p:spPr>
          <a:xfrm rot="0">
            <a:off x="914400" y="2007041"/>
            <a:ext cx="421557" cy="561003"/>
          </a:xfrm>
          <a:prstGeom prst="rect">
            <a:avLst/>
          </a:prstGeom>
        </p:spPr>
        <p:txBody>
          <a:bodyPr anchor="t" rtlCol="false" tIns="0" lIns="0" bIns="0" rIns="0">
            <a:spAutoFit/>
          </a:bodyPr>
          <a:lstStyle/>
          <a:p>
            <a:pPr algn="l">
              <a:lnSpc>
                <a:spcPts val="4555"/>
              </a:lnSpc>
            </a:pPr>
            <a:r>
              <a:rPr lang="en-US" sz="3254">
                <a:solidFill>
                  <a:srgbClr val="FF0000"/>
                </a:solidFill>
                <a:latin typeface="Arimo"/>
                <a:ea typeface="Arimo"/>
                <a:cs typeface="Arimo"/>
                <a:sym typeface="Arimo"/>
              </a:rPr>
              <a:t>🏠</a:t>
            </a:r>
          </a:p>
        </p:txBody>
      </p:sp>
      <p:sp>
        <p:nvSpPr>
          <p:cNvPr name="TextBox 11" id="11"/>
          <p:cNvSpPr txBox="true"/>
          <p:nvPr/>
        </p:nvSpPr>
        <p:spPr>
          <a:xfrm rot="0">
            <a:off x="1440332" y="2064439"/>
            <a:ext cx="2474605" cy="558260"/>
          </a:xfrm>
          <a:prstGeom prst="rect">
            <a:avLst/>
          </a:prstGeom>
        </p:spPr>
        <p:txBody>
          <a:bodyPr anchor="t" rtlCol="false" tIns="0" lIns="0" bIns="0" rIns="0">
            <a:spAutoFit/>
          </a:bodyPr>
          <a:lstStyle/>
          <a:p>
            <a:pPr algn="l">
              <a:lnSpc>
                <a:spcPts val="4555"/>
              </a:lnSpc>
            </a:pPr>
            <a:r>
              <a:rPr lang="en-US" b="true" sz="3254">
                <a:solidFill>
                  <a:srgbClr val="FF0000"/>
                </a:solidFill>
                <a:latin typeface="League Spartan"/>
                <a:ea typeface="League Spartan"/>
                <a:cs typeface="League Spartan"/>
                <a:sym typeface="League Spartan"/>
              </a:rPr>
              <a:t>Home</a:t>
            </a:r>
            <a:r>
              <a:rPr lang="en-US" b="true" sz="3254">
                <a:solidFill>
                  <a:srgbClr val="000000"/>
                </a:solidFill>
                <a:latin typeface="League Spartan"/>
                <a:ea typeface="League Spartan"/>
                <a:cs typeface="League Spartan"/>
                <a:sym typeface="League Spartan"/>
              </a:rPr>
              <a:t> </a:t>
            </a:r>
            <a:r>
              <a:rPr lang="en-US" b="true" sz="3254">
                <a:solidFill>
                  <a:srgbClr val="FF0000"/>
                </a:solidFill>
                <a:latin typeface="League Spartan"/>
                <a:ea typeface="League Spartan"/>
                <a:cs typeface="League Spartan"/>
                <a:sym typeface="League Spartan"/>
              </a:rPr>
              <a:t>Page</a:t>
            </a:r>
          </a:p>
        </p:txBody>
      </p:sp>
      <p:sp>
        <p:nvSpPr>
          <p:cNvPr name="TextBox 12" id="12"/>
          <p:cNvSpPr txBox="true"/>
          <p:nvPr/>
        </p:nvSpPr>
        <p:spPr>
          <a:xfrm rot="0">
            <a:off x="914400" y="6031802"/>
            <a:ext cx="10685374" cy="2912364"/>
          </a:xfrm>
          <a:prstGeom prst="rect">
            <a:avLst/>
          </a:prstGeom>
        </p:spPr>
        <p:txBody>
          <a:bodyPr anchor="t" rtlCol="false" tIns="0" lIns="0" bIns="0" rIns="0">
            <a:spAutoFit/>
          </a:bodyPr>
          <a:lstStyle/>
          <a:p>
            <a:pPr algn="l">
              <a:lnSpc>
                <a:spcPts val="7385"/>
              </a:lnSpc>
            </a:pPr>
            <a:r>
              <a:rPr lang="en-US" b="true" sz="2954">
                <a:solidFill>
                  <a:srgbClr val="000000"/>
                </a:solidFill>
                <a:latin typeface="League Spartan"/>
                <a:ea typeface="League Spartan"/>
                <a:cs typeface="League Spartan"/>
                <a:sym typeface="League Spartan"/>
              </a:rPr>
              <a:t>1. Contains navigation links to all pages.</a:t>
            </a:r>
          </a:p>
          <a:p>
            <a:pPr algn="l">
              <a:lnSpc>
                <a:spcPts val="7385"/>
              </a:lnSpc>
            </a:pPr>
            <a:r>
              <a:rPr lang="en-US" b="true" sz="2954">
                <a:solidFill>
                  <a:srgbClr val="000000"/>
                </a:solidFill>
                <a:latin typeface="League Spartan"/>
                <a:ea typeface="League Spartan"/>
                <a:cs typeface="League Spartan"/>
                <a:sym typeface="League Spartan"/>
              </a:rPr>
              <a:t>2. Displays hostel introduction and facilities overview. 3. Acts as the main entry point for users.</a:t>
            </a:r>
          </a:p>
        </p:txBody>
      </p:sp>
      <p:sp>
        <p:nvSpPr>
          <p:cNvPr name="TextBox 13" id="13"/>
          <p:cNvSpPr txBox="true"/>
          <p:nvPr/>
        </p:nvSpPr>
        <p:spPr>
          <a:xfrm rot="0">
            <a:off x="914400" y="3164776"/>
            <a:ext cx="15691818" cy="2635510"/>
          </a:xfrm>
          <a:prstGeom prst="rect">
            <a:avLst/>
          </a:prstGeom>
        </p:spPr>
        <p:txBody>
          <a:bodyPr anchor="t" rtlCol="false" tIns="0" lIns="0" bIns="0" rIns="0">
            <a:spAutoFit/>
          </a:bodyPr>
          <a:lstStyle/>
          <a:p>
            <a:pPr algn="l">
              <a:lnSpc>
                <a:spcPts val="4124"/>
              </a:lnSpc>
            </a:pPr>
            <a:r>
              <a:rPr lang="en-US" b="true" sz="2954">
                <a:solidFill>
                  <a:srgbClr val="000000"/>
                </a:solidFill>
                <a:latin typeface="League Spartan"/>
                <a:ea typeface="League Spartan"/>
                <a:cs typeface="League Spartan"/>
                <a:sym typeface="League Spartan"/>
              </a:rPr>
              <a:t>The Home Page introduces the hostel system with the hostel name, logo, and a navigation bar. It welcomes users and provides quick access to key sections like registration and room details.</a:t>
            </a:r>
          </a:p>
          <a:p>
            <a:pPr algn="l">
              <a:lnSpc>
                <a:spcPts val="4415"/>
              </a:lnSpc>
            </a:pPr>
            <a:r>
              <a:rPr lang="en-US" b="true" sz="3153">
                <a:solidFill>
                  <a:srgbClr val="FF0000"/>
                </a:solidFill>
                <a:latin typeface="League Spartan"/>
                <a:ea typeface="League Spartan"/>
                <a:cs typeface="League Spartan"/>
                <a:sym typeface="League Spartan"/>
              </a:rPr>
              <a:t>Key Points: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657406" y="1028700"/>
            <a:ext cx="6686550" cy="7239000"/>
          </a:xfrm>
          <a:custGeom>
            <a:avLst/>
            <a:gdLst/>
            <a:ahLst/>
            <a:cxnLst/>
            <a:rect r="r" b="b" t="t" l="l"/>
            <a:pathLst>
              <a:path h="7239000" w="6686550">
                <a:moveTo>
                  <a:pt x="0" y="0"/>
                </a:moveTo>
                <a:lnTo>
                  <a:pt x="6686550" y="0"/>
                </a:lnTo>
                <a:lnTo>
                  <a:pt x="6686550" y="7239000"/>
                </a:lnTo>
                <a:lnTo>
                  <a:pt x="0" y="7239000"/>
                </a:lnTo>
                <a:lnTo>
                  <a:pt x="0" y="0"/>
                </a:lnTo>
                <a:close/>
              </a:path>
            </a:pathLst>
          </a:custGeom>
          <a:blipFill>
            <a:blip r:embed="rId2"/>
            <a:stretch>
              <a:fillRect l="0" t="0" r="0" b="0"/>
            </a:stretch>
          </a:blipFill>
        </p:spPr>
      </p:sp>
      <p:sp>
        <p:nvSpPr>
          <p:cNvPr name="TextBox 4" id="4"/>
          <p:cNvSpPr txBox="true"/>
          <p:nvPr/>
        </p:nvSpPr>
        <p:spPr>
          <a:xfrm rot="0">
            <a:off x="7618362" y="2535860"/>
            <a:ext cx="6083103" cy="1772212"/>
          </a:xfrm>
          <a:prstGeom prst="rect">
            <a:avLst/>
          </a:prstGeom>
        </p:spPr>
        <p:txBody>
          <a:bodyPr anchor="t" rtlCol="false" tIns="0" lIns="0" bIns="0" rIns="0">
            <a:spAutoFit/>
          </a:bodyPr>
          <a:lstStyle/>
          <a:p>
            <a:pPr algn="l">
              <a:lnSpc>
                <a:spcPts val="14979"/>
              </a:lnSpc>
            </a:pPr>
            <a:r>
              <a:rPr lang="en-US" sz="10699">
                <a:solidFill>
                  <a:srgbClr val="000000"/>
                </a:solidFill>
                <a:latin typeface="Kingred Modern"/>
                <a:ea typeface="Kingred Modern"/>
                <a:cs typeface="Kingred Modern"/>
                <a:sym typeface="Kingred Modern"/>
              </a:rPr>
              <a:t>HOSTEL </a:t>
            </a:r>
          </a:p>
        </p:txBody>
      </p:sp>
      <p:sp>
        <p:nvSpPr>
          <p:cNvPr name="TextBox 5" id="5"/>
          <p:cNvSpPr txBox="true"/>
          <p:nvPr/>
        </p:nvSpPr>
        <p:spPr>
          <a:xfrm rot="0">
            <a:off x="9338529" y="4572038"/>
            <a:ext cx="7578061" cy="3157280"/>
          </a:xfrm>
          <a:prstGeom prst="rect">
            <a:avLst/>
          </a:prstGeom>
        </p:spPr>
        <p:txBody>
          <a:bodyPr anchor="t" rtlCol="false" tIns="0" lIns="0" bIns="0" rIns="0">
            <a:spAutoFit/>
          </a:bodyPr>
          <a:lstStyle/>
          <a:p>
            <a:pPr algn="l">
              <a:lnSpc>
                <a:spcPts val="26704"/>
              </a:lnSpc>
            </a:pPr>
            <a:r>
              <a:rPr lang="en-US" sz="19074">
                <a:solidFill>
                  <a:srgbClr val="000000"/>
                </a:solidFill>
                <a:latin typeface="Kingred Modern"/>
                <a:ea typeface="Kingred Modern"/>
                <a:cs typeface="Kingred Modern"/>
                <a:sym typeface="Kingred Modern"/>
              </a:rPr>
              <a:t>LOGO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14400" y="1235164"/>
            <a:ext cx="485680" cy="652358"/>
          </a:xfrm>
          <a:prstGeom prst="rect">
            <a:avLst/>
          </a:prstGeom>
        </p:spPr>
        <p:txBody>
          <a:bodyPr anchor="t" rtlCol="false" tIns="0" lIns="0" bIns="0" rIns="0">
            <a:spAutoFit/>
          </a:bodyPr>
          <a:lstStyle/>
          <a:p>
            <a:pPr algn="l">
              <a:lnSpc>
                <a:spcPts val="5248"/>
              </a:lnSpc>
            </a:pPr>
            <a:r>
              <a:rPr lang="en-US" sz="3749">
                <a:solidFill>
                  <a:srgbClr val="FF0000"/>
                </a:solidFill>
                <a:latin typeface="Arimo"/>
                <a:ea typeface="Arimo"/>
                <a:cs typeface="Arimo"/>
                <a:sym typeface="Arimo"/>
              </a:rPr>
              <a:t>📘</a:t>
            </a:r>
          </a:p>
        </p:txBody>
      </p:sp>
      <p:sp>
        <p:nvSpPr>
          <p:cNvPr name="TextBox 8" id="8"/>
          <p:cNvSpPr txBox="true"/>
          <p:nvPr/>
        </p:nvSpPr>
        <p:spPr>
          <a:xfrm rot="0">
            <a:off x="1390498" y="1306478"/>
            <a:ext cx="3064316" cy="644014"/>
          </a:xfrm>
          <a:prstGeom prst="rect">
            <a:avLst/>
          </a:prstGeom>
        </p:spPr>
        <p:txBody>
          <a:bodyPr anchor="t" rtlCol="false" tIns="0" lIns="0" bIns="0" rIns="0">
            <a:spAutoFit/>
          </a:bodyPr>
          <a:lstStyle/>
          <a:p>
            <a:pPr algn="l">
              <a:lnSpc>
                <a:spcPts val="5248"/>
              </a:lnSpc>
            </a:pPr>
            <a:r>
              <a:rPr lang="en-US" b="true" sz="3749">
                <a:solidFill>
                  <a:srgbClr val="FF0000"/>
                </a:solidFill>
                <a:latin typeface="League Spartan"/>
                <a:ea typeface="League Spartan"/>
                <a:cs typeface="League Spartan"/>
                <a:sym typeface="League Spartan"/>
              </a:rPr>
              <a:t> About Page</a:t>
            </a:r>
          </a:p>
        </p:txBody>
      </p:sp>
      <p:sp>
        <p:nvSpPr>
          <p:cNvPr name="TextBox 9" id="9"/>
          <p:cNvSpPr txBox="true"/>
          <p:nvPr/>
        </p:nvSpPr>
        <p:spPr>
          <a:xfrm rot="0">
            <a:off x="914400" y="5705713"/>
            <a:ext cx="12292689" cy="3186474"/>
          </a:xfrm>
          <a:prstGeom prst="rect">
            <a:avLst/>
          </a:prstGeom>
        </p:spPr>
        <p:txBody>
          <a:bodyPr anchor="t" rtlCol="false" tIns="0" lIns="0" bIns="0" rIns="0">
            <a:spAutoFit/>
          </a:bodyPr>
          <a:lstStyle/>
          <a:p>
            <a:pPr algn="l">
              <a:lnSpc>
                <a:spcPts val="8124"/>
              </a:lnSpc>
            </a:pPr>
            <a:r>
              <a:rPr lang="en-US" b="true" sz="3249">
                <a:solidFill>
                  <a:srgbClr val="000000"/>
                </a:solidFill>
                <a:latin typeface="League Spartan"/>
                <a:ea typeface="League Spartan"/>
                <a:cs typeface="League Spartan"/>
                <a:sym typeface="League Spartan"/>
              </a:rPr>
              <a:t>1. Explains hostel vision, mission, and purpose.</a:t>
            </a:r>
          </a:p>
          <a:p>
            <a:pPr algn="l">
              <a:lnSpc>
                <a:spcPts val="8124"/>
              </a:lnSpc>
            </a:pPr>
            <a:r>
              <a:rPr lang="en-US" b="true" sz="3249">
                <a:solidFill>
                  <a:srgbClr val="000000"/>
                </a:solidFill>
                <a:latin typeface="League Spartan"/>
                <a:ea typeface="League Spartan"/>
                <a:cs typeface="League Spartan"/>
                <a:sym typeface="League Spartan"/>
              </a:rPr>
              <a:t>2. Lists all available facilities (Wi-Fi, mess, laundry, etc.). 3. Provides hostel rules and warden details.</a:t>
            </a:r>
          </a:p>
        </p:txBody>
      </p:sp>
      <p:sp>
        <p:nvSpPr>
          <p:cNvPr name="TextBox 10" id="10"/>
          <p:cNvSpPr txBox="true"/>
          <p:nvPr/>
        </p:nvSpPr>
        <p:spPr>
          <a:xfrm rot="0">
            <a:off x="914400" y="2543413"/>
            <a:ext cx="15867012" cy="2909011"/>
          </a:xfrm>
          <a:prstGeom prst="rect">
            <a:avLst/>
          </a:prstGeom>
        </p:spPr>
        <p:txBody>
          <a:bodyPr anchor="t" rtlCol="false" tIns="0" lIns="0" bIns="0" rIns="0">
            <a:spAutoFit/>
          </a:bodyPr>
          <a:lstStyle/>
          <a:p>
            <a:pPr algn="l">
              <a:lnSpc>
                <a:spcPts val="4500"/>
              </a:lnSpc>
            </a:pPr>
            <a:r>
              <a:rPr lang="en-US" b="true" sz="3249">
                <a:solidFill>
                  <a:srgbClr val="000000"/>
                </a:solidFill>
                <a:latin typeface="League Spartan"/>
                <a:ea typeface="League Spartan"/>
                <a:cs typeface="League Spartan"/>
                <a:sym typeface="League Spartan"/>
              </a:rPr>
              <a:t>This page provides details about the hostel’s history, mission, and facilities. It includes information about hostel rules, safety measures, and management contact.</a:t>
            </a:r>
          </a:p>
          <a:p>
            <a:pPr algn="l">
              <a:lnSpc>
                <a:spcPts val="5109"/>
              </a:lnSpc>
            </a:pPr>
            <a:r>
              <a:rPr lang="en-US" b="true" sz="3649">
                <a:solidFill>
                  <a:srgbClr val="FF0000"/>
                </a:solidFill>
                <a:latin typeface="League Spartan"/>
                <a:ea typeface="League Spartan"/>
                <a:cs typeface="League Spartan"/>
                <a:sym typeface="League Spartan"/>
              </a:rPr>
              <a:t>Key Points: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14400" y="1108958"/>
            <a:ext cx="446037" cy="579434"/>
          </a:xfrm>
          <a:prstGeom prst="rect">
            <a:avLst/>
          </a:prstGeom>
        </p:spPr>
        <p:txBody>
          <a:bodyPr anchor="t" rtlCol="false" tIns="0" lIns="0" bIns="0" rIns="0">
            <a:spAutoFit/>
          </a:bodyPr>
          <a:lstStyle/>
          <a:p>
            <a:pPr algn="l">
              <a:lnSpc>
                <a:spcPts val="4820"/>
              </a:lnSpc>
            </a:pPr>
            <a:r>
              <a:rPr lang="en-US" sz="3443">
                <a:solidFill>
                  <a:srgbClr val="FF0000"/>
                </a:solidFill>
                <a:latin typeface="Arimo"/>
                <a:ea typeface="Arimo"/>
                <a:cs typeface="Arimo"/>
                <a:sym typeface="Arimo"/>
              </a:rPr>
              <a:t>🏢</a:t>
            </a:r>
          </a:p>
        </p:txBody>
      </p:sp>
      <p:sp>
        <p:nvSpPr>
          <p:cNvPr name="TextBox 8" id="8"/>
          <p:cNvSpPr txBox="true"/>
          <p:nvPr/>
        </p:nvSpPr>
        <p:spPr>
          <a:xfrm rot="0">
            <a:off x="1351655" y="1108005"/>
            <a:ext cx="4419457" cy="596894"/>
          </a:xfrm>
          <a:prstGeom prst="rect">
            <a:avLst/>
          </a:prstGeom>
        </p:spPr>
        <p:txBody>
          <a:bodyPr anchor="t" rtlCol="false" tIns="0" lIns="0" bIns="0" rIns="0">
            <a:spAutoFit/>
          </a:bodyPr>
          <a:lstStyle/>
          <a:p>
            <a:pPr algn="l">
              <a:lnSpc>
                <a:spcPts val="4820"/>
              </a:lnSpc>
            </a:pPr>
            <a:r>
              <a:rPr lang="en-US" b="true" sz="3443">
                <a:solidFill>
                  <a:srgbClr val="FF0000"/>
                </a:solidFill>
                <a:latin typeface="League Spartan"/>
                <a:ea typeface="League Spartan"/>
                <a:cs typeface="League Spartan"/>
                <a:sym typeface="League Spartan"/>
              </a:rPr>
              <a:t> Room Details Page</a:t>
            </a:r>
          </a:p>
        </p:txBody>
      </p:sp>
      <p:sp>
        <p:nvSpPr>
          <p:cNvPr name="TextBox 9" id="9"/>
          <p:cNvSpPr txBox="true"/>
          <p:nvPr/>
        </p:nvSpPr>
        <p:spPr>
          <a:xfrm rot="0">
            <a:off x="914400" y="5999293"/>
            <a:ext cx="12369775" cy="3084347"/>
          </a:xfrm>
          <a:prstGeom prst="rect">
            <a:avLst/>
          </a:prstGeom>
        </p:spPr>
        <p:txBody>
          <a:bodyPr anchor="t" rtlCol="false" tIns="0" lIns="0" bIns="0" rIns="0">
            <a:spAutoFit/>
          </a:bodyPr>
          <a:lstStyle/>
          <a:p>
            <a:pPr algn="l">
              <a:lnSpc>
                <a:spcPts val="7858"/>
              </a:lnSpc>
            </a:pPr>
            <a:r>
              <a:rPr lang="en-US" b="true" sz="3143">
                <a:solidFill>
                  <a:srgbClr val="000000"/>
                </a:solidFill>
                <a:latin typeface="League Spartan"/>
                <a:ea typeface="League Spartan"/>
                <a:cs typeface="League Spartan"/>
                <a:sym typeface="League Spartan"/>
              </a:rPr>
              <a:t>1. Shows all available room details.</a:t>
            </a:r>
          </a:p>
          <a:p>
            <a:pPr algn="l">
              <a:lnSpc>
                <a:spcPts val="7858"/>
              </a:lnSpc>
            </a:pPr>
            <a:r>
              <a:rPr lang="en-US" b="true" sz="3143">
                <a:solidFill>
                  <a:srgbClr val="000000"/>
                </a:solidFill>
                <a:latin typeface="League Spartan"/>
                <a:ea typeface="League Spartan"/>
                <a:cs typeface="League Spartan"/>
                <a:sym typeface="League Spartan"/>
              </a:rPr>
              <a:t>2. Helps students choose room type (single/double/triple). 3. Displays room status and price per month.</a:t>
            </a:r>
          </a:p>
        </p:txBody>
      </p:sp>
      <p:sp>
        <p:nvSpPr>
          <p:cNvPr name="TextBox 10" id="10"/>
          <p:cNvSpPr txBox="true"/>
          <p:nvPr/>
        </p:nvSpPr>
        <p:spPr>
          <a:xfrm rot="0">
            <a:off x="914400" y="2284543"/>
            <a:ext cx="17614154" cy="1646072"/>
          </a:xfrm>
          <a:prstGeom prst="rect">
            <a:avLst/>
          </a:prstGeom>
        </p:spPr>
        <p:txBody>
          <a:bodyPr anchor="t" rtlCol="false" tIns="0" lIns="0" bIns="0" rIns="0">
            <a:spAutoFit/>
          </a:bodyPr>
          <a:lstStyle/>
          <a:p>
            <a:pPr algn="l">
              <a:lnSpc>
                <a:spcPts val="4350"/>
              </a:lnSpc>
            </a:pPr>
            <a:r>
              <a:rPr lang="en-US" b="true" sz="3143">
                <a:solidFill>
                  <a:srgbClr val="000000"/>
                </a:solidFill>
                <a:latin typeface="League Spartan"/>
                <a:ea typeface="League Spartan"/>
                <a:cs typeface="League Spartan"/>
                <a:sym typeface="League Spartan"/>
              </a:rPr>
              <a:t>This page displays available rooms along with details like room number, type, rent, and current occupancy status. Students can check room availability before registering.</a:t>
            </a:r>
          </a:p>
        </p:txBody>
      </p:sp>
      <p:sp>
        <p:nvSpPr>
          <p:cNvPr name="TextBox 11" id="11"/>
          <p:cNvSpPr txBox="true"/>
          <p:nvPr/>
        </p:nvSpPr>
        <p:spPr>
          <a:xfrm rot="0">
            <a:off x="914400" y="5113068"/>
            <a:ext cx="2776337" cy="643090"/>
          </a:xfrm>
          <a:prstGeom prst="rect">
            <a:avLst/>
          </a:prstGeom>
        </p:spPr>
        <p:txBody>
          <a:bodyPr anchor="t" rtlCol="false" tIns="0" lIns="0" bIns="0" rIns="0">
            <a:spAutoFit/>
          </a:bodyPr>
          <a:lstStyle/>
          <a:p>
            <a:pPr algn="l">
              <a:lnSpc>
                <a:spcPts val="5240"/>
              </a:lnSpc>
            </a:pPr>
            <a:r>
              <a:rPr lang="en-US" b="true" sz="3743">
                <a:solidFill>
                  <a:srgbClr val="FF0000"/>
                </a:solidFill>
                <a:latin typeface="League Spartan"/>
                <a:ea typeface="League Spartan"/>
                <a:cs typeface="League Spartan"/>
                <a:sym typeface="League Spartan"/>
              </a:rPr>
              <a:t>Key Points: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49452" y="1132942"/>
            <a:ext cx="505206" cy="663150"/>
          </a:xfrm>
          <a:prstGeom prst="rect">
            <a:avLst/>
          </a:prstGeom>
        </p:spPr>
        <p:txBody>
          <a:bodyPr anchor="t" rtlCol="false" tIns="0" lIns="0" bIns="0" rIns="0">
            <a:spAutoFit/>
          </a:bodyPr>
          <a:lstStyle/>
          <a:p>
            <a:pPr algn="l">
              <a:lnSpc>
                <a:spcPts val="5459"/>
              </a:lnSpc>
            </a:pPr>
            <a:r>
              <a:rPr lang="en-US" sz="3900">
                <a:solidFill>
                  <a:srgbClr val="FF0000"/>
                </a:solidFill>
                <a:latin typeface="Arimo"/>
                <a:ea typeface="Arimo"/>
                <a:cs typeface="Arimo"/>
                <a:sym typeface="Arimo"/>
              </a:rPr>
              <a:t>👨‍🎓</a:t>
            </a:r>
          </a:p>
        </p:txBody>
      </p:sp>
      <p:sp>
        <p:nvSpPr>
          <p:cNvPr name="TextBox 8" id="8"/>
          <p:cNvSpPr txBox="true"/>
          <p:nvPr/>
        </p:nvSpPr>
        <p:spPr>
          <a:xfrm rot="0">
            <a:off x="1444752" y="1186758"/>
            <a:ext cx="6965280" cy="667226"/>
          </a:xfrm>
          <a:prstGeom prst="rect">
            <a:avLst/>
          </a:prstGeom>
        </p:spPr>
        <p:txBody>
          <a:bodyPr anchor="t" rtlCol="false" tIns="0" lIns="0" bIns="0" rIns="0">
            <a:spAutoFit/>
          </a:bodyPr>
          <a:lstStyle/>
          <a:p>
            <a:pPr algn="l">
              <a:lnSpc>
                <a:spcPts val="5459"/>
              </a:lnSpc>
            </a:pPr>
            <a:r>
              <a:rPr lang="en-US" b="true" sz="3900">
                <a:solidFill>
                  <a:srgbClr val="FF0000"/>
                </a:solidFill>
                <a:latin typeface="League Spartan"/>
                <a:ea typeface="League Spartan"/>
                <a:cs typeface="League Spartan"/>
                <a:sym typeface="League Spartan"/>
              </a:rPr>
              <a:t> Student Registration Page</a:t>
            </a:r>
          </a:p>
        </p:txBody>
      </p:sp>
      <p:sp>
        <p:nvSpPr>
          <p:cNvPr name="TextBox 9" id="9"/>
          <p:cNvSpPr txBox="true"/>
          <p:nvPr/>
        </p:nvSpPr>
        <p:spPr>
          <a:xfrm rot="0">
            <a:off x="949452" y="5595604"/>
            <a:ext cx="13792000" cy="3342923"/>
          </a:xfrm>
          <a:prstGeom prst="rect">
            <a:avLst/>
          </a:prstGeom>
        </p:spPr>
        <p:txBody>
          <a:bodyPr anchor="t" rtlCol="false" tIns="0" lIns="0" bIns="0" rIns="0">
            <a:spAutoFit/>
          </a:bodyPr>
          <a:lstStyle/>
          <a:p>
            <a:pPr algn="l">
              <a:lnSpc>
                <a:spcPts val="8499"/>
              </a:lnSpc>
            </a:pPr>
            <a:r>
              <a:rPr lang="en-US" b="true" sz="3399">
                <a:solidFill>
                  <a:srgbClr val="000000"/>
                </a:solidFill>
                <a:latin typeface="League Spartan"/>
                <a:ea typeface="League Spartan"/>
                <a:cs typeface="League Spartan"/>
                <a:sym typeface="League Spartan"/>
              </a:rPr>
              <a:t>1. Includes fields like name, ID, department, and contact info.</a:t>
            </a:r>
          </a:p>
          <a:p>
            <a:pPr algn="l">
              <a:lnSpc>
                <a:spcPts val="8499"/>
              </a:lnSpc>
            </a:pPr>
            <a:r>
              <a:rPr lang="en-US" b="true" sz="3399">
                <a:solidFill>
                  <a:srgbClr val="000000"/>
                </a:solidFill>
                <a:latin typeface="League Spartan"/>
                <a:ea typeface="League Spartan"/>
                <a:cs typeface="League Spartan"/>
                <a:sym typeface="League Spartan"/>
              </a:rPr>
              <a:t>2. Allows students to choose preferred room type. 3. Submits data directly to the admin or database.</a:t>
            </a:r>
          </a:p>
        </p:txBody>
      </p:sp>
      <p:sp>
        <p:nvSpPr>
          <p:cNvPr name="TextBox 10" id="10"/>
          <p:cNvSpPr txBox="true"/>
          <p:nvPr/>
        </p:nvSpPr>
        <p:spPr>
          <a:xfrm rot="0">
            <a:off x="949452" y="2376154"/>
            <a:ext cx="14226226" cy="3032446"/>
          </a:xfrm>
          <a:prstGeom prst="rect">
            <a:avLst/>
          </a:prstGeom>
        </p:spPr>
        <p:txBody>
          <a:bodyPr anchor="t" rtlCol="false" tIns="0" lIns="0" bIns="0" rIns="0">
            <a:spAutoFit/>
          </a:bodyPr>
          <a:lstStyle/>
          <a:p>
            <a:pPr algn="l">
              <a:lnSpc>
                <a:spcPts val="4725"/>
              </a:lnSpc>
            </a:pPr>
            <a:r>
              <a:rPr lang="en-US" b="true" sz="3399">
                <a:solidFill>
                  <a:srgbClr val="000000"/>
                </a:solidFill>
                <a:latin typeface="League Spartan"/>
                <a:ea typeface="League Spartan"/>
                <a:cs typeface="League Spartan"/>
                <a:sym typeface="League Spartan"/>
              </a:rPr>
              <a:t>The registration page allows students to fill in personal and academic details to apply for hostel accommodation. It collects essential data for room allocation.</a:t>
            </a:r>
          </a:p>
          <a:p>
            <a:pPr algn="l">
              <a:lnSpc>
                <a:spcPts val="5179"/>
              </a:lnSpc>
            </a:pPr>
            <a:r>
              <a:rPr lang="en-US" b="true" sz="3699">
                <a:solidFill>
                  <a:srgbClr val="FF0000"/>
                </a:solidFill>
                <a:latin typeface="League Spartan"/>
                <a:ea typeface="League Spartan"/>
                <a:cs typeface="League Spartan"/>
                <a:sym typeface="League Spartan"/>
              </a:rPr>
              <a:t>Key Points: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14400" y="1139571"/>
            <a:ext cx="531047" cy="693982"/>
          </a:xfrm>
          <a:prstGeom prst="rect">
            <a:avLst/>
          </a:prstGeom>
        </p:spPr>
        <p:txBody>
          <a:bodyPr anchor="t" rtlCol="false" tIns="0" lIns="0" bIns="0" rIns="0">
            <a:spAutoFit/>
          </a:bodyPr>
          <a:lstStyle/>
          <a:p>
            <a:pPr algn="l">
              <a:lnSpc>
                <a:spcPts val="5739"/>
              </a:lnSpc>
            </a:pPr>
            <a:r>
              <a:rPr lang="en-US" sz="4099">
                <a:solidFill>
                  <a:srgbClr val="FF0000"/>
                </a:solidFill>
                <a:latin typeface="Arimo"/>
                <a:ea typeface="Arimo"/>
                <a:cs typeface="Arimo"/>
                <a:sym typeface="Arimo"/>
              </a:rPr>
              <a:t>🔐</a:t>
            </a:r>
          </a:p>
        </p:txBody>
      </p:sp>
      <p:sp>
        <p:nvSpPr>
          <p:cNvPr name="TextBox 8" id="8"/>
          <p:cNvSpPr txBox="true"/>
          <p:nvPr/>
        </p:nvSpPr>
        <p:spPr>
          <a:xfrm rot="0">
            <a:off x="1434998" y="1185405"/>
            <a:ext cx="3190342" cy="716994"/>
          </a:xfrm>
          <a:prstGeom prst="rect">
            <a:avLst/>
          </a:prstGeom>
        </p:spPr>
        <p:txBody>
          <a:bodyPr anchor="t" rtlCol="false" tIns="0" lIns="0" bIns="0" rIns="0">
            <a:spAutoFit/>
          </a:bodyPr>
          <a:lstStyle/>
          <a:p>
            <a:pPr algn="l">
              <a:lnSpc>
                <a:spcPts val="5739"/>
              </a:lnSpc>
            </a:pPr>
            <a:r>
              <a:rPr lang="en-US" b="true" sz="4099">
                <a:solidFill>
                  <a:srgbClr val="FF0000"/>
                </a:solidFill>
                <a:latin typeface="League Spartan"/>
                <a:ea typeface="League Spartan"/>
                <a:cs typeface="League Spartan"/>
                <a:sym typeface="League Spartan"/>
              </a:rPr>
              <a:t> Login Page</a:t>
            </a:r>
          </a:p>
        </p:txBody>
      </p:sp>
      <p:sp>
        <p:nvSpPr>
          <p:cNvPr name="TextBox 9" id="9"/>
          <p:cNvSpPr txBox="true"/>
          <p:nvPr/>
        </p:nvSpPr>
        <p:spPr>
          <a:xfrm rot="0">
            <a:off x="914400" y="5808688"/>
            <a:ext cx="10640006" cy="3241834"/>
          </a:xfrm>
          <a:prstGeom prst="rect">
            <a:avLst/>
          </a:prstGeom>
        </p:spPr>
        <p:txBody>
          <a:bodyPr anchor="t" rtlCol="false" tIns="0" lIns="0" bIns="0" rIns="0">
            <a:spAutoFit/>
          </a:bodyPr>
          <a:lstStyle/>
          <a:p>
            <a:pPr algn="l">
              <a:lnSpc>
                <a:spcPts val="8250"/>
              </a:lnSpc>
            </a:pPr>
            <a:r>
              <a:rPr lang="en-US" b="true" sz="3300">
                <a:solidFill>
                  <a:srgbClr val="000000"/>
                </a:solidFill>
                <a:latin typeface="League Spartan"/>
                <a:ea typeface="League Spartan"/>
                <a:cs typeface="League Spartan"/>
                <a:sym typeface="League Spartan"/>
              </a:rPr>
              <a:t>1. Separate login access for admin and students.</a:t>
            </a:r>
          </a:p>
          <a:p>
            <a:pPr algn="l">
              <a:lnSpc>
                <a:spcPts val="8250"/>
              </a:lnSpc>
            </a:pPr>
            <a:r>
              <a:rPr lang="en-US" b="true" sz="3300">
                <a:solidFill>
                  <a:srgbClr val="000000"/>
                </a:solidFill>
                <a:latin typeface="League Spartan"/>
                <a:ea typeface="League Spartan"/>
                <a:cs typeface="League Spartan"/>
                <a:sym typeface="League Spartan"/>
              </a:rPr>
              <a:t>2. Provides password reset option. 3. Ensures security and privacy of user data.</a:t>
            </a:r>
          </a:p>
        </p:txBody>
      </p:sp>
      <p:sp>
        <p:nvSpPr>
          <p:cNvPr name="TextBox 10" id="10"/>
          <p:cNvSpPr txBox="true"/>
          <p:nvPr/>
        </p:nvSpPr>
        <p:spPr>
          <a:xfrm rot="0">
            <a:off x="914400" y="2513038"/>
            <a:ext cx="13806354" cy="3043828"/>
          </a:xfrm>
          <a:prstGeom prst="rect">
            <a:avLst/>
          </a:prstGeom>
        </p:spPr>
        <p:txBody>
          <a:bodyPr anchor="t" rtlCol="false" tIns="0" lIns="0" bIns="0" rIns="0">
            <a:spAutoFit/>
          </a:bodyPr>
          <a:lstStyle/>
          <a:p>
            <a:pPr algn="l">
              <a:lnSpc>
                <a:spcPts val="4573"/>
              </a:lnSpc>
            </a:pPr>
            <a:r>
              <a:rPr lang="en-US" b="true" sz="3300">
                <a:solidFill>
                  <a:srgbClr val="000000"/>
                </a:solidFill>
                <a:latin typeface="League Spartan"/>
                <a:ea typeface="League Spartan"/>
                <a:cs typeface="League Spartan"/>
                <a:sym typeface="League Spartan"/>
              </a:rPr>
              <a:t>The login page gives secure access to both students and administrators. It includes username and password fields with validation for authentication.</a:t>
            </a:r>
          </a:p>
          <a:p>
            <a:pPr algn="l">
              <a:lnSpc>
                <a:spcPts val="5880"/>
              </a:lnSpc>
            </a:pPr>
            <a:r>
              <a:rPr lang="en-US" b="true" sz="4200">
                <a:solidFill>
                  <a:srgbClr val="FF0000"/>
                </a:solidFill>
                <a:latin typeface="League Spartan"/>
                <a:ea typeface="League Spartan"/>
                <a:cs typeface="League Spartan"/>
                <a:sym typeface="League Spartan"/>
              </a:rPr>
              <a:t>Key Points: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49452" y="1044635"/>
            <a:ext cx="492185" cy="650167"/>
          </a:xfrm>
          <a:prstGeom prst="rect">
            <a:avLst/>
          </a:prstGeom>
        </p:spPr>
        <p:txBody>
          <a:bodyPr anchor="t" rtlCol="false" tIns="0" lIns="0" bIns="0" rIns="0">
            <a:spAutoFit/>
          </a:bodyPr>
          <a:lstStyle/>
          <a:p>
            <a:pPr algn="l">
              <a:lnSpc>
                <a:spcPts val="5319"/>
              </a:lnSpc>
            </a:pPr>
            <a:r>
              <a:rPr lang="en-US" sz="3799">
                <a:solidFill>
                  <a:srgbClr val="FF0000"/>
                </a:solidFill>
                <a:latin typeface="Arimo"/>
                <a:ea typeface="Arimo"/>
                <a:cs typeface="Arimo"/>
                <a:sym typeface="Arimo"/>
              </a:rPr>
              <a:t>🧑‍💼</a:t>
            </a:r>
          </a:p>
        </p:txBody>
      </p:sp>
      <p:sp>
        <p:nvSpPr>
          <p:cNvPr name="TextBox 8" id="8"/>
          <p:cNvSpPr txBox="true"/>
          <p:nvPr/>
        </p:nvSpPr>
        <p:spPr>
          <a:xfrm rot="0">
            <a:off x="1431950" y="1106872"/>
            <a:ext cx="4790627" cy="651748"/>
          </a:xfrm>
          <a:prstGeom prst="rect">
            <a:avLst/>
          </a:prstGeom>
        </p:spPr>
        <p:txBody>
          <a:bodyPr anchor="t" rtlCol="false" tIns="0" lIns="0" bIns="0" rIns="0">
            <a:spAutoFit/>
          </a:bodyPr>
          <a:lstStyle/>
          <a:p>
            <a:pPr algn="l">
              <a:lnSpc>
                <a:spcPts val="5319"/>
              </a:lnSpc>
            </a:pPr>
            <a:r>
              <a:rPr lang="en-US" b="true" sz="3799">
                <a:solidFill>
                  <a:srgbClr val="FF0000"/>
                </a:solidFill>
                <a:latin typeface="League Spartan"/>
                <a:ea typeface="League Spartan"/>
                <a:cs typeface="League Spartan"/>
                <a:sym typeface="League Spartan"/>
              </a:rPr>
              <a:t> Admin Dashboard</a:t>
            </a:r>
          </a:p>
        </p:txBody>
      </p:sp>
      <p:sp>
        <p:nvSpPr>
          <p:cNvPr name="TextBox 9" id="9"/>
          <p:cNvSpPr txBox="true"/>
          <p:nvPr/>
        </p:nvSpPr>
        <p:spPr>
          <a:xfrm rot="0">
            <a:off x="949452" y="5817184"/>
            <a:ext cx="11892010" cy="3444002"/>
          </a:xfrm>
          <a:prstGeom prst="rect">
            <a:avLst/>
          </a:prstGeom>
        </p:spPr>
        <p:txBody>
          <a:bodyPr anchor="t" rtlCol="false" tIns="0" lIns="0" bIns="0" rIns="0">
            <a:spAutoFit/>
          </a:bodyPr>
          <a:lstStyle/>
          <a:p>
            <a:pPr algn="just">
              <a:lnSpc>
                <a:spcPts val="8748"/>
              </a:lnSpc>
            </a:pPr>
            <a:r>
              <a:rPr lang="en-US" b="true" sz="3499">
                <a:solidFill>
                  <a:srgbClr val="000000"/>
                </a:solidFill>
                <a:latin typeface="League Spartan"/>
                <a:ea typeface="League Spartan"/>
                <a:cs typeface="League Spartan"/>
                <a:sym typeface="League Spartan"/>
              </a:rPr>
              <a:t>1. Displays total rooms, payments, and complaints.</a:t>
            </a:r>
          </a:p>
          <a:p>
            <a:pPr algn="just">
              <a:lnSpc>
                <a:spcPts val="8748"/>
              </a:lnSpc>
            </a:pPr>
            <a:r>
              <a:rPr lang="en-US" b="true" sz="3499">
                <a:solidFill>
                  <a:srgbClr val="000000"/>
                </a:solidFill>
                <a:latin typeface="League Spartan"/>
                <a:ea typeface="League Spartan"/>
                <a:cs typeface="League Spartan"/>
                <a:sym typeface="League Spartan"/>
              </a:rPr>
              <a:t>2. Allows admin to edit or delete student details. 3. Provides quick access to reports and statistics.</a:t>
            </a:r>
          </a:p>
        </p:txBody>
      </p:sp>
      <p:sp>
        <p:nvSpPr>
          <p:cNvPr name="TextBox 10" id="10"/>
          <p:cNvSpPr txBox="true"/>
          <p:nvPr/>
        </p:nvSpPr>
        <p:spPr>
          <a:xfrm rot="0">
            <a:off x="949452" y="2388184"/>
            <a:ext cx="12415114" cy="3161500"/>
          </a:xfrm>
          <a:prstGeom prst="rect">
            <a:avLst/>
          </a:prstGeom>
        </p:spPr>
        <p:txBody>
          <a:bodyPr anchor="t" rtlCol="false" tIns="0" lIns="0" bIns="0" rIns="0">
            <a:spAutoFit/>
          </a:bodyPr>
          <a:lstStyle/>
          <a:p>
            <a:pPr algn="l">
              <a:lnSpc>
                <a:spcPts val="4874"/>
              </a:lnSpc>
            </a:pPr>
            <a:r>
              <a:rPr lang="en-US" b="true" sz="3499">
                <a:solidFill>
                  <a:srgbClr val="000000"/>
                </a:solidFill>
                <a:latin typeface="League Spartan"/>
                <a:ea typeface="League Spartan"/>
                <a:cs typeface="League Spartan"/>
                <a:sym typeface="League Spartan"/>
              </a:rPr>
              <a:t>The admin dashboard is the control center for hostel management. It helps manage student data, allocate rooms, update payments, and handle complaints.</a:t>
            </a:r>
          </a:p>
          <a:p>
            <a:pPr algn="l">
              <a:lnSpc>
                <a:spcPts val="5599"/>
              </a:lnSpc>
            </a:pPr>
            <a:r>
              <a:rPr lang="en-US" b="true" sz="3999">
                <a:solidFill>
                  <a:srgbClr val="FF0000"/>
                </a:solidFill>
                <a:latin typeface="League Spartan"/>
                <a:ea typeface="League Spartan"/>
                <a:cs typeface="League Spartan"/>
                <a:sym typeface="League Spartan"/>
              </a:rPr>
              <a:t>Key Points: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14400" y="1161126"/>
            <a:ext cx="492185" cy="647814"/>
          </a:xfrm>
          <a:prstGeom prst="rect">
            <a:avLst/>
          </a:prstGeom>
        </p:spPr>
        <p:txBody>
          <a:bodyPr anchor="t" rtlCol="false" tIns="0" lIns="0" bIns="0" rIns="0">
            <a:spAutoFit/>
          </a:bodyPr>
          <a:lstStyle/>
          <a:p>
            <a:pPr algn="l">
              <a:lnSpc>
                <a:spcPts val="5319"/>
              </a:lnSpc>
            </a:pPr>
            <a:r>
              <a:rPr lang="en-US" sz="3799">
                <a:solidFill>
                  <a:srgbClr val="FF0000"/>
                </a:solidFill>
                <a:latin typeface="Arimo"/>
                <a:ea typeface="Arimo"/>
                <a:cs typeface="Arimo"/>
                <a:sym typeface="Arimo"/>
              </a:rPr>
              <a:t>📞</a:t>
            </a:r>
          </a:p>
        </p:txBody>
      </p:sp>
      <p:sp>
        <p:nvSpPr>
          <p:cNvPr name="TextBox 8" id="8"/>
          <p:cNvSpPr txBox="true"/>
          <p:nvPr/>
        </p:nvSpPr>
        <p:spPr>
          <a:xfrm rot="0">
            <a:off x="1396898" y="1213228"/>
            <a:ext cx="3508077" cy="651748"/>
          </a:xfrm>
          <a:prstGeom prst="rect">
            <a:avLst/>
          </a:prstGeom>
        </p:spPr>
        <p:txBody>
          <a:bodyPr anchor="t" rtlCol="false" tIns="0" lIns="0" bIns="0" rIns="0">
            <a:spAutoFit/>
          </a:bodyPr>
          <a:lstStyle/>
          <a:p>
            <a:pPr algn="l">
              <a:lnSpc>
                <a:spcPts val="5319"/>
              </a:lnSpc>
            </a:pPr>
            <a:r>
              <a:rPr lang="en-US" b="true" sz="3799">
                <a:solidFill>
                  <a:srgbClr val="FF0000"/>
                </a:solidFill>
                <a:latin typeface="League Spartan"/>
                <a:ea typeface="League Spartan"/>
                <a:cs typeface="League Spartan"/>
                <a:sym typeface="League Spartan"/>
              </a:rPr>
              <a:t> Contact Page</a:t>
            </a:r>
          </a:p>
        </p:txBody>
      </p:sp>
      <p:sp>
        <p:nvSpPr>
          <p:cNvPr name="TextBox 9" id="9"/>
          <p:cNvSpPr txBox="true"/>
          <p:nvPr/>
        </p:nvSpPr>
        <p:spPr>
          <a:xfrm rot="0">
            <a:off x="914400" y="2439019"/>
            <a:ext cx="16447522" cy="6429613"/>
          </a:xfrm>
          <a:prstGeom prst="rect">
            <a:avLst/>
          </a:prstGeom>
        </p:spPr>
        <p:txBody>
          <a:bodyPr anchor="t" rtlCol="false" tIns="0" lIns="0" bIns="0" rIns="0">
            <a:spAutoFit/>
          </a:bodyPr>
          <a:lstStyle/>
          <a:p>
            <a:pPr algn="l">
              <a:lnSpc>
                <a:spcPts val="4725"/>
              </a:lnSpc>
            </a:pPr>
            <a:r>
              <a:rPr lang="en-US" b="true" sz="3399">
                <a:solidFill>
                  <a:srgbClr val="000000"/>
                </a:solidFill>
                <a:latin typeface="League Spartan"/>
                <a:ea typeface="League Spartan"/>
                <a:cs typeface="League Spartan"/>
                <a:sym typeface="League Spartan"/>
              </a:rPr>
              <a:t>The Contact Page provides hostel address, phone number, and email for inquiries. It may also include a contact form or Google Map for easy navigation.</a:t>
            </a:r>
          </a:p>
          <a:p>
            <a:pPr algn="l">
              <a:lnSpc>
                <a:spcPts val="5599"/>
              </a:lnSpc>
            </a:pPr>
            <a:r>
              <a:rPr lang="en-US" b="true" sz="3999">
                <a:solidFill>
                  <a:srgbClr val="FF0000"/>
                </a:solidFill>
                <a:latin typeface="League Spartan"/>
                <a:ea typeface="League Spartan"/>
                <a:cs typeface="League Spartan"/>
                <a:sym typeface="League Spartan"/>
              </a:rPr>
              <a:t>Key Points:</a:t>
            </a:r>
          </a:p>
          <a:p>
            <a:pPr algn="l">
              <a:lnSpc>
                <a:spcPts val="7998"/>
              </a:lnSpc>
            </a:pPr>
            <a:r>
              <a:rPr lang="en-US" b="true" sz="3199">
                <a:solidFill>
                  <a:srgbClr val="000000"/>
                </a:solidFill>
                <a:latin typeface="League Spartan"/>
                <a:ea typeface="League Spartan"/>
                <a:cs typeface="League Spartan"/>
                <a:sym typeface="League Spartan"/>
              </a:rPr>
              <a:t>1. Displays hostel office contact details.</a:t>
            </a:r>
          </a:p>
          <a:p>
            <a:pPr algn="l">
              <a:lnSpc>
                <a:spcPts val="7998"/>
              </a:lnSpc>
            </a:pPr>
            <a:r>
              <a:rPr lang="en-US" b="true" sz="3199">
                <a:solidFill>
                  <a:srgbClr val="000000"/>
                </a:solidFill>
                <a:latin typeface="League Spartan"/>
                <a:ea typeface="League Spartan"/>
                <a:cs typeface="League Spartan"/>
                <a:sym typeface="League Spartan"/>
              </a:rPr>
              <a:t>2. Provides direct message form for users. 3. Helps students connect with management easily.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4755280"/>
            <a:ext cx="18288000" cy="19792950"/>
          </a:xfrm>
          <a:custGeom>
            <a:avLst/>
            <a:gdLst/>
            <a:ahLst/>
            <a:cxnLst/>
            <a:rect r="r" b="b" t="t" l="l"/>
            <a:pathLst>
              <a:path h="19792950" w="18288000">
                <a:moveTo>
                  <a:pt x="0" y="0"/>
                </a:moveTo>
                <a:lnTo>
                  <a:pt x="18288000" y="0"/>
                </a:lnTo>
                <a:lnTo>
                  <a:pt x="18288000" y="19792950"/>
                </a:lnTo>
                <a:lnTo>
                  <a:pt x="0" y="1979295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045483" y="635451"/>
            <a:ext cx="1809750" cy="390525"/>
          </a:xfrm>
          <a:custGeom>
            <a:avLst/>
            <a:gdLst/>
            <a:ahLst/>
            <a:cxnLst/>
            <a:rect r="r" b="b" t="t" l="l"/>
            <a:pathLst>
              <a:path h="390525" w="1809750">
                <a:moveTo>
                  <a:pt x="0" y="0"/>
                </a:moveTo>
                <a:lnTo>
                  <a:pt x="1809750" y="0"/>
                </a:lnTo>
                <a:lnTo>
                  <a:pt x="1809750" y="390525"/>
                </a:lnTo>
                <a:lnTo>
                  <a:pt x="0" y="390525"/>
                </a:lnTo>
                <a:lnTo>
                  <a:pt x="0" y="0"/>
                </a:lnTo>
                <a:close/>
              </a:path>
            </a:pathLst>
          </a:custGeom>
          <a:blipFill>
            <a:blip r:embed="rId3"/>
            <a:stretch>
              <a:fillRect l="-57" t="0" r="-468" b="0"/>
            </a:stretch>
          </a:blipFill>
        </p:spPr>
      </p:sp>
      <p:grpSp>
        <p:nvGrpSpPr>
          <p:cNvPr name="Group 4" id="4"/>
          <p:cNvGrpSpPr>
            <a:grpSpLocks noChangeAspect="true"/>
          </p:cNvGrpSpPr>
          <p:nvPr/>
        </p:nvGrpSpPr>
        <p:grpSpPr>
          <a:xfrm rot="0">
            <a:off x="914400" y="633984"/>
            <a:ext cx="70104" cy="396240"/>
            <a:chOff x="0" y="0"/>
            <a:chExt cx="70104" cy="396240"/>
          </a:xfrm>
        </p:grpSpPr>
        <p:sp>
          <p:nvSpPr>
            <p:cNvPr name="Freeform 5" id="5"/>
            <p:cNvSpPr/>
            <p:nvPr/>
          </p:nvSpPr>
          <p:spPr>
            <a:xfrm flipH="false" flipV="false" rot="0">
              <a:off x="0" y="1524"/>
              <a:ext cx="68580" cy="393192"/>
            </a:xfrm>
            <a:custGeom>
              <a:avLst/>
              <a:gdLst/>
              <a:ahLst/>
              <a:cxnLst/>
              <a:rect r="r" b="b" t="t" l="l"/>
              <a:pathLst>
                <a:path h="393192" w="68580">
                  <a:moveTo>
                    <a:pt x="0" y="0"/>
                  </a:moveTo>
                  <a:lnTo>
                    <a:pt x="0" y="393192"/>
                  </a:lnTo>
                  <a:lnTo>
                    <a:pt x="68580" y="393192"/>
                  </a:lnTo>
                  <a:lnTo>
                    <a:pt x="68580" y="0"/>
                  </a:lnTo>
                  <a:close/>
                </a:path>
              </a:pathLst>
            </a:custGeom>
            <a:solidFill>
              <a:srgbClr val="F39000"/>
            </a:solidFill>
          </p:spPr>
        </p:sp>
      </p:grpSp>
      <p:sp>
        <p:nvSpPr>
          <p:cNvPr name="Freeform 6" id="6"/>
          <p:cNvSpPr/>
          <p:nvPr/>
        </p:nvSpPr>
        <p:spPr>
          <a:xfrm flipH="false" flipV="false" rot="0">
            <a:off x="0" y="9586912"/>
            <a:ext cx="18288000" cy="700088"/>
          </a:xfrm>
          <a:custGeom>
            <a:avLst/>
            <a:gdLst/>
            <a:ahLst/>
            <a:cxnLst/>
            <a:rect r="r" b="b" t="t" l="l"/>
            <a:pathLst>
              <a:path h="700088" w="18288000">
                <a:moveTo>
                  <a:pt x="0" y="0"/>
                </a:moveTo>
                <a:lnTo>
                  <a:pt x="18288000" y="0"/>
                </a:lnTo>
                <a:lnTo>
                  <a:pt x="18288000" y="700088"/>
                </a:lnTo>
                <a:lnTo>
                  <a:pt x="0" y="700088"/>
                </a:lnTo>
                <a:lnTo>
                  <a:pt x="0" y="0"/>
                </a:lnTo>
                <a:close/>
              </a:path>
            </a:pathLst>
          </a:custGeom>
          <a:blipFill>
            <a:blip r:embed="rId4"/>
            <a:stretch>
              <a:fillRect l="0" t="0" r="0" b="-680"/>
            </a:stretch>
          </a:blipFill>
        </p:spPr>
      </p:sp>
      <p:sp>
        <p:nvSpPr>
          <p:cNvPr name="TextBox 7" id="7"/>
          <p:cNvSpPr txBox="true"/>
          <p:nvPr/>
        </p:nvSpPr>
        <p:spPr>
          <a:xfrm rot="0">
            <a:off x="949452" y="1343701"/>
            <a:ext cx="15871688" cy="7671206"/>
          </a:xfrm>
          <a:prstGeom prst="rect">
            <a:avLst/>
          </a:prstGeom>
        </p:spPr>
        <p:txBody>
          <a:bodyPr anchor="t" rtlCol="false" tIns="0" lIns="0" bIns="0" rIns="0">
            <a:spAutoFit/>
          </a:bodyPr>
          <a:lstStyle/>
          <a:p>
            <a:pPr algn="l">
              <a:lnSpc>
                <a:spcPts val="5090"/>
              </a:lnSpc>
            </a:pPr>
            <a:r>
              <a:rPr lang="en-US" b="true" sz="3683">
                <a:solidFill>
                  <a:srgbClr val="FF0000"/>
                </a:solidFill>
                <a:latin typeface="League Spartan"/>
                <a:ea typeface="League Spartan"/>
                <a:cs typeface="League Spartan"/>
                <a:sym typeface="League Spartan"/>
              </a:rPr>
              <a:t>🧾 Conclusion </a:t>
            </a:r>
            <a:r>
              <a:rPr lang="en-US" b="true" sz="3683">
                <a:solidFill>
                  <a:srgbClr val="000000"/>
                </a:solidFill>
                <a:latin typeface="League Spartan"/>
                <a:ea typeface="League Spartan"/>
                <a:cs typeface="League Spartan"/>
                <a:sym typeface="League Spartan"/>
              </a:rPr>
              <a:t>The Hostel Management System provides a modern and efficient solution to manage hostel operations digitally. It simplifies administrative work by handling student registrations, room allocations, payments, and food facilities through an integrated online platform.</a:t>
            </a:r>
          </a:p>
          <a:p>
            <a:pPr algn="l">
              <a:lnSpc>
                <a:spcPts val="4726"/>
              </a:lnSpc>
            </a:pPr>
            <a:r>
              <a:rPr lang="en-US" b="true" sz="3392">
                <a:solidFill>
                  <a:srgbClr val="000000"/>
                </a:solidFill>
                <a:latin typeface="League Spartan"/>
                <a:ea typeface="League Spartan"/>
                <a:cs typeface="League Spartan"/>
                <a:sym typeface="League Spartan"/>
              </a:rPr>
              <a:t>This system not only improves accuracy and transparency but also enhances the overall hostel experience for students and management alike.</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404C8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645360" y="5517442"/>
            <a:ext cx="1870072" cy="1870072"/>
            <a:chOff x="0" y="0"/>
            <a:chExt cx="1870075" cy="1870075"/>
          </a:xfrm>
        </p:grpSpPr>
        <p:sp>
          <p:nvSpPr>
            <p:cNvPr name="Freeform 3" id="3"/>
            <p:cNvSpPr/>
            <p:nvPr/>
          </p:nvSpPr>
          <p:spPr>
            <a:xfrm flipH="false" flipV="false" rot="0">
              <a:off x="63500" y="63500"/>
              <a:ext cx="1743075" cy="1743075"/>
            </a:xfrm>
            <a:custGeom>
              <a:avLst/>
              <a:gdLst/>
              <a:ahLst/>
              <a:cxnLst/>
              <a:rect r="r" b="b" t="t" l="l"/>
              <a:pathLst>
                <a:path h="1743075" w="1743075">
                  <a:moveTo>
                    <a:pt x="1050925" y="971804"/>
                  </a:moveTo>
                  <a:cubicBezTo>
                    <a:pt x="1171321" y="893064"/>
                    <a:pt x="1378839" y="882777"/>
                    <a:pt x="1743075" y="871601"/>
                  </a:cubicBezTo>
                  <a:cubicBezTo>
                    <a:pt x="1378966" y="860425"/>
                    <a:pt x="1171448" y="850138"/>
                    <a:pt x="1050925" y="771398"/>
                  </a:cubicBezTo>
                  <a:cubicBezTo>
                    <a:pt x="1086866" y="690372"/>
                    <a:pt x="1164082" y="596646"/>
                    <a:pt x="1282954" y="460121"/>
                  </a:cubicBezTo>
                  <a:cubicBezTo>
                    <a:pt x="1146556" y="578866"/>
                    <a:pt x="1052703" y="656209"/>
                    <a:pt x="971804" y="692150"/>
                  </a:cubicBezTo>
                  <a:cubicBezTo>
                    <a:pt x="892937" y="571627"/>
                    <a:pt x="882650" y="364109"/>
                    <a:pt x="871474" y="0"/>
                  </a:cubicBezTo>
                  <a:cubicBezTo>
                    <a:pt x="860298" y="364109"/>
                    <a:pt x="850011" y="571627"/>
                    <a:pt x="771271" y="692150"/>
                  </a:cubicBezTo>
                  <a:cubicBezTo>
                    <a:pt x="690245" y="656209"/>
                    <a:pt x="596519" y="578993"/>
                    <a:pt x="459994" y="460121"/>
                  </a:cubicBezTo>
                  <a:cubicBezTo>
                    <a:pt x="578866" y="596519"/>
                    <a:pt x="656209" y="690372"/>
                    <a:pt x="692150" y="771271"/>
                  </a:cubicBezTo>
                  <a:cubicBezTo>
                    <a:pt x="571754" y="850011"/>
                    <a:pt x="364236" y="860298"/>
                    <a:pt x="0" y="871474"/>
                  </a:cubicBezTo>
                  <a:cubicBezTo>
                    <a:pt x="364109" y="882650"/>
                    <a:pt x="571627" y="892937"/>
                    <a:pt x="692150" y="971677"/>
                  </a:cubicBezTo>
                  <a:cubicBezTo>
                    <a:pt x="656209" y="1052703"/>
                    <a:pt x="578993" y="1146429"/>
                    <a:pt x="460121" y="1282954"/>
                  </a:cubicBezTo>
                  <a:cubicBezTo>
                    <a:pt x="596646" y="1164082"/>
                    <a:pt x="690499" y="1086739"/>
                    <a:pt x="771398" y="1050925"/>
                  </a:cubicBezTo>
                  <a:cubicBezTo>
                    <a:pt x="850138" y="1171321"/>
                    <a:pt x="860425" y="1378839"/>
                    <a:pt x="871601" y="1743075"/>
                  </a:cubicBezTo>
                  <a:cubicBezTo>
                    <a:pt x="882777" y="1378966"/>
                    <a:pt x="893064" y="1171448"/>
                    <a:pt x="971804" y="1050925"/>
                  </a:cubicBezTo>
                  <a:cubicBezTo>
                    <a:pt x="1052830" y="1086866"/>
                    <a:pt x="1146556" y="1164082"/>
                    <a:pt x="1283081" y="1282954"/>
                  </a:cubicBezTo>
                  <a:cubicBezTo>
                    <a:pt x="1164209" y="1146429"/>
                    <a:pt x="1086866" y="1052576"/>
                    <a:pt x="1051052" y="971677"/>
                  </a:cubicBezTo>
                  <a:close/>
                </a:path>
              </a:pathLst>
            </a:custGeom>
            <a:solidFill>
              <a:srgbClr val="F1F2F2"/>
            </a:solidFill>
          </p:spPr>
        </p:sp>
        <p:sp>
          <p:nvSpPr>
            <p:cNvPr name="Freeform 4" id="4"/>
            <p:cNvSpPr/>
            <p:nvPr/>
          </p:nvSpPr>
          <p:spPr>
            <a:xfrm flipH="false" flipV="false" rot="0">
              <a:off x="63500" y="63500"/>
              <a:ext cx="1738757" cy="1738757"/>
            </a:xfrm>
            <a:custGeom>
              <a:avLst/>
              <a:gdLst/>
              <a:ahLst/>
              <a:cxnLst/>
              <a:rect r="r" b="b" t="t" l="l"/>
              <a:pathLst>
                <a:path h="1738757" w="1738757">
                  <a:moveTo>
                    <a:pt x="0" y="1738757"/>
                  </a:moveTo>
                  <a:lnTo>
                    <a:pt x="1738757" y="1738757"/>
                  </a:lnTo>
                  <a:lnTo>
                    <a:pt x="1738757" y="0"/>
                  </a:lnTo>
                  <a:lnTo>
                    <a:pt x="0" y="0"/>
                  </a:lnTo>
                  <a:close/>
                </a:path>
              </a:pathLst>
            </a:custGeom>
            <a:solidFill>
              <a:srgbClr val="000000">
                <a:alpha val="0"/>
              </a:srgbClr>
            </a:solidFill>
          </p:spPr>
        </p:sp>
      </p:grpSp>
      <p:sp>
        <p:nvSpPr>
          <p:cNvPr name="TextBox 5" id="5"/>
          <p:cNvSpPr txBox="true"/>
          <p:nvPr/>
        </p:nvSpPr>
        <p:spPr>
          <a:xfrm rot="0">
            <a:off x="1675143" y="3859340"/>
            <a:ext cx="10210876" cy="5766816"/>
          </a:xfrm>
          <a:prstGeom prst="rect">
            <a:avLst/>
          </a:prstGeom>
        </p:spPr>
        <p:txBody>
          <a:bodyPr anchor="t" rtlCol="false" tIns="0" lIns="0" bIns="0" rIns="0">
            <a:spAutoFit/>
          </a:bodyPr>
          <a:lstStyle/>
          <a:p>
            <a:pPr algn="r">
              <a:lnSpc>
                <a:spcPts val="22313"/>
              </a:lnSpc>
            </a:pPr>
            <a:r>
              <a:rPr lang="en-US" sz="18782" spc="1803">
                <a:solidFill>
                  <a:srgbClr val="FFFFFF"/>
                </a:solidFill>
                <a:latin typeface="Montserrat"/>
                <a:ea typeface="Montserrat"/>
                <a:cs typeface="Montserrat"/>
                <a:sym typeface="Montserra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DAG5mmwD7Xw</dc:identifier>
  <dcterms:modified xsi:type="dcterms:W3CDTF">2011-08-01T06:04:30Z</dcterms:modified>
  <cp:revision>1</cp:revision>
  <dc:title>Hostel Management Group-10.pdf</dc:title>
</cp:coreProperties>
</file>