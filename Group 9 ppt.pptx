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95" r:id="rId1"/>
  </p:sldMasterIdLst>
  <p:sldIdLst>
    <p:sldId id="256" r:id="rId2"/>
    <p:sldId id="270" r:id="rId3"/>
    <p:sldId id="257" r:id="rId4"/>
    <p:sldId id="258" r:id="rId5"/>
    <p:sldId id="259" r:id="rId6"/>
    <p:sldId id="268" r:id="rId7"/>
    <p:sldId id="260" r:id="rId8"/>
    <p:sldId id="262" r:id="rId9"/>
    <p:sldId id="263" r:id="rId10"/>
    <p:sldId id="264" r:id="rId11"/>
    <p:sldId id="265" r:id="rId12"/>
    <p:sldId id="266" r:id="rId13"/>
    <p:sldId id="267" r:id="rId14"/>
  </p:sldIdLst>
  <p:sldSz cx="18288000" cy="10287000"/>
  <p:notesSz cx="6858000" cy="9144000"/>
  <p:embeddedFontLst>
    <p:embeddedFont>
      <p:font typeface="Algerian" panose="04020705040A02060702" pitchFamily="82" charset="0"/>
      <p:regular r:id="rId15"/>
    </p:embeddedFont>
    <p:embeddedFont>
      <p:font typeface="Arial Black" panose="020B0A04020102020204" pitchFamily="34" charset="0"/>
      <p:bold r:id="rId16"/>
    </p:embeddedFont>
    <p:embeddedFont>
      <p:font typeface="Arimo" panose="020B0604020202020204" charset="0"/>
      <p:regular r:id="rId17"/>
    </p:embeddedFont>
    <p:embeddedFont>
      <p:font typeface="Arimo Bold" panose="020B0604020202020204" charset="0"/>
      <p:regular r:id="rId18"/>
    </p:embeddedFont>
    <p:embeddedFont>
      <p:font typeface="Corbel" panose="020B0503020204020204" pitchFamily="34" charset="0"/>
      <p:regular r:id="rId19"/>
      <p:bold r:id="rId20"/>
      <p:italic r:id="rId21"/>
      <p:boldItalic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843E5F-BB77-430D-A8CB-E0AE85FFD4DB}" v="1060" dt="2025-11-11T14:14:44.7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819150" y="-7144"/>
            <a:ext cx="7522368" cy="10294145"/>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4392602" y="2070103"/>
            <a:ext cx="12861933" cy="3924299"/>
          </a:xfrm>
        </p:spPr>
        <p:txBody>
          <a:bodyPr anchor="b">
            <a:normAutofit/>
          </a:bodyPr>
          <a:lstStyle>
            <a:lvl1pPr algn="r">
              <a:defRPr sz="9000">
                <a:effectLst/>
              </a:defRPr>
            </a:lvl1pPr>
          </a:lstStyle>
          <a:p>
            <a:r>
              <a:rPr lang="en-US"/>
              <a:t>Click to edit Master title style</a:t>
            </a:r>
            <a:endParaRPr lang="en-US" dirty="0"/>
          </a:p>
        </p:txBody>
      </p:sp>
      <p:sp>
        <p:nvSpPr>
          <p:cNvPr id="3" name="Subtitle 2"/>
          <p:cNvSpPr>
            <a:spLocks noGrp="1"/>
          </p:cNvSpPr>
          <p:nvPr>
            <p:ph type="subTitle" idx="1"/>
          </p:nvPr>
        </p:nvSpPr>
        <p:spPr>
          <a:xfrm>
            <a:off x="6773066" y="5994401"/>
            <a:ext cx="10481468" cy="2082801"/>
          </a:xfrm>
        </p:spPr>
        <p:txBody>
          <a:bodyPr anchor="t">
            <a:normAutofit/>
          </a:bodyPr>
          <a:lstStyle>
            <a:lvl1pPr marL="0" indent="0" algn="r">
              <a:buNone/>
              <a:defRPr sz="3150">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a:xfrm>
            <a:off x="7998618" y="8824913"/>
            <a:ext cx="6486066" cy="547688"/>
          </a:xfrm>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63826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27785" y="8800697"/>
            <a:ext cx="8267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78923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8419" y="4000498"/>
            <a:ext cx="13396121" cy="3165573"/>
          </a:xfrm>
        </p:spPr>
        <p:txBody>
          <a:bodyPr anchor="b"/>
          <a:lstStyle>
            <a:lvl1pPr algn="r">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3858417" y="7166072"/>
            <a:ext cx="13396122"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03894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26467" y="1028701"/>
            <a:ext cx="15028070" cy="26288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226469" y="4000499"/>
            <a:ext cx="7342583" cy="4686302"/>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911951" y="4000500"/>
            <a:ext cx="7342584" cy="4686300"/>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02851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2658269" y="3987800"/>
            <a:ext cx="6910782"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226467" y="5003006"/>
            <a:ext cx="7342584" cy="3683793"/>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320731" y="4000500"/>
            <a:ext cx="6933806"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911951" y="5003006"/>
            <a:ext cx="7342584" cy="3683793"/>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0468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170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77767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2400300"/>
            <a:ext cx="5323682" cy="2057400"/>
          </a:xfrm>
        </p:spPr>
        <p:txBody>
          <a:bodyPr anchor="b">
            <a:normAutofit/>
          </a:bodyPr>
          <a:lstStyle>
            <a:lvl1pPr algn="ctr">
              <a:defRPr sz="3600" b="0"/>
            </a:lvl1pPr>
          </a:lstStyle>
          <a:p>
            <a:r>
              <a:rPr lang="en-US"/>
              <a:t>Click to edit Master title style</a:t>
            </a:r>
            <a:endParaRPr lang="en-US" dirty="0"/>
          </a:p>
        </p:txBody>
      </p:sp>
      <p:sp>
        <p:nvSpPr>
          <p:cNvPr id="3" name="Content Placeholder 2"/>
          <p:cNvSpPr>
            <a:spLocks noGrp="1"/>
          </p:cNvSpPr>
          <p:nvPr>
            <p:ph idx="1"/>
          </p:nvPr>
        </p:nvSpPr>
        <p:spPr>
          <a:xfrm>
            <a:off x="7893050" y="1028699"/>
            <a:ext cx="9361485" cy="7658102"/>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26469" y="4457700"/>
            <a:ext cx="5323682" cy="2743200"/>
          </a:xfrm>
        </p:spPr>
        <p:txBody>
          <a:bodyPr>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38388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4086" y="2628899"/>
            <a:ext cx="8139237" cy="2057400"/>
          </a:xfrm>
        </p:spPr>
        <p:txBody>
          <a:bodyPr anchor="b">
            <a:normAutofit/>
          </a:bodyPr>
          <a:lstStyle>
            <a:lvl1pPr algn="ctr">
              <a:defRPr sz="42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11392023" y="1371600"/>
            <a:ext cx="4921461" cy="6858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2224086" y="4686299"/>
            <a:ext cx="8139237" cy="2743200"/>
          </a:xfrm>
        </p:spPr>
        <p:txBody>
          <a:bodyPr>
            <a:normAutofit/>
          </a:bodyPr>
          <a:lstStyle>
            <a:lvl1pPr marL="0" indent="0" algn="ctr">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26261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7" y="7099298"/>
            <a:ext cx="15028067" cy="850107"/>
          </a:xfrm>
        </p:spPr>
        <p:txBody>
          <a:bodyPr anchor="b">
            <a:normAutofit/>
          </a:bodyPr>
          <a:lstStyle>
            <a:lvl1pPr algn="ctr">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9018" y="1398168"/>
            <a:ext cx="12338916" cy="4747464"/>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2226467" y="7949405"/>
            <a:ext cx="15028067" cy="740568"/>
          </a:xfrm>
        </p:spPr>
        <p:txBody>
          <a:bodyPr>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7380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1028700"/>
            <a:ext cx="15028067" cy="4572000"/>
          </a:xfrm>
        </p:spPr>
        <p:txBody>
          <a:bodyPr anchor="ctr">
            <a:normAutofit/>
          </a:bodyPr>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9" y="6515100"/>
            <a:ext cx="15028070"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167478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655217" y="5143499"/>
            <a:ext cx="12799223" cy="571500"/>
          </a:xfrm>
        </p:spPr>
        <p:txBody>
          <a:bodyPr anchor="ctr">
            <a:normAutofit/>
          </a:bodyPr>
          <a:lstStyle>
            <a:lvl1pPr marL="0" indent="0">
              <a:buFontTx/>
              <a:buNone/>
              <a:defRPr sz="2700"/>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2226467" y="6515100"/>
            <a:ext cx="15028067"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53835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226470" y="4962872"/>
            <a:ext cx="15028064" cy="2203200"/>
          </a:xfrm>
        </p:spPr>
        <p:txBody>
          <a:bodyPr anchor="b">
            <a:normAutofit/>
          </a:bodyPr>
          <a:lstStyle>
            <a:lvl1pPr algn="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8" y="7166072"/>
            <a:ext cx="15028065"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25047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226470" y="5829300"/>
            <a:ext cx="15028065" cy="1333500"/>
          </a:xfrm>
        </p:spPr>
        <p:txBody>
          <a:bodyPr vert="horz" lIns="91440" tIns="45720" rIns="91440" bIns="45720" rtlCol="0" anchor="b">
            <a:normAutofit/>
          </a:bodyPr>
          <a:lstStyle>
            <a:lvl1pPr algn="r">
              <a:buNone/>
              <a:defRPr lang="en-US" sz="36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8" y="7162800"/>
            <a:ext cx="15028065" cy="1524000"/>
          </a:xfrm>
        </p:spPr>
        <p:txBody>
          <a:bodyPr anchor="t">
            <a:normAutofit/>
          </a:bodyPr>
          <a:lstStyle>
            <a:lvl1pPr marL="0" indent="0" algn="r">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57075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226470" y="1028701"/>
            <a:ext cx="15028068" cy="409098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2226469" y="5257800"/>
            <a:ext cx="15028070" cy="1257300"/>
          </a:xfrm>
        </p:spPr>
        <p:txBody>
          <a:bodyPr vert="horz" lIns="91440" tIns="45720" rIns="91440" bIns="45720" rtlCol="0" anchor="b">
            <a:normAutofit/>
          </a:bodyPr>
          <a:lstStyle>
            <a:lvl1pPr>
              <a:buNone/>
              <a:defRPr lang="en-US" sz="42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7" y="6515100"/>
            <a:ext cx="15028070" cy="2171700"/>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7738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948011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98983" y="1028700"/>
            <a:ext cx="2655554" cy="76581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26468" y="1028700"/>
            <a:ext cx="12029613" cy="76581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88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226219" y="1"/>
            <a:ext cx="3655220" cy="10287002"/>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2226467" y="1028701"/>
            <a:ext cx="15028070" cy="26288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6466" y="4000499"/>
            <a:ext cx="15028070" cy="468630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598984" y="8824913"/>
            <a:ext cx="1714500"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1D8BD707-D9CF-40AE-B4C6-C98DA3205C09}" type="datetimeFigureOut">
              <a:rPr lang="en-US" smtClean="0"/>
              <a:pPr/>
              <a:t>11/21/2025</a:t>
            </a:fld>
            <a:endParaRPr lang="en-US"/>
          </a:p>
        </p:txBody>
      </p:sp>
      <p:sp>
        <p:nvSpPr>
          <p:cNvPr id="5" name="Footer Placeholder 4"/>
          <p:cNvSpPr>
            <a:spLocks noGrp="1"/>
          </p:cNvSpPr>
          <p:nvPr>
            <p:ph type="ftr" sz="quarter" idx="3"/>
          </p:nvPr>
        </p:nvSpPr>
        <p:spPr>
          <a:xfrm>
            <a:off x="3858419" y="8824913"/>
            <a:ext cx="10626266" cy="547688"/>
          </a:xfrm>
          <a:prstGeom prst="rect">
            <a:avLst/>
          </a:prstGeom>
        </p:spPr>
        <p:txBody>
          <a:bodyPr vert="horz" lIns="91440" tIns="45720" rIns="91440" bIns="45720" rtlCol="0" anchor="ctr"/>
          <a:lstStyle>
            <a:lvl1pPr algn="l">
              <a:defRPr sz="15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6427785" y="8824913"/>
            <a:ext cx="826751"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471951996"/>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0" r:id="rId15"/>
    <p:sldLayoutId id="2147483811" r:id="rId16"/>
    <p:sldLayoutId id="2147483812" r:id="rId17"/>
  </p:sldLayoutIdLst>
  <p:txStyles>
    <p:titleStyle>
      <a:lvl1pPr algn="ctr" defTabSz="685800" rtl="0" eaLnBrk="1" latinLnBrk="0" hangingPunct="1">
        <a:spcBef>
          <a:spcPct val="0"/>
        </a:spcBef>
        <a:buNone/>
        <a:defRPr sz="6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accent1">
            <a:lumMod val="75000"/>
          </a:schemeClr>
        </a:buClr>
        <a:buSzPct val="145000"/>
        <a:buFont typeface="Arial"/>
        <a:buChar char="•"/>
        <a:defRPr sz="3600" kern="1200" cap="none">
          <a:solidFill>
            <a:schemeClr val="tx1"/>
          </a:solidFill>
          <a:effectLst/>
          <a:latin typeface="+mn-lt"/>
          <a:ea typeface="+mn-ea"/>
          <a:cs typeface="+mn-cs"/>
        </a:defRPr>
      </a:lvl1pPr>
      <a:lvl2pPr marL="1114425" indent="-428625" algn="l" defTabSz="685800" rtl="0" eaLnBrk="1" latinLnBrk="0" hangingPunct="1">
        <a:spcBef>
          <a:spcPct val="20000"/>
        </a:spcBef>
        <a:spcAft>
          <a:spcPts val="900"/>
        </a:spcAft>
        <a:buClr>
          <a:schemeClr val="accent1">
            <a:lumMod val="75000"/>
          </a:schemeClr>
        </a:buClr>
        <a:buSzPct val="145000"/>
        <a:buFont typeface="Arial"/>
        <a:buChar char="•"/>
        <a:defRPr sz="3000" kern="1200" cap="none">
          <a:solidFill>
            <a:schemeClr val="tx1"/>
          </a:solidFill>
          <a:effectLst/>
          <a:latin typeface="+mn-lt"/>
          <a:ea typeface="+mn-ea"/>
          <a:cs typeface="+mn-cs"/>
        </a:defRPr>
      </a:lvl2pPr>
      <a:lvl3pPr marL="1800225" indent="-428625" algn="l" defTabSz="685800" rtl="0" eaLnBrk="1" latinLnBrk="0" hangingPunct="1">
        <a:spcBef>
          <a:spcPct val="20000"/>
        </a:spcBef>
        <a:spcAft>
          <a:spcPts val="900"/>
        </a:spcAft>
        <a:buClr>
          <a:schemeClr val="accent1">
            <a:lumMod val="75000"/>
          </a:schemeClr>
        </a:buClr>
        <a:buSzPct val="145000"/>
        <a:buFont typeface="Arial"/>
        <a:buChar char="•"/>
        <a:defRPr sz="2700" kern="1200" cap="none">
          <a:solidFill>
            <a:schemeClr val="tx1"/>
          </a:solidFill>
          <a:effectLst/>
          <a:latin typeface="+mn-lt"/>
          <a:ea typeface="+mn-ea"/>
          <a:cs typeface="+mn-cs"/>
        </a:defRPr>
      </a:lvl3pPr>
      <a:lvl4pPr marL="2314575" indent="-257175" algn="l" defTabSz="685800" rtl="0" eaLnBrk="1" latinLnBrk="0" hangingPunct="1">
        <a:spcBef>
          <a:spcPct val="20000"/>
        </a:spcBef>
        <a:spcAft>
          <a:spcPts val="900"/>
        </a:spcAft>
        <a:buClr>
          <a:schemeClr val="accent1">
            <a:lumMod val="75000"/>
          </a:schemeClr>
        </a:buClr>
        <a:buSzPct val="145000"/>
        <a:buFont typeface="Arial"/>
        <a:buChar char="•"/>
        <a:defRPr sz="2400" kern="1200" cap="none">
          <a:solidFill>
            <a:schemeClr val="tx1"/>
          </a:solidFill>
          <a:effectLst/>
          <a:latin typeface="+mn-lt"/>
          <a:ea typeface="+mn-ea"/>
          <a:cs typeface="+mn-cs"/>
        </a:defRPr>
      </a:lvl4pPr>
      <a:lvl5pPr marL="3000375" indent="-257175"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5pPr>
      <a:lvl6pPr marL="37719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6pPr>
      <a:lvl7pPr marL="44577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7pPr>
      <a:lvl8pPr marL="51435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8pPr>
      <a:lvl9pPr marL="58293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3492502" y="1264867"/>
            <a:ext cx="13925388" cy="987450"/>
          </a:xfrm>
          <a:prstGeom prst="rect">
            <a:avLst/>
          </a:prstGeom>
        </p:spPr>
        <p:txBody>
          <a:bodyPr wrap="square" lIns="0" tIns="0" rIns="0" bIns="0" rtlCol="0" anchor="t">
            <a:spAutoFit/>
          </a:bodyPr>
          <a:lstStyle/>
          <a:p>
            <a:pPr algn="l">
              <a:lnSpc>
                <a:spcPts val="7725"/>
              </a:lnSpc>
            </a:pPr>
            <a:r>
              <a:rPr lang="en-US" sz="7200" b="1" dirty="0">
                <a:solidFill>
                  <a:srgbClr val="000000"/>
                </a:solidFill>
                <a:effectLst>
                  <a:glow rad="520700">
                    <a:schemeClr val="bg2">
                      <a:alpha val="14000"/>
                    </a:schemeClr>
                  </a:glow>
                </a:effectLst>
                <a:latin typeface="Arimo Bold"/>
                <a:ea typeface="Arimo Bold"/>
                <a:cs typeface="Arimo Bold"/>
                <a:sym typeface="Arimo Bold"/>
              </a:rPr>
              <a:t>Placement Management System</a:t>
            </a:r>
          </a:p>
        </p:txBody>
      </p:sp>
      <p:sp>
        <p:nvSpPr>
          <p:cNvPr id="7" name="TextBox 7"/>
          <p:cNvSpPr txBox="1"/>
          <p:nvPr/>
        </p:nvSpPr>
        <p:spPr>
          <a:xfrm>
            <a:off x="3850488" y="3038034"/>
            <a:ext cx="7255050" cy="784510"/>
          </a:xfrm>
          <a:prstGeom prst="rect">
            <a:avLst/>
          </a:prstGeom>
        </p:spPr>
        <p:txBody>
          <a:bodyPr lIns="0" tIns="0" rIns="0" bIns="0" rtlCol="0" anchor="t">
            <a:spAutoFit/>
          </a:bodyPr>
          <a:lstStyle/>
          <a:p>
            <a:pPr algn="l">
              <a:lnSpc>
                <a:spcPts val="6719"/>
              </a:lnSpc>
            </a:pPr>
            <a:r>
              <a:rPr lang="en-US" sz="4800" b="1" dirty="0">
                <a:solidFill>
                  <a:srgbClr val="C7591A"/>
                </a:solidFill>
                <a:latin typeface="Arimo Bold"/>
                <a:ea typeface="Arimo Bold"/>
                <a:cs typeface="Arimo Bold"/>
                <a:sym typeface="Arimo Bold"/>
              </a:rPr>
              <a:t>Web Technology Project</a:t>
            </a:r>
          </a:p>
        </p:txBody>
      </p:sp>
      <p:sp>
        <p:nvSpPr>
          <p:cNvPr id="8" name="TextBox 8"/>
          <p:cNvSpPr txBox="1"/>
          <p:nvPr/>
        </p:nvSpPr>
        <p:spPr>
          <a:xfrm>
            <a:off x="14630400" y="9335402"/>
            <a:ext cx="9161273" cy="923330"/>
          </a:xfrm>
          <a:prstGeom prst="rect">
            <a:avLst/>
          </a:prstGeom>
        </p:spPr>
        <p:txBody>
          <a:bodyPr wrap="square" lIns="0" tIns="0" rIns="0" bIns="0" rtlCol="0" anchor="t">
            <a:spAutoFit/>
          </a:bodyPr>
          <a:lstStyle/>
          <a:p>
            <a:pPr algn="l">
              <a:lnSpc>
                <a:spcPts val="3600"/>
              </a:lnSpc>
            </a:pPr>
            <a:r>
              <a:rPr lang="en-US" sz="3000" b="1" dirty="0">
                <a:solidFill>
                  <a:srgbClr val="000000"/>
                </a:solidFill>
                <a:latin typeface="Arimo Bold"/>
                <a:ea typeface="Arimo Bold"/>
                <a:cs typeface="Arimo Bold"/>
                <a:sym typeface="Arimo Bold"/>
              </a:rPr>
              <a:t>Section: 3IST02</a:t>
            </a:r>
          </a:p>
          <a:p>
            <a:pPr algn="l">
              <a:lnSpc>
                <a:spcPts val="3600"/>
              </a:lnSpc>
            </a:pPr>
            <a:r>
              <a:rPr lang="en-US" sz="3000" b="1" dirty="0">
                <a:solidFill>
                  <a:srgbClr val="000000"/>
                </a:solidFill>
                <a:latin typeface="Arimo Bold"/>
                <a:ea typeface="Arimo Bold"/>
                <a:cs typeface="Arimo Bold"/>
                <a:sym typeface="Arimo Bold"/>
              </a:rPr>
              <a:t>Web Technology</a:t>
            </a:r>
            <a:endParaRPr lang="en-US" sz="3000" dirty="0">
              <a:solidFill>
                <a:srgbClr val="000000"/>
              </a:solidFill>
              <a:latin typeface="Arimo"/>
              <a:ea typeface="Arimo"/>
              <a:cs typeface="Arimo"/>
              <a:sym typeface="Arimo"/>
            </a:endParaRPr>
          </a:p>
        </p:txBody>
      </p:sp>
      <p:sp>
        <p:nvSpPr>
          <p:cNvPr id="9" name="TextBox 9"/>
          <p:cNvSpPr txBox="1"/>
          <p:nvPr/>
        </p:nvSpPr>
        <p:spPr>
          <a:xfrm>
            <a:off x="2133600" y="5057792"/>
            <a:ext cx="4199487" cy="3307252"/>
          </a:xfrm>
          <a:prstGeom prst="rect">
            <a:avLst/>
          </a:prstGeom>
        </p:spPr>
        <p:txBody>
          <a:bodyPr lIns="0" tIns="0" rIns="0" bIns="0" rtlCol="0" anchor="t">
            <a:spAutoFit/>
          </a:bodyPr>
          <a:lstStyle/>
          <a:p>
            <a:pPr algn="l">
              <a:lnSpc>
                <a:spcPts val="5321"/>
              </a:lnSpc>
            </a:pPr>
            <a:r>
              <a:rPr lang="en-US" sz="2700" dirty="0">
                <a:solidFill>
                  <a:srgbClr val="000000"/>
                </a:solidFill>
                <a:latin typeface="Arimo"/>
                <a:ea typeface="Arimo"/>
                <a:cs typeface="Arimo"/>
                <a:sym typeface="Arimo"/>
              </a:rPr>
              <a:t>Koushik .M</a:t>
            </a:r>
          </a:p>
          <a:p>
            <a:pPr algn="l">
              <a:lnSpc>
                <a:spcPts val="5321"/>
              </a:lnSpc>
            </a:pPr>
            <a:r>
              <a:rPr lang="en-US" sz="2700" dirty="0">
                <a:solidFill>
                  <a:srgbClr val="000000"/>
                </a:solidFill>
                <a:latin typeface="Arimo"/>
                <a:ea typeface="Arimo"/>
                <a:cs typeface="Arimo"/>
                <a:sym typeface="Arimo"/>
              </a:rPr>
              <a:t>Puneeth Reddy </a:t>
            </a:r>
          </a:p>
          <a:p>
            <a:pPr algn="l">
              <a:lnSpc>
                <a:spcPts val="5321"/>
              </a:lnSpc>
            </a:pPr>
            <a:r>
              <a:rPr lang="en-US" sz="2700" dirty="0">
                <a:solidFill>
                  <a:srgbClr val="000000"/>
                </a:solidFill>
                <a:latin typeface="Arimo"/>
                <a:ea typeface="Arimo"/>
                <a:cs typeface="Arimo"/>
                <a:sym typeface="Arimo"/>
              </a:rPr>
              <a:t>Daanish Shariff</a:t>
            </a:r>
          </a:p>
          <a:p>
            <a:pPr algn="l">
              <a:lnSpc>
                <a:spcPts val="5323"/>
              </a:lnSpc>
            </a:pPr>
            <a:r>
              <a:rPr lang="en-US" sz="2700" dirty="0">
                <a:solidFill>
                  <a:srgbClr val="000000"/>
                </a:solidFill>
                <a:latin typeface="Arimo"/>
                <a:ea typeface="Arimo"/>
                <a:cs typeface="Arimo"/>
                <a:sym typeface="Arimo"/>
              </a:rPr>
              <a:t>Vyshnavi</a:t>
            </a:r>
          </a:p>
          <a:p>
            <a:pPr algn="l">
              <a:lnSpc>
                <a:spcPts val="5323"/>
              </a:lnSpc>
            </a:pPr>
            <a:r>
              <a:rPr lang="en-US" sz="2700" dirty="0">
                <a:solidFill>
                  <a:srgbClr val="000000"/>
                </a:solidFill>
                <a:latin typeface="Arimo"/>
                <a:ea typeface="Arimo"/>
                <a:cs typeface="Arimo"/>
                <a:sym typeface="Arimo"/>
              </a:rPr>
              <a:t>Anil </a:t>
            </a:r>
            <a:r>
              <a:rPr lang="en-US" sz="2700" dirty="0" err="1">
                <a:solidFill>
                  <a:srgbClr val="000000"/>
                </a:solidFill>
                <a:latin typeface="Arimo"/>
                <a:ea typeface="Arimo"/>
                <a:cs typeface="Arimo"/>
                <a:sym typeface="Arimo"/>
              </a:rPr>
              <a:t>Mallapa</a:t>
            </a:r>
            <a:endParaRPr lang="en-US" sz="2700" dirty="0">
              <a:solidFill>
                <a:srgbClr val="000000"/>
              </a:solidFill>
              <a:latin typeface="Arimo"/>
              <a:ea typeface="Arimo"/>
              <a:cs typeface="Arimo"/>
              <a:sym typeface="Arimo"/>
            </a:endParaRPr>
          </a:p>
        </p:txBody>
      </p:sp>
      <p:sp>
        <p:nvSpPr>
          <p:cNvPr id="11" name="TextBox 11"/>
          <p:cNvSpPr txBox="1"/>
          <p:nvPr/>
        </p:nvSpPr>
        <p:spPr>
          <a:xfrm>
            <a:off x="5410200" y="5041815"/>
            <a:ext cx="3276600" cy="3307252"/>
          </a:xfrm>
          <a:prstGeom prst="rect">
            <a:avLst/>
          </a:prstGeom>
        </p:spPr>
        <p:txBody>
          <a:bodyPr wrap="square" lIns="0" tIns="0" rIns="0" bIns="0" rtlCol="0" anchor="t">
            <a:spAutoFit/>
          </a:bodyPr>
          <a:lstStyle/>
          <a:p>
            <a:pPr algn="just">
              <a:lnSpc>
                <a:spcPts val="5323"/>
              </a:lnSpc>
            </a:pPr>
            <a:r>
              <a:rPr lang="en-US" sz="2700" dirty="0">
                <a:solidFill>
                  <a:srgbClr val="000000"/>
                </a:solidFill>
                <a:latin typeface="Arimo"/>
                <a:ea typeface="Arimo"/>
                <a:cs typeface="Arimo"/>
                <a:sym typeface="Arimo"/>
              </a:rPr>
              <a:t>20241IST0106       20241IST0107          20241IST0108     </a:t>
            </a:r>
          </a:p>
          <a:p>
            <a:pPr algn="just">
              <a:lnSpc>
                <a:spcPts val="5323"/>
              </a:lnSpc>
            </a:pPr>
            <a:r>
              <a:rPr lang="en-US" sz="2700" dirty="0">
                <a:solidFill>
                  <a:srgbClr val="000000"/>
                </a:solidFill>
                <a:latin typeface="Arimo"/>
                <a:ea typeface="Arimo"/>
                <a:cs typeface="Arimo"/>
                <a:sym typeface="Arimo"/>
              </a:rPr>
              <a:t>20241IST0110    20241IST0111</a:t>
            </a: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75355-01A6-2221-D529-3BD6E5F146D2}"/>
              </a:ext>
            </a:extLst>
          </p:cNvPr>
          <p:cNvSpPr>
            <a:spLocks noGrp="1"/>
          </p:cNvSpPr>
          <p:nvPr>
            <p:ph type="title"/>
          </p:nvPr>
        </p:nvSpPr>
        <p:spPr>
          <a:xfrm>
            <a:off x="2226467" y="419101"/>
            <a:ext cx="5241133" cy="1181098"/>
          </a:xfrm>
        </p:spPr>
        <p:txBody>
          <a:bodyPr>
            <a:normAutofit fontScale="90000"/>
          </a:bodyPr>
          <a:lstStyle/>
          <a:p>
            <a:r>
              <a:rPr lang="en-IN" b="1" dirty="0">
                <a:latin typeface="Algerian" panose="04020705040A02060702" pitchFamily="82" charset="0"/>
              </a:rPr>
              <a:t>INTRODUCTION</a:t>
            </a:r>
          </a:p>
        </p:txBody>
      </p:sp>
      <p:sp>
        <p:nvSpPr>
          <p:cNvPr id="3" name="Content Placeholder 2">
            <a:extLst>
              <a:ext uri="{FF2B5EF4-FFF2-40B4-BE49-F238E27FC236}">
                <a16:creationId xmlns:a16="http://schemas.microsoft.com/office/drawing/2014/main" id="{07FB1D27-52CB-F453-D3B8-12B788E0BB1C}"/>
              </a:ext>
            </a:extLst>
          </p:cNvPr>
          <p:cNvSpPr>
            <a:spLocks noGrp="1"/>
          </p:cNvSpPr>
          <p:nvPr>
            <p:ph idx="1"/>
          </p:nvPr>
        </p:nvSpPr>
        <p:spPr>
          <a:xfrm>
            <a:off x="2087165" y="10059649"/>
            <a:ext cx="15028070" cy="1485902"/>
          </a:xfrm>
        </p:spPr>
        <p:txBody>
          <a:bodyPr/>
          <a:lstStyle/>
          <a:p>
            <a:endParaRPr lang="en-IN" dirty="0"/>
          </a:p>
        </p:txBody>
      </p:sp>
      <p:sp>
        <p:nvSpPr>
          <p:cNvPr id="10" name="Rectangle 7">
            <a:extLst>
              <a:ext uri="{FF2B5EF4-FFF2-40B4-BE49-F238E27FC236}">
                <a16:creationId xmlns:a16="http://schemas.microsoft.com/office/drawing/2014/main" id="{6D5212A3-5A3B-5B8E-7E98-551F9062C4DA}"/>
              </a:ext>
            </a:extLst>
          </p:cNvPr>
          <p:cNvSpPr>
            <a:spLocks noChangeArrowheads="1"/>
          </p:cNvSpPr>
          <p:nvPr/>
        </p:nvSpPr>
        <p:spPr bwMode="auto">
          <a:xfrm>
            <a:off x="457200" y="5112483"/>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2" name="Rectangle 9">
            <a:extLst>
              <a:ext uri="{FF2B5EF4-FFF2-40B4-BE49-F238E27FC236}">
                <a16:creationId xmlns:a16="http://schemas.microsoft.com/office/drawing/2014/main" id="{9EAE1C55-3414-4775-4BF2-1A08F90ACA12}"/>
              </a:ext>
            </a:extLst>
          </p:cNvPr>
          <p:cNvSpPr>
            <a:spLocks noChangeArrowheads="1"/>
          </p:cNvSpPr>
          <p:nvPr/>
        </p:nvSpPr>
        <p:spPr bwMode="auto">
          <a:xfrm>
            <a:off x="2289553" y="1866900"/>
            <a:ext cx="14623294"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i="0" u="none" strike="noStrike" cap="none" normalizeH="0" baseline="0" dirty="0">
                <a:ln>
                  <a:noFill/>
                </a:ln>
                <a:solidFill>
                  <a:schemeClr val="tx1"/>
                </a:solidFill>
                <a:effectLst/>
                <a:latin typeface="Arial" panose="020B0604020202020204" pitchFamily="34" charset="0"/>
              </a:rPr>
              <a:t>Placement management is an important process in educational institutions that helps students move from academic life to professional careers. It involves planning, organizing, and guiding students to secure suitable job opportunities. The placement department acts as a bridging students and companies by understanding industry needs and preparing students accordingly.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i="0" u="none" strike="noStrike" cap="none" normalizeH="0" baseline="0" dirty="0">
                <a:ln>
                  <a:noFill/>
                </a:ln>
                <a:solidFill>
                  <a:schemeClr val="tx1"/>
                </a:solidFill>
                <a:effectLst/>
                <a:latin typeface="Arial" panose="020B0604020202020204" pitchFamily="34" charset="0"/>
              </a:rPr>
              <a:t>This process includes activities like skill development, resume preparation, communication training, mock interviews, and career counseling. Placement management also arranges campus recruitment drives where companies visit the institution to select qualified candidates. By coordinating with various organizations, the placement team ensures students receive exposure to real-world job requirements and gain confidence.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i="0" u="none" strike="noStrike" cap="none" normalizeH="0" baseline="0" dirty="0">
                <a:ln>
                  <a:noFill/>
                </a:ln>
                <a:solidFill>
                  <a:schemeClr val="tx1"/>
                </a:solidFill>
                <a:effectLst/>
                <a:latin typeface="Arial" panose="020B0604020202020204" pitchFamily="34" charset="0"/>
              </a:rPr>
              <a:t>Overall, placement management plays a crucial role in shaping students’ futures by helping them build their careers, improving their employability, and connecting them with the right professional opportunities.</a:t>
            </a:r>
          </a:p>
        </p:txBody>
      </p:sp>
    </p:spTree>
    <p:extLst>
      <p:ext uri="{BB962C8B-B14F-4D97-AF65-F5344CB8AC3E}">
        <p14:creationId xmlns:p14="http://schemas.microsoft.com/office/powerpoint/2010/main" val="508828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522717" y="1742442"/>
            <a:ext cx="4535176" cy="66674"/>
          </a:xfrm>
          <a:custGeom>
            <a:avLst/>
            <a:gdLst/>
            <a:ahLst/>
            <a:cxnLst/>
            <a:rect l="l" t="t" r="r" b="b"/>
            <a:pathLst>
              <a:path w="4535176" h="66674">
                <a:moveTo>
                  <a:pt x="0" y="0"/>
                </a:moveTo>
                <a:lnTo>
                  <a:pt x="4535176" y="0"/>
                </a:lnTo>
                <a:lnTo>
                  <a:pt x="4535176" y="66674"/>
                </a:lnTo>
                <a:lnTo>
                  <a:pt x="0" y="666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2133600" y="825716"/>
            <a:ext cx="3886200" cy="916726"/>
          </a:xfrm>
          <a:prstGeom prst="rect">
            <a:avLst/>
          </a:prstGeom>
        </p:spPr>
        <p:txBody>
          <a:bodyPr wrap="square" lIns="0" tIns="0" rIns="0" bIns="0" rtlCol="0" anchor="t">
            <a:spAutoFit/>
          </a:bodyPr>
          <a:lstStyle/>
          <a:p>
            <a:pPr algn="l">
              <a:lnSpc>
                <a:spcPts val="7559"/>
              </a:lnSpc>
            </a:pPr>
            <a:r>
              <a:rPr lang="en-US" sz="5000" b="1" dirty="0">
                <a:latin typeface="Algerian" panose="04020705040A02060702" pitchFamily="82" charset="0"/>
                <a:ea typeface="Arimo Bold"/>
                <a:cs typeface="Arimo Bold"/>
                <a:sym typeface="Arimo Bold"/>
              </a:rPr>
              <a:t>OBJECTIVES</a:t>
            </a:r>
            <a:r>
              <a:rPr lang="en-US" sz="5400" b="1" dirty="0">
                <a:solidFill>
                  <a:srgbClr val="E78045"/>
                </a:solidFill>
                <a:latin typeface="Arimo Bold"/>
                <a:ea typeface="Arimo Bold"/>
                <a:cs typeface="Arimo Bold"/>
                <a:sym typeface="Arimo Bold"/>
              </a:rPr>
              <a:t> </a:t>
            </a:r>
          </a:p>
        </p:txBody>
      </p:sp>
      <p:sp>
        <p:nvSpPr>
          <p:cNvPr id="6" name="TextBox 6"/>
          <p:cNvSpPr txBox="1"/>
          <p:nvPr/>
        </p:nvSpPr>
        <p:spPr>
          <a:xfrm>
            <a:off x="1981200" y="2781300"/>
            <a:ext cx="16202492" cy="5355633"/>
          </a:xfrm>
          <a:prstGeom prst="rect">
            <a:avLst/>
          </a:prstGeom>
        </p:spPr>
        <p:txBody>
          <a:bodyPr lIns="0" tIns="0" rIns="0" bIns="0" rtlCol="0" anchor="t">
            <a:spAutoFit/>
          </a:bodyPr>
          <a:lstStyle/>
          <a:p>
            <a:pPr marL="457200" indent="-457200" algn="l">
              <a:lnSpc>
                <a:spcPts val="3450"/>
              </a:lnSpc>
              <a:buFont typeface="Wingdings" panose="05000000000000000000" pitchFamily="2" charset="2"/>
              <a:buChar char="v"/>
            </a:pPr>
            <a:r>
              <a:rPr lang="en-US" sz="2800" dirty="0">
                <a:solidFill>
                  <a:srgbClr val="000000"/>
                </a:solidFill>
                <a:latin typeface="Arial" panose="020B0604020202020204" pitchFamily="34" charset="0"/>
                <a:ea typeface="Arimo"/>
                <a:cs typeface="Arial" panose="020B0604020202020204" pitchFamily="34" charset="0"/>
                <a:sym typeface="Arimo"/>
              </a:rPr>
              <a:t>  To develop a web-based system that helps colleges manage and automate student placement      </a:t>
            </a:r>
          </a:p>
          <a:p>
            <a:pPr algn="l">
              <a:lnSpc>
                <a:spcPts val="3450"/>
              </a:lnSpc>
            </a:pPr>
            <a:r>
              <a:rPr lang="en-US" sz="2800" dirty="0">
                <a:solidFill>
                  <a:srgbClr val="000000"/>
                </a:solidFill>
                <a:latin typeface="Arial" panose="020B0604020202020204" pitchFamily="34" charset="0"/>
                <a:ea typeface="Arimo"/>
                <a:cs typeface="Arial" panose="020B0604020202020204" pitchFamily="34" charset="0"/>
                <a:sym typeface="Arimo"/>
              </a:rPr>
              <a:t>       activities efficiently.</a:t>
            </a:r>
          </a:p>
          <a:p>
            <a:pPr marL="457200" indent="-457200" algn="l">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a:p>
            <a:pPr marL="457200" indent="-457200" algn="l">
              <a:lnSpc>
                <a:spcPts val="3450"/>
              </a:lnSpc>
              <a:buFont typeface="Wingdings" panose="05000000000000000000" pitchFamily="2" charset="2"/>
              <a:buChar char="v"/>
            </a:pPr>
            <a:r>
              <a:rPr lang="en-US" sz="2800" dirty="0">
                <a:solidFill>
                  <a:srgbClr val="000000"/>
                </a:solidFill>
                <a:latin typeface="Arial" panose="020B0604020202020204" pitchFamily="34" charset="0"/>
                <a:ea typeface="Arimo"/>
                <a:cs typeface="Arial" panose="020B0604020202020204" pitchFamily="34" charset="0"/>
                <a:sym typeface="Arimo"/>
              </a:rPr>
              <a:t> </a:t>
            </a:r>
            <a:r>
              <a:rPr lang="en-US" sz="2800" b="1" dirty="0">
                <a:solidFill>
                  <a:srgbClr val="000000"/>
                </a:solidFill>
                <a:latin typeface="Arial" panose="020B0604020202020204" pitchFamily="34" charset="0"/>
                <a:ea typeface="Arimo Bold"/>
                <a:cs typeface="Arial" panose="020B0604020202020204" pitchFamily="34" charset="0"/>
                <a:sym typeface="Arimo Bold"/>
              </a:rPr>
              <a:t>Description: </a:t>
            </a:r>
            <a:r>
              <a:rPr lang="en-US" sz="2800" dirty="0">
                <a:solidFill>
                  <a:srgbClr val="000000"/>
                </a:solidFill>
                <a:latin typeface="Arial" panose="020B0604020202020204" pitchFamily="34" charset="0"/>
                <a:ea typeface="Arimo"/>
                <a:cs typeface="Arial" panose="020B0604020202020204" pitchFamily="34" charset="0"/>
                <a:sym typeface="Arimo"/>
              </a:rPr>
              <a:t>This system allows students, companies, and administrators to manage placement processes online. </a:t>
            </a:r>
          </a:p>
          <a:p>
            <a:pPr marL="457200" indent="-457200" algn="l">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a:p>
            <a:pPr marL="457200" indent="-457200" algn="l">
              <a:lnSpc>
                <a:spcPts val="3450"/>
              </a:lnSpc>
              <a:buFont typeface="Wingdings" panose="05000000000000000000" pitchFamily="2" charset="2"/>
              <a:buChar char="v"/>
            </a:pPr>
            <a:r>
              <a:rPr lang="en-US" sz="2800" dirty="0">
                <a:solidFill>
                  <a:srgbClr val="000000"/>
                </a:solidFill>
                <a:latin typeface="Arial" panose="020B0604020202020204" pitchFamily="34" charset="0"/>
                <a:ea typeface="Arimo"/>
                <a:cs typeface="Arial" panose="020B0604020202020204" pitchFamily="34" charset="0"/>
                <a:sym typeface="Arimo"/>
              </a:rPr>
              <a:t>It simplifies registration, job posting, and result tracking while saving time and reducing manual work. </a:t>
            </a:r>
          </a:p>
          <a:p>
            <a:pPr marL="457200" indent="-457200" algn="l">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a:p>
            <a:pPr marL="457200" indent="-457200" algn="l">
              <a:lnSpc>
                <a:spcPts val="3450"/>
              </a:lnSpc>
              <a:buFont typeface="Wingdings" panose="05000000000000000000" pitchFamily="2" charset="2"/>
              <a:buChar char="v"/>
            </a:pPr>
            <a:r>
              <a:rPr lang="en-US" sz="2800" b="1" dirty="0">
                <a:solidFill>
                  <a:srgbClr val="000000"/>
                </a:solidFill>
                <a:latin typeface="Arial" panose="020B0604020202020204" pitchFamily="34" charset="0"/>
                <a:ea typeface="Arimo Bold"/>
                <a:cs typeface="Arial" panose="020B0604020202020204" pitchFamily="34" charset="0"/>
                <a:sym typeface="Arimo Bold"/>
              </a:rPr>
              <a:t>Technologies Used: </a:t>
            </a:r>
            <a:r>
              <a:rPr lang="en-US" sz="2800" dirty="0">
                <a:solidFill>
                  <a:srgbClr val="000000"/>
                </a:solidFill>
                <a:latin typeface="Arial" panose="020B0604020202020204" pitchFamily="34" charset="0"/>
                <a:ea typeface="Arimo"/>
                <a:cs typeface="Arial" panose="020B0604020202020204" pitchFamily="34" charset="0"/>
                <a:sym typeface="Arimo"/>
              </a:rPr>
              <a:t>HTML, CSS, JavaScript, PHP, MySQL </a:t>
            </a:r>
          </a:p>
          <a:p>
            <a:pPr marL="457200" indent="-457200" algn="l">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a:p>
            <a:pPr marL="457200" indent="-457200" algn="l">
              <a:lnSpc>
                <a:spcPts val="3450"/>
              </a:lnSpc>
              <a:buFont typeface="Wingdings" panose="05000000000000000000" pitchFamily="2" charset="2"/>
              <a:buChar char="v"/>
            </a:pPr>
            <a:r>
              <a:rPr lang="en-US" sz="2800" b="1" dirty="0">
                <a:solidFill>
                  <a:srgbClr val="000000"/>
                </a:solidFill>
                <a:latin typeface="Arial" panose="020B0604020202020204" pitchFamily="34" charset="0"/>
                <a:ea typeface="Arimo Bold"/>
                <a:cs typeface="Arial" panose="020B0604020202020204" pitchFamily="34" charset="0"/>
                <a:sym typeface="Arimo Bold"/>
              </a:rPr>
              <a:t>Outcome: </a:t>
            </a:r>
            <a:r>
              <a:rPr lang="en-US" sz="2800" dirty="0">
                <a:solidFill>
                  <a:srgbClr val="000000"/>
                </a:solidFill>
                <a:latin typeface="Arial" panose="020B0604020202020204" pitchFamily="34" charset="0"/>
                <a:ea typeface="Arimo"/>
                <a:cs typeface="Arial" panose="020B0604020202020204" pitchFamily="34" charset="0"/>
                <a:sym typeface="Arimo"/>
              </a:rPr>
              <a:t>An efficient and user-friendly platform for managing campus placements</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3241028-FF2D-6B0A-C554-275209345D20}"/>
              </a:ext>
            </a:extLst>
          </p:cNvPr>
          <p:cNvSpPr txBox="1"/>
          <p:nvPr/>
        </p:nvSpPr>
        <p:spPr>
          <a:xfrm>
            <a:off x="1295400" y="3619500"/>
            <a:ext cx="14020800" cy="5181600"/>
          </a:xfrm>
          <a:prstGeom prst="rect">
            <a:avLst/>
          </a:prstGeom>
          <a:noFill/>
        </p:spPr>
        <p:txBody>
          <a:bodyPr wrap="square" anchor="b" anchorCtr="1">
            <a:noAutofit/>
          </a:bodyPr>
          <a:lstStyle/>
          <a:p>
            <a:pPr marL="457200" indent="-457200">
              <a:buFont typeface="Wingdings" panose="05000000000000000000" pitchFamily="2" charset="2"/>
              <a:buChar char="v"/>
            </a:pPr>
            <a:r>
              <a:rPr lang="en-US" sz="2800" b="1" dirty="0">
                <a:latin typeface="Arial" panose="020B0604020202020204" pitchFamily="34" charset="0"/>
                <a:cs typeface="Arial" panose="020B0604020202020204" pitchFamily="34" charset="0"/>
              </a:rPr>
              <a:t>Time Efficiency:</a:t>
            </a:r>
            <a:r>
              <a:rPr lang="en-US" sz="2800" dirty="0">
                <a:latin typeface="Arial" panose="020B0604020202020204" pitchFamily="34" charset="0"/>
                <a:cs typeface="Arial" panose="020B0604020202020204" pitchFamily="34" charset="0"/>
              </a:rPr>
              <a:t> Reduces manual work for placement coordinators.</a:t>
            </a:r>
          </a:p>
          <a:p>
            <a:pPr marL="457200" indent="-457200">
              <a:buFont typeface="Wingdings" panose="05000000000000000000" pitchFamily="2" charset="2"/>
              <a:buChar char="v"/>
            </a:pP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en-US" sz="2800" b="1" dirty="0">
                <a:latin typeface="Arial" panose="020B0604020202020204" pitchFamily="34" charset="0"/>
                <a:cs typeface="Arial" panose="020B0604020202020204" pitchFamily="34" charset="0"/>
              </a:rPr>
              <a:t>Data Accuracy:</a:t>
            </a:r>
            <a:r>
              <a:rPr lang="en-US" sz="2800" dirty="0">
                <a:latin typeface="Arial" panose="020B0604020202020204" pitchFamily="34" charset="0"/>
                <a:cs typeface="Arial" panose="020B0604020202020204" pitchFamily="34" charset="0"/>
              </a:rPr>
              <a:t> Ensures reliable storage and retrieval of student and company information.</a:t>
            </a:r>
          </a:p>
          <a:p>
            <a:pPr marL="457200" indent="-457200">
              <a:buFont typeface="Wingdings" panose="05000000000000000000" pitchFamily="2" charset="2"/>
              <a:buChar char="v"/>
            </a:pP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en-US" sz="2800" b="1" dirty="0">
                <a:latin typeface="Arial" panose="020B0604020202020204" pitchFamily="34" charset="0"/>
                <a:cs typeface="Arial" panose="020B0604020202020204" pitchFamily="34" charset="0"/>
              </a:rPr>
              <a:t>Transparency:</a:t>
            </a:r>
            <a:r>
              <a:rPr lang="en-US" sz="2800" dirty="0">
                <a:latin typeface="Arial" panose="020B0604020202020204" pitchFamily="34" charset="0"/>
                <a:cs typeface="Arial" panose="020B0604020202020204" pitchFamily="34" charset="0"/>
              </a:rPr>
              <a:t> Keeps all stakeholders informed about placement activities.</a:t>
            </a:r>
          </a:p>
          <a:p>
            <a:pPr marL="457200" indent="-457200">
              <a:buFont typeface="Wingdings" panose="05000000000000000000" pitchFamily="2" charset="2"/>
              <a:buChar char="v"/>
            </a:pP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en-US" sz="2800" b="1" dirty="0">
                <a:latin typeface="Arial" panose="020B0604020202020204" pitchFamily="34" charset="0"/>
                <a:cs typeface="Arial" panose="020B0604020202020204" pitchFamily="34" charset="0"/>
              </a:rPr>
              <a:t>Accessibility:</a:t>
            </a:r>
            <a:r>
              <a:rPr lang="en-US" sz="2800" dirty="0">
                <a:latin typeface="Arial" panose="020B0604020202020204" pitchFamily="34" charset="0"/>
                <a:cs typeface="Arial" panose="020B0604020202020204" pitchFamily="34" charset="0"/>
              </a:rPr>
              <a:t> Students and companies can access data anytime through the system.</a:t>
            </a:r>
          </a:p>
          <a:p>
            <a:pPr marL="457200" indent="-457200">
              <a:buFont typeface="Wingdings" panose="05000000000000000000" pitchFamily="2" charset="2"/>
              <a:buChar char="v"/>
            </a:pP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en-US" sz="2800" b="1" dirty="0">
                <a:latin typeface="Arial" panose="020B0604020202020204" pitchFamily="34" charset="0"/>
                <a:cs typeface="Arial" panose="020B0604020202020204" pitchFamily="34" charset="0"/>
              </a:rPr>
              <a:t>Better Decision-Making:</a:t>
            </a:r>
            <a:r>
              <a:rPr lang="en-US" sz="2800" dirty="0">
                <a:latin typeface="Arial" panose="020B0604020202020204" pitchFamily="34" charset="0"/>
                <a:cs typeface="Arial" panose="020B0604020202020204" pitchFamily="34" charset="0"/>
              </a:rPr>
              <a:t> Supports data-driven insights for improving placement strategies</a:t>
            </a:r>
          </a:p>
        </p:txBody>
      </p:sp>
      <p:sp>
        <p:nvSpPr>
          <p:cNvPr id="8" name="TextBox 7">
            <a:extLst>
              <a:ext uri="{FF2B5EF4-FFF2-40B4-BE49-F238E27FC236}">
                <a16:creationId xmlns:a16="http://schemas.microsoft.com/office/drawing/2014/main" id="{22249BFD-353C-FED9-B9C2-25B4DC377979}"/>
              </a:ext>
            </a:extLst>
          </p:cNvPr>
          <p:cNvSpPr txBox="1"/>
          <p:nvPr/>
        </p:nvSpPr>
        <p:spPr>
          <a:xfrm>
            <a:off x="2209800" y="2213638"/>
            <a:ext cx="5257800" cy="1138773"/>
          </a:xfrm>
          <a:prstGeom prst="rect">
            <a:avLst/>
          </a:prstGeom>
          <a:noFill/>
        </p:spPr>
        <p:txBody>
          <a:bodyPr wrap="square" rtlCol="0">
            <a:spAutoFit/>
          </a:bodyPr>
          <a:lstStyle/>
          <a:p>
            <a:pPr marL="685800" indent="-685800">
              <a:buFont typeface="Wingdings" panose="05000000000000000000" pitchFamily="2" charset="2"/>
              <a:buChar char="Ø"/>
            </a:pPr>
            <a:r>
              <a:rPr lang="en-US" sz="5000" dirty="0">
                <a:latin typeface="Algerian" panose="04020705040A02060702" pitchFamily="82" charset="0"/>
                <a:cs typeface="Arial" panose="020B0604020202020204" pitchFamily="34" charset="0"/>
              </a:rPr>
              <a:t>Key Benefits</a:t>
            </a:r>
          </a:p>
          <a:p>
            <a:endParaRPr lang="en-IN" dirty="0"/>
          </a:p>
        </p:txBody>
      </p:sp>
      <p:sp>
        <p:nvSpPr>
          <p:cNvPr id="10" name="TextBox 9">
            <a:extLst>
              <a:ext uri="{FF2B5EF4-FFF2-40B4-BE49-F238E27FC236}">
                <a16:creationId xmlns:a16="http://schemas.microsoft.com/office/drawing/2014/main" id="{180B8448-2C95-88F4-5277-1E7CCD259DE5}"/>
              </a:ext>
            </a:extLst>
          </p:cNvPr>
          <p:cNvSpPr txBox="1"/>
          <p:nvPr/>
        </p:nvSpPr>
        <p:spPr>
          <a:xfrm>
            <a:off x="2209800" y="1028699"/>
            <a:ext cx="8458200" cy="1754326"/>
          </a:xfrm>
          <a:prstGeom prst="rect">
            <a:avLst/>
          </a:prstGeom>
          <a:noFill/>
        </p:spPr>
        <p:txBody>
          <a:bodyPr wrap="square" rtlCol="0">
            <a:spAutoFit/>
          </a:bodyPr>
          <a:lstStyle/>
          <a:p>
            <a:r>
              <a:rPr lang="en-US" sz="5400" dirty="0">
                <a:latin typeface="Algerian" panose="04020705040A02060702" pitchFamily="82" charset="0"/>
                <a:ea typeface="Arimo Bold"/>
                <a:cs typeface="Arimo Bold"/>
                <a:sym typeface="Arimo Bold"/>
              </a:rPr>
              <a:t>OBJECTIVE-</a:t>
            </a:r>
            <a:r>
              <a:rPr lang="en-US" sz="5400" dirty="0">
                <a:latin typeface="Algerian" panose="04020705040A02060702" pitchFamily="82" charset="0"/>
                <a:cs typeface="Arial" panose="020B0604020202020204" pitchFamily="34" charset="0"/>
              </a:rPr>
              <a:t>Benefits</a:t>
            </a:r>
          </a:p>
          <a:p>
            <a:r>
              <a:rPr lang="en-US" sz="5400" b="1" dirty="0">
                <a:latin typeface="Algerian" panose="04020705040A02060702" pitchFamily="82" charset="0"/>
                <a:ea typeface="Arimo Bold"/>
                <a:cs typeface="Arimo Bold"/>
                <a:sym typeface="Arimo Bold"/>
              </a:rPr>
              <a:t> </a:t>
            </a:r>
            <a:endParaRPr lang="en-IN" sz="5400" dirty="0"/>
          </a:p>
        </p:txBody>
      </p:sp>
    </p:spTree>
  </p:cSld>
  <p:clrMapOvr>
    <a:masterClrMapping/>
  </p:clrMapOvr>
  <p:transition spd="slow">
    <p:push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2171700" y="1641519"/>
            <a:ext cx="13944600" cy="745204"/>
          </a:xfrm>
          <a:prstGeom prst="rect">
            <a:avLst/>
          </a:prstGeom>
        </p:spPr>
        <p:txBody>
          <a:bodyPr wrap="square" lIns="0" tIns="0" rIns="0" bIns="0" rtlCol="0" anchor="t">
            <a:spAutoFit/>
          </a:bodyPr>
          <a:lstStyle/>
          <a:p>
            <a:pPr>
              <a:lnSpc>
                <a:spcPts val="6803"/>
              </a:lnSpc>
            </a:pPr>
            <a:r>
              <a:rPr lang="en-US" sz="2800" b="1" u="sng" dirty="0">
                <a:latin typeface="Arial Black" panose="020B0A04020102020204" pitchFamily="34" charset="0"/>
              </a:rPr>
              <a:t>PURPOSE </a:t>
            </a:r>
            <a:r>
              <a:rPr lang="en-US" sz="2800" b="1" dirty="0">
                <a:latin typeface="Arial Black" panose="020B0A04020102020204" pitchFamily="34" charset="0"/>
              </a:rPr>
              <a:t>: </a:t>
            </a:r>
            <a:r>
              <a:rPr lang="en-US" sz="2800" dirty="0"/>
              <a:t>To </a:t>
            </a:r>
            <a:r>
              <a:rPr lang="en-US" sz="2800" b="1" dirty="0"/>
              <a:t>simplify and automate</a:t>
            </a:r>
            <a:r>
              <a:rPr lang="en-US" sz="2800" dirty="0"/>
              <a:t> the entire campus placement process</a:t>
            </a:r>
            <a:endParaRPr lang="en-US" sz="2800" b="1" dirty="0">
              <a:solidFill>
                <a:srgbClr val="E78045"/>
              </a:solidFill>
              <a:latin typeface="Arimo Bold"/>
              <a:ea typeface="Arimo Bold"/>
              <a:cs typeface="Arimo Bold"/>
              <a:sym typeface="Arimo Bold"/>
            </a:endParaRPr>
          </a:p>
        </p:txBody>
      </p:sp>
      <p:sp>
        <p:nvSpPr>
          <p:cNvPr id="15" name="TextBox 14">
            <a:extLst>
              <a:ext uri="{FF2B5EF4-FFF2-40B4-BE49-F238E27FC236}">
                <a16:creationId xmlns:a16="http://schemas.microsoft.com/office/drawing/2014/main" id="{750F7EA7-655C-E016-0797-5556E78BCA4E}"/>
              </a:ext>
            </a:extLst>
          </p:cNvPr>
          <p:cNvSpPr txBox="1"/>
          <p:nvPr/>
        </p:nvSpPr>
        <p:spPr>
          <a:xfrm>
            <a:off x="2057400" y="3009900"/>
            <a:ext cx="12641943" cy="5262979"/>
          </a:xfrm>
          <a:prstGeom prst="rect">
            <a:avLst/>
          </a:prstGeom>
          <a:noFill/>
        </p:spPr>
        <p:txBody>
          <a:bodyPr wrap="square">
            <a:spAutoFit/>
          </a:bodyPr>
          <a:lstStyle/>
          <a:p>
            <a:pPr marL="457200" indent="-457200">
              <a:buFont typeface="Wingdings" panose="05000000000000000000" pitchFamily="2" charset="2"/>
              <a:buChar char="v"/>
            </a:pPr>
            <a:r>
              <a:rPr lang="en-US" sz="2800" dirty="0">
                <a:latin typeface="Arial" panose="020B0604020202020204" pitchFamily="34" charset="0"/>
                <a:cs typeface="Arial" panose="020B0604020202020204" pitchFamily="34" charset="0"/>
              </a:rPr>
              <a:t>The Home Page is the starting point of the Placement Management System.</a:t>
            </a:r>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en-US" sz="2800" dirty="0">
                <a:latin typeface="Arial" panose="020B0604020202020204" pitchFamily="34" charset="0"/>
                <a:cs typeface="Arial" panose="020B0604020202020204" pitchFamily="34" charset="0"/>
              </a:rPr>
              <a:t>Provides easy navigation to all modules — Student, Company, and Admin.</a:t>
            </a:r>
          </a:p>
          <a:p>
            <a:pPr marL="457200" indent="-457200">
              <a:buFont typeface="Wingdings" panose="05000000000000000000" pitchFamily="2" charset="2"/>
              <a:buChar char="v"/>
            </a:pP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en-US" sz="2800" dirty="0">
                <a:latin typeface="Arial" panose="020B0604020202020204" pitchFamily="34" charset="0"/>
                <a:cs typeface="Arial" panose="020B0604020202020204" pitchFamily="34" charset="0"/>
              </a:rPr>
              <a:t>Displays welcome message, system overview, and latest announcements.</a:t>
            </a:r>
          </a:p>
          <a:p>
            <a:pPr marL="457200" indent="-457200">
              <a:buFont typeface="Wingdings" panose="05000000000000000000" pitchFamily="2" charset="2"/>
              <a:buChar char="v"/>
            </a:pP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en-US" sz="2800" dirty="0">
                <a:latin typeface="Arial" panose="020B0604020202020204" pitchFamily="34" charset="0"/>
                <a:cs typeface="Arial" panose="020B0604020202020204" pitchFamily="34" charset="0"/>
              </a:rPr>
              <a:t>Includes Login/Register options for different users.</a:t>
            </a:r>
          </a:p>
          <a:p>
            <a:pPr marL="457200" indent="-457200">
              <a:buFont typeface="Wingdings" panose="05000000000000000000" pitchFamily="2" charset="2"/>
              <a:buChar char="v"/>
            </a:pP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en-US" sz="2800" dirty="0">
                <a:latin typeface="Arial" panose="020B0604020202020204" pitchFamily="34" charset="0"/>
                <a:cs typeface="Arial" panose="020B0604020202020204" pitchFamily="34" charset="0"/>
              </a:rPr>
              <a:t>Shows contact details of the placement cell for quick support.</a:t>
            </a:r>
          </a:p>
          <a:p>
            <a:pPr marL="457200" indent="-457200">
              <a:buFont typeface="Wingdings" panose="05000000000000000000" pitchFamily="2" charset="2"/>
              <a:buChar char="v"/>
            </a:pP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en-US" sz="2800" dirty="0">
                <a:latin typeface="Arial" panose="020B0604020202020204" pitchFamily="34" charset="0"/>
                <a:cs typeface="Arial" panose="020B0604020202020204" pitchFamily="34" charset="0"/>
              </a:rPr>
              <a:t>Designed with a simple and user-friendly interface for smooth access.</a:t>
            </a:r>
            <a:endParaRPr lang="en-IN" sz="28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F1722345-1A73-71CA-44C5-CE2D958CB534}"/>
              </a:ext>
            </a:extLst>
          </p:cNvPr>
          <p:cNvSpPr txBox="1"/>
          <p:nvPr/>
        </p:nvSpPr>
        <p:spPr>
          <a:xfrm>
            <a:off x="2240526" y="468157"/>
            <a:ext cx="5715000" cy="861774"/>
          </a:xfrm>
          <a:prstGeom prst="rect">
            <a:avLst/>
          </a:prstGeom>
          <a:noFill/>
        </p:spPr>
        <p:txBody>
          <a:bodyPr wrap="square" rtlCol="0">
            <a:spAutoFit/>
          </a:bodyPr>
          <a:lstStyle/>
          <a:p>
            <a:r>
              <a:rPr lang="en-US" sz="5000" dirty="0">
                <a:latin typeface="Algerian" panose="04020705040A02060702" pitchFamily="82" charset="0"/>
              </a:rPr>
              <a:t>HOME PAGE</a:t>
            </a:r>
            <a:endParaRPr lang="en-IN" sz="5000" dirty="0">
              <a:latin typeface="Algerian" panose="04020705040A02060702" pitchFamily="82" charset="0"/>
            </a:endParaRPr>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E1E2D-2C3A-9949-D72B-C73C1E2974C4}"/>
              </a:ext>
            </a:extLst>
          </p:cNvPr>
          <p:cNvSpPr>
            <a:spLocks noGrp="1"/>
          </p:cNvSpPr>
          <p:nvPr>
            <p:ph type="ctrTitle"/>
          </p:nvPr>
        </p:nvSpPr>
        <p:spPr>
          <a:xfrm>
            <a:off x="4572000" y="571500"/>
            <a:ext cx="8193882" cy="914401"/>
          </a:xfrm>
        </p:spPr>
        <p:txBody>
          <a:bodyPr>
            <a:normAutofit/>
          </a:bodyPr>
          <a:lstStyle/>
          <a:p>
            <a:r>
              <a:rPr lang="en-IN" sz="5000" dirty="0">
                <a:latin typeface="Algerian" panose="04020705040A02060702" pitchFamily="82" charset="0"/>
              </a:rPr>
              <a:t>Login and Registration</a:t>
            </a:r>
          </a:p>
        </p:txBody>
      </p:sp>
      <p:sp>
        <p:nvSpPr>
          <p:cNvPr id="4" name="Rectangle 1">
            <a:extLst>
              <a:ext uri="{FF2B5EF4-FFF2-40B4-BE49-F238E27FC236}">
                <a16:creationId xmlns:a16="http://schemas.microsoft.com/office/drawing/2014/main" id="{DF31E615-A0F1-DA23-7585-13DD88E83BA6}"/>
              </a:ext>
            </a:extLst>
          </p:cNvPr>
          <p:cNvSpPr>
            <a:spLocks noGrp="1" noChangeArrowheads="1"/>
          </p:cNvSpPr>
          <p:nvPr>
            <p:ph type="subTitle" idx="1"/>
          </p:nvPr>
        </p:nvSpPr>
        <p:spPr bwMode="auto">
          <a:xfrm>
            <a:off x="4724400" y="1333500"/>
            <a:ext cx="12344400" cy="741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defTabSz="914400" eaLnBrk="0" fontAlgn="base" hangingPunct="0">
              <a:spcBef>
                <a:spcPct val="0"/>
              </a:spcBef>
              <a:spcAft>
                <a:spcPct val="0"/>
              </a:spcAft>
              <a:buClrTx/>
              <a:buSzTx/>
              <a:buFont typeface="Wingdings" panose="05000000000000000000" pitchFamily="2" charset="2"/>
              <a:buChar char="v"/>
            </a:pPr>
            <a:r>
              <a:rPr lang="en-US" altLang="en-US" sz="2800" b="1" dirty="0">
                <a:latin typeface="Arial" panose="020B0604020202020204" pitchFamily="34" charset="0"/>
              </a:rPr>
              <a:t>Registration module</a:t>
            </a:r>
            <a:r>
              <a:rPr lang="en-US" altLang="en-US" sz="2800" dirty="0">
                <a:latin typeface="Arial" panose="020B0604020202020204" pitchFamily="34" charset="0"/>
              </a:rPr>
              <a:t> collects essential user details and creates a unique account.</a:t>
            </a:r>
          </a:p>
          <a:p>
            <a:pPr marL="457200" lvl="0" indent="-457200" defTabSz="914400" eaLnBrk="0" fontAlgn="base" hangingPunct="0">
              <a:spcBef>
                <a:spcPct val="0"/>
              </a:spcBef>
              <a:spcAft>
                <a:spcPct val="0"/>
              </a:spcAft>
              <a:buClrTx/>
              <a:buSzTx/>
              <a:buFont typeface="Wingdings" panose="05000000000000000000" pitchFamily="2" charset="2"/>
              <a:buChar char="v"/>
            </a:pPr>
            <a:endParaRPr lang="en-US" altLang="en-US" sz="2800" dirty="0">
              <a:latin typeface="Arial" panose="020B0604020202020204" pitchFamily="34" charset="0"/>
            </a:endParaRPr>
          </a:p>
          <a:p>
            <a:pPr marL="457200" lvl="0" indent="-457200" defTabSz="914400" eaLnBrk="0" fontAlgn="base" hangingPunct="0">
              <a:spcBef>
                <a:spcPct val="0"/>
              </a:spcBef>
              <a:spcAft>
                <a:spcPct val="0"/>
              </a:spcAft>
              <a:buClrTx/>
              <a:buSzTx/>
              <a:buFont typeface="Wingdings" panose="05000000000000000000" pitchFamily="2" charset="2"/>
              <a:buChar char="v"/>
            </a:pPr>
            <a:r>
              <a:rPr lang="en-US" altLang="en-US" sz="2800" b="1" dirty="0">
                <a:latin typeface="Arial" panose="020B0604020202020204" pitchFamily="34" charset="0"/>
              </a:rPr>
              <a:t>Login module</a:t>
            </a:r>
            <a:r>
              <a:rPr lang="en-US" altLang="en-US" sz="2800" dirty="0">
                <a:latin typeface="Arial" panose="020B0604020202020204" pitchFamily="34" charset="0"/>
              </a:rPr>
              <a:t> verifies credentials and provides access to respective dashboards.</a:t>
            </a:r>
          </a:p>
          <a:p>
            <a:pPr marL="457200" lvl="0" indent="-457200" defTabSz="914400" eaLnBrk="0" fontAlgn="base" hangingPunct="0">
              <a:spcBef>
                <a:spcPct val="0"/>
              </a:spcBef>
              <a:spcAft>
                <a:spcPct val="0"/>
              </a:spcAft>
              <a:buClrTx/>
              <a:buSzTx/>
              <a:buFont typeface="Wingdings" panose="05000000000000000000" pitchFamily="2" charset="2"/>
              <a:buChar char="v"/>
            </a:pPr>
            <a:endParaRPr lang="en-US" altLang="en-US" sz="2800" dirty="0">
              <a:latin typeface="Arial" panose="020B0604020202020204" pitchFamily="34" charset="0"/>
            </a:endParaRPr>
          </a:p>
          <a:p>
            <a:pPr marL="457200" lvl="0" indent="-457200" defTabSz="914400" eaLnBrk="0" fontAlgn="base" hangingPunct="0">
              <a:spcBef>
                <a:spcPct val="0"/>
              </a:spcBef>
              <a:spcAft>
                <a:spcPct val="0"/>
              </a:spcAft>
              <a:buClrTx/>
              <a:buSzTx/>
              <a:buFont typeface="Wingdings" panose="05000000000000000000" pitchFamily="2" charset="2"/>
              <a:buChar char="v"/>
            </a:pPr>
            <a:r>
              <a:rPr lang="en-US" altLang="en-US" sz="2800" dirty="0">
                <a:latin typeface="Arial" panose="020B0604020202020204" pitchFamily="34" charset="0"/>
              </a:rPr>
              <a:t>Ensures </a:t>
            </a:r>
            <a:r>
              <a:rPr lang="en-US" altLang="en-US" sz="2800" b="1" dirty="0">
                <a:latin typeface="Arial" panose="020B0604020202020204" pitchFamily="34" charset="0"/>
              </a:rPr>
              <a:t>data security</a:t>
            </a:r>
            <a:r>
              <a:rPr lang="en-US" altLang="en-US" sz="2800" dirty="0">
                <a:latin typeface="Arial" panose="020B0604020202020204" pitchFamily="34" charset="0"/>
              </a:rPr>
              <a:t> and prevents unauthorized access. </a:t>
            </a:r>
          </a:p>
          <a:p>
            <a:pPr marL="457200" lvl="0" indent="-457200" defTabSz="914400" eaLnBrk="0" fontAlgn="base" hangingPunct="0">
              <a:spcBef>
                <a:spcPct val="0"/>
              </a:spcBef>
              <a:spcAft>
                <a:spcPct val="0"/>
              </a:spcAft>
              <a:buClrTx/>
              <a:buSzTx/>
              <a:buFont typeface="Wingdings" panose="05000000000000000000" pitchFamily="2" charset="2"/>
              <a:buChar char="v"/>
            </a:pPr>
            <a:endParaRPr lang="en-US" altLang="en-US" sz="2800" dirty="0">
              <a:latin typeface="Arial" panose="020B0604020202020204" pitchFamily="34" charset="0"/>
            </a:endParaRPr>
          </a:p>
          <a:p>
            <a:pPr marL="457200" lvl="0" indent="-457200" defTabSz="914400" eaLnBrk="0" fontAlgn="base" hangingPunct="0">
              <a:spcBef>
                <a:spcPct val="0"/>
              </a:spcBef>
              <a:spcAft>
                <a:spcPct val="0"/>
              </a:spcAft>
              <a:buClrTx/>
              <a:buSzTx/>
              <a:buFont typeface="Wingdings" panose="05000000000000000000" pitchFamily="2" charset="2"/>
              <a:buChar char="v"/>
            </a:pPr>
            <a:r>
              <a:rPr lang="en-US" altLang="en-US" sz="2800" dirty="0">
                <a:latin typeface="Arial" panose="020B0604020202020204" pitchFamily="34" charset="0"/>
              </a:rPr>
              <a:t> Supports </a:t>
            </a:r>
            <a:r>
              <a:rPr lang="en-US" altLang="en-US" sz="2800" b="1" dirty="0">
                <a:latin typeface="Arial" panose="020B0604020202020204" pitchFamily="34" charset="0"/>
              </a:rPr>
              <a:t>role-based access control</a:t>
            </a:r>
            <a:r>
              <a:rPr lang="en-US" altLang="en-US" sz="2800" dirty="0">
                <a:latin typeface="Arial" panose="020B0604020202020204" pitchFamily="34" charset="0"/>
              </a:rPr>
              <a:t> — each user has specific features and permissions.</a:t>
            </a:r>
          </a:p>
          <a:p>
            <a:pPr marL="457200" lvl="0" indent="-457200" defTabSz="914400" eaLnBrk="0" fontAlgn="base" hangingPunct="0">
              <a:spcBef>
                <a:spcPct val="0"/>
              </a:spcBef>
              <a:spcAft>
                <a:spcPct val="0"/>
              </a:spcAft>
              <a:buClrTx/>
              <a:buSzTx/>
              <a:buFont typeface="Wingdings" panose="05000000000000000000" pitchFamily="2" charset="2"/>
              <a:buChar char="v"/>
            </a:pPr>
            <a:endParaRPr lang="en-US" altLang="en-US" sz="2800" dirty="0">
              <a:latin typeface="Arial" panose="020B0604020202020204" pitchFamily="34" charset="0"/>
            </a:endParaRPr>
          </a:p>
          <a:p>
            <a:pPr marL="457200" lvl="0" indent="-457200" defTabSz="914400" eaLnBrk="0" fontAlgn="base" hangingPunct="0">
              <a:spcBef>
                <a:spcPct val="0"/>
              </a:spcBef>
              <a:spcAft>
                <a:spcPct val="0"/>
              </a:spcAft>
              <a:buClrTx/>
              <a:buSzTx/>
              <a:buFont typeface="Wingdings" panose="05000000000000000000" pitchFamily="2" charset="2"/>
              <a:buChar char="v"/>
            </a:pPr>
            <a:endParaRPr lang="en-US" altLang="en-US" sz="2800" dirty="0">
              <a:latin typeface="Arial" panose="020B0604020202020204" pitchFamily="34" charset="0"/>
            </a:endParaRPr>
          </a:p>
          <a:p>
            <a:pPr marL="457200" lvl="0" indent="-457200" defTabSz="914400" eaLnBrk="0" fontAlgn="base" hangingPunct="0">
              <a:spcBef>
                <a:spcPct val="0"/>
              </a:spcBef>
              <a:spcAft>
                <a:spcPct val="0"/>
              </a:spcAft>
              <a:buClrTx/>
              <a:buSzTx/>
              <a:buFont typeface="Wingdings" panose="05000000000000000000" pitchFamily="2" charset="2"/>
              <a:buChar char="v"/>
            </a:pPr>
            <a:r>
              <a:rPr lang="en-US" altLang="en-US" sz="2800" dirty="0">
                <a:latin typeface="Arial" panose="020B0604020202020204" pitchFamily="34" charset="0"/>
              </a:rPr>
              <a:t>Provides </a:t>
            </a:r>
            <a:r>
              <a:rPr lang="en-US" altLang="en-US" sz="2800" b="1" dirty="0">
                <a:latin typeface="Arial" panose="020B0604020202020204" pitchFamily="34" charset="0"/>
              </a:rPr>
              <a:t>password recovery</a:t>
            </a:r>
            <a:r>
              <a:rPr lang="en-US" altLang="en-US" sz="2800" dirty="0">
                <a:latin typeface="Arial" panose="020B0604020202020204" pitchFamily="34" charset="0"/>
              </a:rPr>
              <a:t> and </a:t>
            </a:r>
            <a:r>
              <a:rPr lang="en-US" altLang="en-US" sz="2800" b="1" dirty="0">
                <a:latin typeface="Arial" panose="020B0604020202020204" pitchFamily="34" charset="0"/>
              </a:rPr>
              <a:t>profile management</a:t>
            </a:r>
            <a:r>
              <a:rPr lang="en-US" altLang="en-US" sz="2800" dirty="0">
                <a:latin typeface="Arial" panose="020B0604020202020204" pitchFamily="34" charset="0"/>
              </a:rPr>
              <a:t> options.</a:t>
            </a:r>
          </a:p>
          <a:p>
            <a:pPr marL="457200" lvl="0" indent="-457200" defTabSz="914400" eaLnBrk="0" fontAlgn="base" hangingPunct="0">
              <a:spcBef>
                <a:spcPct val="0"/>
              </a:spcBef>
              <a:spcAft>
                <a:spcPct val="0"/>
              </a:spcAft>
              <a:buClrTx/>
              <a:buSzTx/>
              <a:buFont typeface="Wingdings" panose="05000000000000000000" pitchFamily="2" charset="2"/>
              <a:buChar char="v"/>
            </a:pPr>
            <a:endParaRPr lang="en-US" altLang="en-US" sz="2800" dirty="0">
              <a:latin typeface="Arial" panose="020B0604020202020204" pitchFamily="34" charset="0"/>
            </a:endParaRPr>
          </a:p>
          <a:p>
            <a:pPr marL="457200" lvl="0" indent="-457200" algn="l" defTabSz="914400" eaLnBrk="0" fontAlgn="base" hangingPunct="0">
              <a:spcBef>
                <a:spcPct val="0"/>
              </a:spcBef>
              <a:spcAft>
                <a:spcPct val="0"/>
              </a:spcAft>
              <a:buClrTx/>
              <a:buSzTx/>
              <a:buFont typeface="Wingdings" panose="05000000000000000000" pitchFamily="2" charset="2"/>
              <a:buChar char="v"/>
            </a:pPr>
            <a:r>
              <a:rPr lang="en-US" altLang="en-US" sz="2800" dirty="0">
                <a:latin typeface="Arial" panose="020B0604020202020204" pitchFamily="34" charset="0"/>
              </a:rPr>
              <a:t>      Allows </a:t>
            </a:r>
            <a:r>
              <a:rPr lang="en-US" altLang="en-US" sz="2800" b="1" dirty="0">
                <a:latin typeface="Arial" panose="020B0604020202020204" pitchFamily="34" charset="0"/>
              </a:rPr>
              <a:t>students, companies, and administrators</a:t>
            </a:r>
            <a:r>
              <a:rPr lang="en-US" altLang="en-US" sz="2800" dirty="0">
                <a:latin typeface="Arial" panose="020B0604020202020204" pitchFamily="34" charset="0"/>
              </a:rPr>
              <a:t> to securely  access the system.</a:t>
            </a:r>
          </a:p>
          <a:p>
            <a:pPr marL="457200" lvl="0" indent="-457200" defTabSz="914400" eaLnBrk="0" fontAlgn="base" hangingPunct="0">
              <a:spcBef>
                <a:spcPct val="0"/>
              </a:spcBef>
              <a:spcAft>
                <a:spcPct val="0"/>
              </a:spcAft>
              <a:buClrTx/>
              <a:buSzTx/>
              <a:buFont typeface="Wingdings" panose="05000000000000000000" pitchFamily="2" charset="2"/>
              <a:buChar char="v"/>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5055134"/>
      </p:ext>
    </p:extLst>
  </p:cSld>
  <p:clrMapOvr>
    <a:masterClrMapping/>
  </p:clrMapOvr>
  <p:transition spd="slow">
    <p:cover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2667000" y="190500"/>
            <a:ext cx="6837521" cy="808748"/>
          </a:xfrm>
          <a:prstGeom prst="rect">
            <a:avLst/>
          </a:prstGeom>
        </p:spPr>
        <p:txBody>
          <a:bodyPr wrap="square" lIns="0" tIns="0" rIns="0" bIns="0" rtlCol="0" anchor="t">
            <a:spAutoFit/>
          </a:bodyPr>
          <a:lstStyle/>
          <a:p>
            <a:pPr algn="l">
              <a:lnSpc>
                <a:spcPts val="6803"/>
              </a:lnSpc>
            </a:pPr>
            <a:r>
              <a:rPr lang="en-US" sz="5000" b="1" dirty="0">
                <a:latin typeface="Algerian" panose="04020705040A02060702" pitchFamily="82" charset="0"/>
                <a:ea typeface="Arimo Bold"/>
                <a:cs typeface="Arimo Bold"/>
                <a:sym typeface="Arimo Bold"/>
              </a:rPr>
              <a:t>Proposed System</a:t>
            </a:r>
          </a:p>
        </p:txBody>
      </p:sp>
      <p:sp>
        <p:nvSpPr>
          <p:cNvPr id="8" name="TextBox 8"/>
          <p:cNvSpPr txBox="1"/>
          <p:nvPr/>
        </p:nvSpPr>
        <p:spPr>
          <a:xfrm>
            <a:off x="2667000" y="1088830"/>
            <a:ext cx="7162800" cy="8766824"/>
          </a:xfrm>
          <a:prstGeom prst="rect">
            <a:avLst/>
          </a:prstGeom>
        </p:spPr>
        <p:txBody>
          <a:bodyPr wrap="square" lIns="0" tIns="0" rIns="0" bIns="0" rtlCol="0" anchor="t">
            <a:spAutoFit/>
          </a:bodyPr>
          <a:lstStyle/>
          <a:p>
            <a:pPr algn="l">
              <a:lnSpc>
                <a:spcPts val="4275"/>
              </a:lnSpc>
            </a:pPr>
            <a:r>
              <a:rPr lang="en-US" sz="2800" dirty="0">
                <a:solidFill>
                  <a:srgbClr val="000000"/>
                </a:solidFill>
                <a:latin typeface="Arial" panose="020B0604020202020204" pitchFamily="34" charset="0"/>
                <a:ea typeface="Arimo"/>
                <a:cs typeface="Arial" panose="020B0604020202020204" pitchFamily="34" charset="0"/>
                <a:sym typeface="Arimo"/>
              </a:rPr>
              <a:t>The proposed Placement Management System is a web-based centralized platform designed to automate and simplify the entire placement process.  It allows administrators, students, and recruiters to access the system from anywhere, ensuring smooth coordination among all users. The system maintains all records digitally, eliminating the need for manual paperwork and reducing the chances of errors.  It enables quick data retrieval, efficient scheduling of placement drives, and real-time communication between students and placement officers.  Overall, it enhances transparency, saves time, and improves the overall efficiency of     </a:t>
            </a:r>
          </a:p>
          <a:p>
            <a:pPr algn="l">
              <a:lnSpc>
                <a:spcPts val="4275"/>
              </a:lnSpc>
            </a:pPr>
            <a:r>
              <a:rPr lang="en-US" sz="2800" dirty="0">
                <a:solidFill>
                  <a:srgbClr val="000000"/>
                </a:solidFill>
                <a:latin typeface="Arial" panose="020B0604020202020204" pitchFamily="34" charset="0"/>
                <a:ea typeface="Arimo"/>
                <a:cs typeface="Arial" panose="020B0604020202020204" pitchFamily="34" charset="0"/>
                <a:sym typeface="Arimo"/>
              </a:rPr>
              <a:t>the placement management process.</a:t>
            </a:r>
          </a:p>
        </p:txBody>
      </p:sp>
      <p:pic>
        <p:nvPicPr>
          <p:cNvPr id="3076" name="Picture 4">
            <a:extLst>
              <a:ext uri="{FF2B5EF4-FFF2-40B4-BE49-F238E27FC236}">
                <a16:creationId xmlns:a16="http://schemas.microsoft.com/office/drawing/2014/main" id="{6B29AA22-97C9-29B5-3F53-32EB384632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9714" y="2247900"/>
            <a:ext cx="8382000" cy="6705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2590800" y="266700"/>
            <a:ext cx="6413478" cy="837602"/>
          </a:xfrm>
          <a:prstGeom prst="rect">
            <a:avLst/>
          </a:prstGeom>
        </p:spPr>
        <p:txBody>
          <a:bodyPr lIns="0" tIns="0" rIns="0" bIns="0" rtlCol="0" anchor="t">
            <a:spAutoFit/>
          </a:bodyPr>
          <a:lstStyle/>
          <a:p>
            <a:pPr algn="l">
              <a:lnSpc>
                <a:spcPts val="7068"/>
              </a:lnSpc>
            </a:pPr>
            <a:r>
              <a:rPr lang="en-US" sz="5000" b="1" dirty="0">
                <a:latin typeface="Algerian" panose="04020705040A02060702" pitchFamily="82" charset="0"/>
                <a:ea typeface="Arimo Bold"/>
                <a:cs typeface="Arimo Bold"/>
                <a:sym typeface="Arimo Bold"/>
              </a:rPr>
              <a:t>Technologies Used</a:t>
            </a:r>
          </a:p>
        </p:txBody>
      </p:sp>
      <p:sp>
        <p:nvSpPr>
          <p:cNvPr id="9" name="TextBox 9"/>
          <p:cNvSpPr txBox="1"/>
          <p:nvPr/>
        </p:nvSpPr>
        <p:spPr>
          <a:xfrm>
            <a:off x="2362200" y="1638300"/>
            <a:ext cx="14263535" cy="5458225"/>
          </a:xfrm>
          <a:prstGeom prst="rect">
            <a:avLst/>
          </a:prstGeom>
        </p:spPr>
        <p:txBody>
          <a:bodyPr wrap="square" lIns="0" tIns="0" rIns="0" bIns="0" rtlCol="0" anchor="t">
            <a:spAutoFit/>
          </a:bodyPr>
          <a:lstStyle/>
          <a:p>
            <a:pPr marL="457200" indent="-457200">
              <a:lnSpc>
                <a:spcPts val="4275"/>
              </a:lnSpc>
              <a:buFont typeface="Wingdings" panose="05000000000000000000" pitchFamily="2" charset="2"/>
              <a:buChar char="v"/>
            </a:pPr>
            <a:r>
              <a:rPr lang="en-US" sz="2800" dirty="0">
                <a:solidFill>
                  <a:srgbClr val="000000"/>
                </a:solidFill>
                <a:latin typeface="Arial"/>
                <a:ea typeface="Arial"/>
                <a:cs typeface="Arial"/>
                <a:sym typeface="Arial"/>
              </a:rPr>
              <a:t>ThePlacement Management </a:t>
            </a:r>
            <a:r>
              <a:rPr lang="en-US" sz="2800" dirty="0" err="1">
                <a:solidFill>
                  <a:srgbClr val="000000"/>
                </a:solidFill>
                <a:latin typeface="Arial"/>
                <a:ea typeface="Arial"/>
                <a:cs typeface="Arial"/>
                <a:sym typeface="Arial"/>
              </a:rPr>
              <a:t>Systemis</a:t>
            </a:r>
            <a:r>
              <a:rPr lang="en-US" sz="2800" dirty="0">
                <a:solidFill>
                  <a:srgbClr val="000000"/>
                </a:solidFill>
                <a:latin typeface="Arial"/>
                <a:ea typeface="Arial"/>
                <a:cs typeface="Arial"/>
                <a:sym typeface="Arial"/>
              </a:rPr>
              <a:t> developed using modern web technologies</a:t>
            </a:r>
          </a:p>
          <a:p>
            <a:pPr marL="457200" indent="-457200" algn="l">
              <a:lnSpc>
                <a:spcPts val="4275"/>
              </a:lnSpc>
              <a:buFont typeface="Wingdings" panose="05000000000000000000" pitchFamily="2" charset="2"/>
              <a:buChar char="v"/>
            </a:pPr>
            <a:r>
              <a:rPr lang="en-US" sz="2800" dirty="0">
                <a:solidFill>
                  <a:srgbClr val="000000"/>
                </a:solidFill>
                <a:latin typeface="Arial"/>
                <a:ea typeface="Arial"/>
                <a:cs typeface="Arial"/>
                <a:sym typeface="Arial"/>
              </a:rPr>
              <a:t>to ensure better performance, security, and user experience.  </a:t>
            </a:r>
          </a:p>
          <a:p>
            <a:pPr marL="457200" indent="-457200" algn="l">
              <a:lnSpc>
                <a:spcPts val="4275"/>
              </a:lnSpc>
              <a:buFont typeface="Wingdings" panose="05000000000000000000" pitchFamily="2" charset="2"/>
              <a:buChar char="v"/>
            </a:pPr>
            <a:r>
              <a:rPr lang="en-US" sz="2800" dirty="0">
                <a:solidFill>
                  <a:srgbClr val="000000"/>
                </a:solidFill>
                <a:latin typeface="Arial"/>
                <a:ea typeface="Arial"/>
                <a:cs typeface="Arial"/>
                <a:sym typeface="Arial"/>
              </a:rPr>
              <a:t>Frontend: HTML, CSS, and JavaScript are used to design and build an interactive and responsive user interface. </a:t>
            </a:r>
          </a:p>
          <a:p>
            <a:pPr marL="457200" indent="-457200" algn="l">
              <a:lnSpc>
                <a:spcPts val="4275"/>
              </a:lnSpc>
              <a:buFont typeface="Wingdings" panose="05000000000000000000" pitchFamily="2" charset="2"/>
              <a:buChar char="v"/>
            </a:pPr>
            <a:r>
              <a:rPr lang="en-US" sz="2800" dirty="0">
                <a:solidFill>
                  <a:srgbClr val="000000"/>
                </a:solidFill>
                <a:latin typeface="Arial"/>
                <a:ea typeface="Arial"/>
                <a:cs typeface="Arial"/>
                <a:sym typeface="Arial"/>
              </a:rPr>
              <a:t>Backend: PHP / Python / Node.js is used to handle server-side logic, data processing, and communication with the database.</a:t>
            </a:r>
          </a:p>
          <a:p>
            <a:pPr marL="457200" indent="-457200" algn="l">
              <a:lnSpc>
                <a:spcPts val="4275"/>
              </a:lnSpc>
              <a:buFont typeface="Wingdings" panose="05000000000000000000" pitchFamily="2" charset="2"/>
              <a:buChar char="v"/>
            </a:pPr>
            <a:r>
              <a:rPr lang="en-US" sz="2800" dirty="0">
                <a:solidFill>
                  <a:srgbClr val="000000"/>
                </a:solidFill>
                <a:latin typeface="Arial"/>
                <a:ea typeface="Arial"/>
                <a:cs typeface="Arial"/>
                <a:sym typeface="Arial"/>
              </a:rPr>
              <a:t> Database: MySQL is used to store and manage all records, including student, company, and placement information securely. </a:t>
            </a:r>
          </a:p>
          <a:p>
            <a:pPr marL="457200" indent="-457200" algn="l">
              <a:lnSpc>
                <a:spcPts val="4275"/>
              </a:lnSpc>
              <a:buFont typeface="Wingdings" panose="05000000000000000000" pitchFamily="2" charset="2"/>
              <a:buChar char="v"/>
            </a:pPr>
            <a:r>
              <a:rPr lang="en-US" sz="2800" dirty="0">
                <a:solidFill>
                  <a:srgbClr val="000000"/>
                </a:solidFill>
                <a:latin typeface="Arial"/>
                <a:ea typeface="Arial"/>
                <a:cs typeface="Arial"/>
                <a:sym typeface="Arial"/>
              </a:rPr>
              <a:t>Tools &amp; Environment: XAMPP is used for local server setup, Visual Studio Code for development, and any modern web browser for testing and accessing the system.</a:t>
            </a:r>
          </a:p>
        </p:txBody>
      </p:sp>
    </p:spTree>
  </p:cSld>
  <p:clrMapOvr>
    <a:masterClrMapping/>
  </p:clrMapOvr>
  <p:transition spd="slow">
    <p:plus/>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4"/>
          <p:cNvSpPr txBox="1"/>
          <p:nvPr/>
        </p:nvSpPr>
        <p:spPr>
          <a:xfrm>
            <a:off x="2364489" y="266700"/>
            <a:ext cx="6791801" cy="818366"/>
          </a:xfrm>
          <a:prstGeom prst="rect">
            <a:avLst/>
          </a:prstGeom>
        </p:spPr>
        <p:txBody>
          <a:bodyPr wrap="square" lIns="0" tIns="0" rIns="0" bIns="0" rtlCol="0" anchor="t">
            <a:spAutoFit/>
          </a:bodyPr>
          <a:lstStyle/>
          <a:p>
            <a:pPr algn="l">
              <a:lnSpc>
                <a:spcPts val="6858"/>
              </a:lnSpc>
            </a:pPr>
            <a:r>
              <a:rPr lang="en-US" sz="5000" dirty="0">
                <a:latin typeface="Algerian" panose="04020705040A02060702" pitchFamily="82" charset="0"/>
                <a:ea typeface="Arimo Bold"/>
                <a:cs typeface="Arimo Bold"/>
                <a:sym typeface="Arimo Bold"/>
              </a:rPr>
              <a:t>Database Design</a:t>
            </a:r>
          </a:p>
        </p:txBody>
      </p:sp>
      <p:sp>
        <p:nvSpPr>
          <p:cNvPr id="17" name="TextBox 16">
            <a:extLst>
              <a:ext uri="{FF2B5EF4-FFF2-40B4-BE49-F238E27FC236}">
                <a16:creationId xmlns:a16="http://schemas.microsoft.com/office/drawing/2014/main" id="{52AB8ACA-7D01-1083-A789-B1312CA0D143}"/>
              </a:ext>
            </a:extLst>
          </p:cNvPr>
          <p:cNvSpPr txBox="1"/>
          <p:nvPr/>
        </p:nvSpPr>
        <p:spPr>
          <a:xfrm>
            <a:off x="1981200" y="1562100"/>
            <a:ext cx="15316200" cy="8141011"/>
          </a:xfrm>
          <a:prstGeom prst="rect">
            <a:avLst/>
          </a:prstGeom>
          <a:noFill/>
        </p:spPr>
        <p:txBody>
          <a:bodyPr wrap="square" rtlCol="0">
            <a:spAutoFit/>
          </a:bodyPr>
          <a:lstStyle/>
          <a:p>
            <a:pPr marL="457200" indent="-457200" algn="just">
              <a:lnSpc>
                <a:spcPts val="3450"/>
              </a:lnSpc>
              <a:buFont typeface="Wingdings" panose="05000000000000000000" pitchFamily="2" charset="2"/>
              <a:buChar char="v"/>
            </a:pPr>
            <a:r>
              <a:rPr lang="en-US" sz="2800" b="1" dirty="0">
                <a:solidFill>
                  <a:srgbClr val="000000"/>
                </a:solidFill>
                <a:latin typeface="Arial" panose="020B0604020202020204" pitchFamily="34" charset="0"/>
                <a:ea typeface="Arimo"/>
                <a:cs typeface="Arial" panose="020B0604020202020204" pitchFamily="34" charset="0"/>
                <a:sym typeface="Arimo"/>
              </a:rPr>
              <a:t>The database design: </a:t>
            </a:r>
            <a:r>
              <a:rPr lang="en-US" sz="2800" dirty="0">
                <a:solidFill>
                  <a:srgbClr val="000000"/>
                </a:solidFill>
                <a:latin typeface="Arial" panose="020B0604020202020204" pitchFamily="34" charset="0"/>
                <a:ea typeface="Arimo"/>
                <a:cs typeface="Arial" panose="020B0604020202020204" pitchFamily="34" charset="0"/>
                <a:sym typeface="Arimo"/>
              </a:rPr>
              <a:t>of the Placement Management System defines the structure and relationships among key entities to ensure smooth data storage and retrieval. </a:t>
            </a:r>
          </a:p>
          <a:p>
            <a:pPr marL="457200" indent="-457200" algn="just">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a:p>
            <a:pPr marL="457200" indent="-457200" algn="just">
              <a:lnSpc>
                <a:spcPts val="3450"/>
              </a:lnSpc>
              <a:buFont typeface="Wingdings" panose="05000000000000000000" pitchFamily="2" charset="2"/>
              <a:buChar char="v"/>
            </a:pPr>
            <a:r>
              <a:rPr lang="en-US" sz="2800" b="1" dirty="0">
                <a:solidFill>
                  <a:srgbClr val="000000"/>
                </a:solidFill>
                <a:latin typeface="Arial" panose="020B0604020202020204" pitchFamily="34" charset="0"/>
                <a:ea typeface="Arimo Bold"/>
                <a:cs typeface="Arial" panose="020B0604020202020204" pitchFamily="34" charset="0"/>
                <a:sym typeface="Arimo Bold"/>
              </a:rPr>
              <a:t>Student: </a:t>
            </a:r>
            <a:r>
              <a:rPr lang="en-US" sz="2800" dirty="0">
                <a:solidFill>
                  <a:srgbClr val="000000"/>
                </a:solidFill>
                <a:latin typeface="Arial" panose="020B0604020202020204" pitchFamily="34" charset="0"/>
                <a:ea typeface="Arimo"/>
                <a:cs typeface="Arial" panose="020B0604020202020204" pitchFamily="34" charset="0"/>
                <a:sym typeface="Arimo"/>
              </a:rPr>
              <a:t>Stores student details such as name, roll number, department, CGPA, and skills.</a:t>
            </a:r>
          </a:p>
          <a:p>
            <a:pPr marL="457200" indent="-457200" algn="just">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a:p>
            <a:pPr marL="457200" indent="-457200" algn="just">
              <a:lnSpc>
                <a:spcPts val="3450"/>
              </a:lnSpc>
              <a:buFont typeface="Wingdings" panose="05000000000000000000" pitchFamily="2" charset="2"/>
              <a:buChar char="v"/>
            </a:pPr>
            <a:r>
              <a:rPr lang="en-US" sz="2800" dirty="0">
                <a:solidFill>
                  <a:srgbClr val="000000"/>
                </a:solidFill>
                <a:latin typeface="Arial" panose="020B0604020202020204" pitchFamily="34" charset="0"/>
                <a:ea typeface="Arimo"/>
                <a:cs typeface="Arial" panose="020B0604020202020204" pitchFamily="34" charset="0"/>
                <a:sym typeface="Arimo"/>
              </a:rPr>
              <a:t> </a:t>
            </a:r>
            <a:r>
              <a:rPr lang="en-US" sz="2800" b="1" dirty="0">
                <a:solidFill>
                  <a:srgbClr val="000000"/>
                </a:solidFill>
                <a:latin typeface="Arial" panose="020B0604020202020204" pitchFamily="34" charset="0"/>
                <a:ea typeface="Arimo Bold"/>
                <a:cs typeface="Arial" panose="020B0604020202020204" pitchFamily="34" charset="0"/>
                <a:sym typeface="Arimo Bold"/>
              </a:rPr>
              <a:t>Company:</a:t>
            </a:r>
            <a:r>
              <a:rPr lang="en-US" sz="2800" dirty="0">
                <a:solidFill>
                  <a:srgbClr val="000000"/>
                </a:solidFill>
                <a:latin typeface="Arial" panose="020B0604020202020204" pitchFamily="34" charset="0"/>
                <a:ea typeface="Arimo"/>
                <a:cs typeface="Arial" panose="020B0604020202020204" pitchFamily="34" charset="0"/>
                <a:sym typeface="Arimo"/>
              </a:rPr>
              <a:t> Contains information about companies, job roles, and eligibility criteria.</a:t>
            </a:r>
          </a:p>
          <a:p>
            <a:pPr marL="457200" indent="-457200" algn="just">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a:p>
            <a:pPr marL="457200" indent="-457200" algn="just">
              <a:lnSpc>
                <a:spcPts val="3450"/>
              </a:lnSpc>
              <a:buFont typeface="Wingdings" panose="05000000000000000000" pitchFamily="2" charset="2"/>
              <a:buChar char="v"/>
            </a:pPr>
            <a:r>
              <a:rPr lang="en-US" sz="2800" dirty="0">
                <a:solidFill>
                  <a:srgbClr val="000000"/>
                </a:solidFill>
                <a:latin typeface="Arial" panose="020B0604020202020204" pitchFamily="34" charset="0"/>
                <a:ea typeface="Arimo"/>
                <a:cs typeface="Arial" panose="020B0604020202020204" pitchFamily="34" charset="0"/>
                <a:sym typeface="Arimo"/>
              </a:rPr>
              <a:t> </a:t>
            </a:r>
            <a:r>
              <a:rPr lang="en-US" sz="2800" b="1" dirty="0">
                <a:solidFill>
                  <a:srgbClr val="000000"/>
                </a:solidFill>
                <a:latin typeface="Arial" panose="020B0604020202020204" pitchFamily="34" charset="0"/>
                <a:ea typeface="Arimo Bold"/>
                <a:cs typeface="Arial" panose="020B0604020202020204" pitchFamily="34" charset="0"/>
                <a:sym typeface="Arimo Bold"/>
              </a:rPr>
              <a:t>Placement:</a:t>
            </a:r>
            <a:r>
              <a:rPr lang="en-US" sz="2800" dirty="0">
                <a:solidFill>
                  <a:srgbClr val="000000"/>
                </a:solidFill>
                <a:latin typeface="Arial" panose="020B0604020202020204" pitchFamily="34" charset="0"/>
                <a:ea typeface="Arimo"/>
                <a:cs typeface="Arial" panose="020B0604020202020204" pitchFamily="34" charset="0"/>
                <a:sym typeface="Arimo"/>
              </a:rPr>
              <a:t> Records details of placement drives, interview schedules, and results.</a:t>
            </a:r>
          </a:p>
          <a:p>
            <a:pPr marL="457200" indent="-457200" algn="just">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a:p>
            <a:pPr marL="457200" indent="-457200" algn="just">
              <a:lnSpc>
                <a:spcPts val="3450"/>
              </a:lnSpc>
              <a:buFont typeface="Wingdings" panose="05000000000000000000" pitchFamily="2" charset="2"/>
              <a:buChar char="v"/>
            </a:pPr>
            <a:r>
              <a:rPr lang="en-US" sz="2800" b="1" dirty="0">
                <a:solidFill>
                  <a:srgbClr val="000000"/>
                </a:solidFill>
                <a:latin typeface="Arial" panose="020B0604020202020204" pitchFamily="34" charset="0"/>
                <a:ea typeface="Arimo Bold"/>
                <a:cs typeface="Arial" panose="020B0604020202020204" pitchFamily="34" charset="0"/>
                <a:sym typeface="Arimo Bold"/>
              </a:rPr>
              <a:t> Admin:</a:t>
            </a:r>
            <a:r>
              <a:rPr lang="en-US" sz="2800" dirty="0">
                <a:solidFill>
                  <a:srgbClr val="000000"/>
                </a:solidFill>
                <a:latin typeface="Arial" panose="020B0604020202020204" pitchFamily="34" charset="0"/>
                <a:ea typeface="Arimo"/>
                <a:cs typeface="Arial" panose="020B0604020202020204" pitchFamily="34" charset="0"/>
                <a:sym typeface="Arimo"/>
              </a:rPr>
              <a:t> Manages all operations, including student, company, and placement data.</a:t>
            </a:r>
          </a:p>
          <a:p>
            <a:pPr marL="457200" indent="-457200" algn="just">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a:p>
            <a:pPr marL="457200" indent="-457200" algn="just">
              <a:lnSpc>
                <a:spcPts val="3450"/>
              </a:lnSpc>
              <a:buFont typeface="Wingdings" panose="05000000000000000000" pitchFamily="2" charset="2"/>
              <a:buChar char="v"/>
            </a:pPr>
            <a:r>
              <a:rPr lang="en-US" sz="2800" b="1" dirty="0">
                <a:solidFill>
                  <a:srgbClr val="000000"/>
                </a:solidFill>
                <a:latin typeface="Arial" panose="020B0604020202020204" pitchFamily="34" charset="0"/>
                <a:ea typeface="Arimo Bold"/>
                <a:cs typeface="Arial" panose="020B0604020202020204" pitchFamily="34" charset="0"/>
                <a:sym typeface="Arimo Bold"/>
              </a:rPr>
              <a:t>Relationships: Student → Placement (Many-to-One):</a:t>
            </a:r>
            <a:r>
              <a:rPr lang="en-US" sz="2800" dirty="0">
                <a:solidFill>
                  <a:srgbClr val="000000"/>
                </a:solidFill>
                <a:latin typeface="Arial" panose="020B0604020202020204" pitchFamily="34" charset="0"/>
                <a:ea typeface="Arimo"/>
                <a:cs typeface="Arial" panose="020B0604020202020204" pitchFamily="34" charset="0"/>
                <a:sym typeface="Arimo"/>
              </a:rPr>
              <a:t> Multiple students can participate in a single placement drive. </a:t>
            </a:r>
          </a:p>
          <a:p>
            <a:pPr marL="457200" indent="-457200" algn="just">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a:p>
            <a:pPr marL="457200" indent="-457200" algn="just">
              <a:lnSpc>
                <a:spcPts val="3450"/>
              </a:lnSpc>
              <a:buFont typeface="Wingdings" panose="05000000000000000000" pitchFamily="2" charset="2"/>
              <a:buChar char="v"/>
            </a:pPr>
            <a:r>
              <a:rPr lang="en-US" sz="2800" b="1" dirty="0">
                <a:solidFill>
                  <a:srgbClr val="000000"/>
                </a:solidFill>
                <a:latin typeface="Arial" panose="020B0604020202020204" pitchFamily="34" charset="0"/>
                <a:ea typeface="Arimo Bold"/>
                <a:cs typeface="Arial" panose="020B0604020202020204" pitchFamily="34" charset="0"/>
                <a:sym typeface="Arimo Bold"/>
              </a:rPr>
              <a:t>Company → Placement (One-to-Many):</a:t>
            </a:r>
            <a:r>
              <a:rPr lang="en-US" sz="2800" dirty="0">
                <a:solidFill>
                  <a:srgbClr val="000000"/>
                </a:solidFill>
                <a:latin typeface="Arial" panose="020B0604020202020204" pitchFamily="34" charset="0"/>
                <a:ea typeface="Arimo"/>
                <a:cs typeface="Arial" panose="020B0604020202020204" pitchFamily="34" charset="0"/>
                <a:sym typeface="Arimo"/>
              </a:rPr>
              <a:t> A single company can organize multiple placement drives. This structure ensures efficient data management and supports quick access to placement-related information</a:t>
            </a:r>
          </a:p>
          <a:p>
            <a:pPr marL="457200" indent="-457200" algn="just">
              <a:lnSpc>
                <a:spcPts val="3450"/>
              </a:lnSpc>
              <a:buFont typeface="Wingdings" panose="05000000000000000000" pitchFamily="2" charset="2"/>
              <a:buChar char="v"/>
            </a:pPr>
            <a:endParaRPr lang="en-US" sz="2800" dirty="0">
              <a:solidFill>
                <a:srgbClr val="000000"/>
              </a:solidFill>
              <a:latin typeface="Arial" panose="020B0604020202020204" pitchFamily="34" charset="0"/>
              <a:ea typeface="Arimo"/>
              <a:cs typeface="Arial" panose="020B0604020202020204" pitchFamily="34" charset="0"/>
              <a:sym typeface="Arimo"/>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2209800" y="266700"/>
            <a:ext cx="5560647" cy="888641"/>
          </a:xfrm>
          <a:prstGeom prst="rect">
            <a:avLst/>
          </a:prstGeom>
        </p:spPr>
        <p:txBody>
          <a:bodyPr lIns="0" tIns="0" rIns="0" bIns="0" rtlCol="0" anchor="t">
            <a:spAutoFit/>
          </a:bodyPr>
          <a:lstStyle/>
          <a:p>
            <a:pPr algn="l">
              <a:lnSpc>
                <a:spcPts val="7559"/>
              </a:lnSpc>
            </a:pPr>
            <a:r>
              <a:rPr lang="en-US" sz="5000" b="1" dirty="0">
                <a:latin typeface="Algerian" panose="04020705040A02060702" pitchFamily="82" charset="0"/>
                <a:ea typeface="Arimo Bold"/>
                <a:cs typeface="Arimo Bold"/>
                <a:sym typeface="Arimo Bold"/>
              </a:rPr>
              <a:t>Screens / Pages </a:t>
            </a:r>
          </a:p>
        </p:txBody>
      </p:sp>
      <p:sp>
        <p:nvSpPr>
          <p:cNvPr id="9" name="TextBox 9"/>
          <p:cNvSpPr txBox="1"/>
          <p:nvPr/>
        </p:nvSpPr>
        <p:spPr>
          <a:xfrm>
            <a:off x="2258961" y="1866900"/>
            <a:ext cx="14025162" cy="3916137"/>
          </a:xfrm>
          <a:prstGeom prst="rect">
            <a:avLst/>
          </a:prstGeom>
        </p:spPr>
        <p:txBody>
          <a:bodyPr lIns="0" tIns="0" rIns="0" bIns="0" rtlCol="0" anchor="t">
            <a:spAutoFit/>
          </a:bodyPr>
          <a:lstStyle/>
          <a:p>
            <a:pPr algn="l">
              <a:lnSpc>
                <a:spcPts val="5175"/>
              </a:lnSpc>
            </a:pPr>
            <a:r>
              <a:rPr lang="en-US" sz="2800" dirty="0">
                <a:solidFill>
                  <a:srgbClr val="000000"/>
                </a:solidFill>
                <a:latin typeface="Arial" panose="020B0604020202020204" pitchFamily="34" charset="0"/>
                <a:ea typeface="Arimo"/>
                <a:cs typeface="Arial" panose="020B0604020202020204" pitchFamily="34" charset="0"/>
                <a:sym typeface="Arimo"/>
              </a:rPr>
              <a:t>The Placement Management System includes the following main pages Login Page. Allows admin, students, and companies to log in securely. </a:t>
            </a:r>
          </a:p>
          <a:p>
            <a:pPr algn="l">
              <a:lnSpc>
                <a:spcPts val="5175"/>
              </a:lnSpc>
            </a:pPr>
            <a:r>
              <a:rPr lang="en-US" sz="2800" dirty="0">
                <a:solidFill>
                  <a:srgbClr val="000000"/>
                </a:solidFill>
                <a:latin typeface="Arial" panose="020B0604020202020204" pitchFamily="34" charset="0"/>
                <a:ea typeface="Arimo"/>
                <a:cs typeface="Arial" panose="020B0604020202020204" pitchFamily="34" charset="0"/>
                <a:sym typeface="Arimo"/>
              </a:rPr>
              <a:t>Dashboard Page – Displays quick access to modules and key information. </a:t>
            </a:r>
          </a:p>
          <a:p>
            <a:pPr algn="l">
              <a:lnSpc>
                <a:spcPts val="5175"/>
              </a:lnSpc>
            </a:pPr>
            <a:r>
              <a:rPr lang="en-US" sz="2800" dirty="0">
                <a:solidFill>
                  <a:srgbClr val="000000"/>
                </a:solidFill>
                <a:latin typeface="Arial" panose="020B0604020202020204" pitchFamily="34" charset="0"/>
                <a:ea typeface="Arimo"/>
                <a:cs typeface="Arial" panose="020B0604020202020204" pitchFamily="34" charset="0"/>
                <a:sym typeface="Arimo"/>
              </a:rPr>
              <a:t>Student Profile Page – Shows student details, eligibility, and applied jobs.</a:t>
            </a:r>
          </a:p>
          <a:p>
            <a:pPr algn="l">
              <a:lnSpc>
                <a:spcPts val="5175"/>
              </a:lnSpc>
            </a:pPr>
            <a:r>
              <a:rPr lang="en-US" sz="2800" dirty="0">
                <a:solidFill>
                  <a:srgbClr val="000000"/>
                </a:solidFill>
                <a:latin typeface="Arial" panose="020B0604020202020204" pitchFamily="34" charset="0"/>
                <a:ea typeface="Arimo"/>
                <a:cs typeface="Arial" panose="020B0604020202020204" pitchFamily="34" charset="0"/>
                <a:sym typeface="Arimo"/>
              </a:rPr>
              <a:t> Company Registration Page – Lets companies register and post job openings. Placement Drive Page – Displays upcoming drives, schedules, and results.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E0330A-4B78-EE7F-C431-8FD46EFEC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070759" y="267662"/>
            <a:ext cx="4368641" cy="808748"/>
          </a:xfrm>
          <a:prstGeom prst="rect">
            <a:avLst/>
          </a:prstGeom>
        </p:spPr>
        <p:txBody>
          <a:bodyPr wrap="square" lIns="0" tIns="0" rIns="0" bIns="0" rtlCol="0" anchor="t">
            <a:spAutoFit/>
          </a:bodyPr>
          <a:lstStyle/>
          <a:p>
            <a:pPr algn="l">
              <a:lnSpc>
                <a:spcPts val="6803"/>
              </a:lnSpc>
            </a:pPr>
            <a:r>
              <a:rPr lang="en-US" sz="5000" b="1" dirty="0">
                <a:latin typeface="Algerian" panose="04020705040A02060702" pitchFamily="82" charset="0"/>
                <a:ea typeface="Arimo Bold"/>
                <a:cs typeface="Arimo Bold"/>
                <a:sym typeface="Arimo Bold"/>
              </a:rPr>
              <a:t>Conclusion</a:t>
            </a:r>
          </a:p>
        </p:txBody>
      </p:sp>
      <p:sp>
        <p:nvSpPr>
          <p:cNvPr id="3" name="TextBox 3"/>
          <p:cNvSpPr txBox="1"/>
          <p:nvPr/>
        </p:nvSpPr>
        <p:spPr>
          <a:xfrm>
            <a:off x="1805940" y="2004079"/>
            <a:ext cx="14418316" cy="4063613"/>
          </a:xfrm>
          <a:prstGeom prst="rect">
            <a:avLst/>
          </a:prstGeom>
        </p:spPr>
        <p:txBody>
          <a:bodyPr lIns="0" tIns="0" rIns="0" bIns="0" rtlCol="0" anchor="t">
            <a:spAutoFit/>
          </a:bodyPr>
          <a:lstStyle/>
          <a:p>
            <a:pPr marL="457200" indent="-457200" algn="l">
              <a:lnSpc>
                <a:spcPts val="4576"/>
              </a:lnSpc>
              <a:buFont typeface="Wingdings" panose="05000000000000000000" pitchFamily="2" charset="2"/>
              <a:buChar char="v"/>
            </a:pPr>
            <a:r>
              <a:rPr lang="en-US" sz="2800" dirty="0">
                <a:solidFill>
                  <a:srgbClr val="000000"/>
                </a:solidFill>
                <a:latin typeface="Arial" panose="020B0604020202020204" pitchFamily="34" charset="0"/>
                <a:ea typeface="Arimo"/>
                <a:cs typeface="Arial" panose="020B0604020202020204" pitchFamily="34" charset="0"/>
                <a:sym typeface="Arimo"/>
              </a:rPr>
              <a:t>The </a:t>
            </a:r>
            <a:r>
              <a:rPr lang="en-US" sz="2800" b="1" dirty="0">
                <a:solidFill>
                  <a:srgbClr val="000000"/>
                </a:solidFill>
                <a:latin typeface="Arial" panose="020B0604020202020204" pitchFamily="34" charset="0"/>
                <a:ea typeface="Arimo Bold"/>
                <a:cs typeface="Arial" panose="020B0604020202020204" pitchFamily="34" charset="0"/>
                <a:sym typeface="Arimo Bold"/>
              </a:rPr>
              <a:t>Placement Management System</a:t>
            </a:r>
            <a:r>
              <a:rPr lang="en-US" sz="2800" dirty="0">
                <a:solidFill>
                  <a:srgbClr val="000000"/>
                </a:solidFill>
                <a:latin typeface="Arial" panose="020B0604020202020204" pitchFamily="34" charset="0"/>
                <a:ea typeface="Arimo"/>
                <a:cs typeface="Arial" panose="020B0604020202020204" pitchFamily="34" charset="0"/>
                <a:sym typeface="Arimo"/>
              </a:rPr>
              <a:t> simplifies and automates the entire campus recruitment process. </a:t>
            </a:r>
          </a:p>
          <a:p>
            <a:pPr marL="457200" indent="-457200" algn="l">
              <a:lnSpc>
                <a:spcPts val="4576"/>
              </a:lnSpc>
              <a:buFont typeface="Wingdings" panose="05000000000000000000" pitchFamily="2" charset="2"/>
              <a:buChar char="v"/>
            </a:pPr>
            <a:r>
              <a:rPr lang="en-US" sz="2800" dirty="0">
                <a:solidFill>
                  <a:srgbClr val="000000"/>
                </a:solidFill>
                <a:latin typeface="Arial" panose="020B0604020202020204" pitchFamily="34" charset="0"/>
                <a:ea typeface="Arimo"/>
                <a:cs typeface="Arial" panose="020B0604020202020204" pitchFamily="34" charset="0"/>
                <a:sym typeface="Arimo"/>
              </a:rPr>
              <a:t>It ensures transparency, efficiency, and easy accessibility for students, companies, and administrators. </a:t>
            </a:r>
          </a:p>
          <a:p>
            <a:pPr marL="457200" indent="-457200" algn="l">
              <a:lnSpc>
                <a:spcPts val="4576"/>
              </a:lnSpc>
              <a:buFont typeface="Wingdings" panose="05000000000000000000" pitchFamily="2" charset="2"/>
              <a:buChar char="v"/>
            </a:pPr>
            <a:r>
              <a:rPr lang="en-US" sz="2800" b="1" dirty="0">
                <a:solidFill>
                  <a:srgbClr val="000000"/>
                </a:solidFill>
                <a:latin typeface="Arial" panose="020B0604020202020204" pitchFamily="34" charset="0"/>
                <a:ea typeface="Arimo Bold"/>
                <a:cs typeface="Arial" panose="020B0604020202020204" pitchFamily="34" charset="0"/>
                <a:sym typeface="Arimo Bold"/>
              </a:rPr>
              <a:t>Future Scope: </a:t>
            </a:r>
            <a:r>
              <a:rPr lang="en-US" sz="2800" dirty="0">
                <a:solidFill>
                  <a:srgbClr val="000000"/>
                </a:solidFill>
                <a:latin typeface="Arial" panose="020B0604020202020204" pitchFamily="34" charset="0"/>
                <a:ea typeface="Arimo"/>
                <a:cs typeface="Arial" panose="020B0604020202020204" pitchFamily="34" charset="0"/>
                <a:sym typeface="Arimo"/>
              </a:rPr>
              <a:t>Integration of a mobile application for better accessibility. Implementation of AI-based job recommendations for students. </a:t>
            </a:r>
          </a:p>
          <a:p>
            <a:pPr marL="457200" indent="-457200" algn="l">
              <a:lnSpc>
                <a:spcPts val="4576"/>
              </a:lnSpc>
              <a:buFont typeface="Wingdings" panose="05000000000000000000" pitchFamily="2" charset="2"/>
              <a:buChar char="v"/>
            </a:pPr>
            <a:r>
              <a:rPr lang="en-US" sz="2800" dirty="0">
                <a:solidFill>
                  <a:srgbClr val="000000"/>
                </a:solidFill>
                <a:latin typeface="Arial" panose="020B0604020202020204" pitchFamily="34" charset="0"/>
                <a:ea typeface="Arimo"/>
                <a:cs typeface="Arial" panose="020B0604020202020204" pitchFamily="34" charset="0"/>
                <a:sym typeface="Arimo"/>
              </a:rPr>
              <a:t>Real-time notifications and analytics for improved decision-making.</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9025B5-28F2-6DDB-FDFA-0794FF027ECC}"/>
              </a:ext>
            </a:extLst>
          </p:cNvPr>
          <p:cNvSpPr/>
          <p:nvPr/>
        </p:nvSpPr>
        <p:spPr>
          <a:xfrm>
            <a:off x="4267200" y="3238500"/>
            <a:ext cx="8686798" cy="4339650"/>
          </a:xfrm>
          <a:prstGeom prst="rect">
            <a:avLst/>
          </a:prstGeom>
          <a:noFill/>
        </p:spPr>
        <p:txBody>
          <a:bodyPr wrap="square" lIns="91440" tIns="45720" rIns="91440" bIns="45720">
            <a:spAutoFit/>
          </a:bodyPr>
          <a:lstStyle/>
          <a:p>
            <a:pPr algn="ctr"/>
            <a:r>
              <a:rPr lang="en-US" sz="13800" dirty="0">
                <a:ln w="0"/>
                <a:effectLst>
                  <a:reflection blurRad="6350" stA="53000" endA="300" endPos="35500" dir="5400000" sy="-90000" algn="bl" rotWithShape="0"/>
                </a:effectLst>
                <a:latin typeface="Algerian" panose="04020705040A02060702" pitchFamily="82" charset="0"/>
                <a:ea typeface="Arial MT Pro"/>
                <a:cs typeface="Arial MT Pro"/>
                <a:sym typeface="Arial MT Pro"/>
              </a:rPr>
              <a:t>Thank You</a:t>
            </a:r>
            <a:endParaRPr lang="en-IN" sz="13800" dirty="0">
              <a:ln w="0"/>
              <a:effectLst>
                <a:reflection blurRad="6350" stA="53000" endA="300" endPos="35500" dir="5400000" sy="-90000" algn="bl" rotWithShape="0"/>
              </a:effectLst>
              <a:latin typeface="Algerian" panose="04020705040A02060702" pitchFamily="82" charset="0"/>
            </a:endParaRPr>
          </a:p>
        </p:txBody>
      </p:sp>
      <p:sp>
        <p:nvSpPr>
          <p:cNvPr id="4" name="Freeform 4"/>
          <p:cNvSpPr/>
          <p:nvPr/>
        </p:nvSpPr>
        <p:spPr>
          <a:xfrm>
            <a:off x="152400" y="266700"/>
            <a:ext cx="7162800" cy="3599304"/>
          </a:xfrm>
          <a:custGeom>
            <a:avLst/>
            <a:gdLst/>
            <a:ahLst/>
            <a:cxnLst/>
            <a:rect l="l" t="t" r="r" b="b"/>
            <a:pathLst>
              <a:path w="8494949" h="4780032">
                <a:moveTo>
                  <a:pt x="0" y="0"/>
                </a:moveTo>
                <a:lnTo>
                  <a:pt x="8494949" y="0"/>
                </a:lnTo>
                <a:lnTo>
                  <a:pt x="8494949" y="4780032"/>
                </a:lnTo>
                <a:lnTo>
                  <a:pt x="0" y="4780032"/>
                </a:lnTo>
                <a:lnTo>
                  <a:pt x="0" y="0"/>
                </a:lnTo>
                <a:close/>
              </a:path>
            </a:pathLst>
          </a:custGeom>
          <a:blipFill>
            <a:blip r:embed="rId2">
              <a:extLst>
                <a:ext uri="{96DAC541-7B7A-43D3-8B79-37D633B846F1}">
                  <asvg:svgBlip xmlns:asvg="http://schemas.microsoft.com/office/drawing/2016/SVG/main" r:embed="rId3"/>
                </a:ext>
              </a:extLst>
            </a:blip>
            <a:stretch>
              <a:fillRect t="-107" b="-107"/>
            </a:stretch>
          </a:blipFill>
        </p:spPr>
        <p:txBody>
          <a:bodyPr/>
          <a:lstStyle/>
          <a:p>
            <a:endParaRPr lang="en-IN"/>
          </a:p>
        </p:txBody>
      </p:sp>
      <p:sp>
        <p:nvSpPr>
          <p:cNvPr id="2" name="Freeform 2"/>
          <p:cNvSpPr/>
          <p:nvPr/>
        </p:nvSpPr>
        <p:spPr>
          <a:xfrm>
            <a:off x="11049000" y="6819900"/>
            <a:ext cx="7065891" cy="3315478"/>
          </a:xfrm>
          <a:custGeom>
            <a:avLst/>
            <a:gdLst/>
            <a:ahLst/>
            <a:cxnLst/>
            <a:rect l="l" t="t" r="r" b="b"/>
            <a:pathLst>
              <a:path w="8494949" h="4780032">
                <a:moveTo>
                  <a:pt x="0" y="0"/>
                </a:moveTo>
                <a:lnTo>
                  <a:pt x="8494949" y="0"/>
                </a:lnTo>
                <a:lnTo>
                  <a:pt x="8494949" y="4780032"/>
                </a:lnTo>
                <a:lnTo>
                  <a:pt x="0" y="4780032"/>
                </a:lnTo>
                <a:lnTo>
                  <a:pt x="0" y="0"/>
                </a:lnTo>
                <a:close/>
              </a:path>
            </a:pathLst>
          </a:custGeom>
          <a:blipFill>
            <a:blip r:embed="rId2">
              <a:extLst>
                <a:ext uri="{96DAC541-7B7A-43D3-8B79-37D633B846F1}">
                  <asvg:svgBlip xmlns:asvg="http://schemas.microsoft.com/office/drawing/2016/SVG/main" r:embed="rId3"/>
                </a:ext>
              </a:extLst>
            </a:blip>
            <a:stretch>
              <a:fillRect t="-107" b="-107"/>
            </a:stretch>
          </a:blipFill>
        </p:spPr>
        <p:txBody>
          <a:bodyPr/>
          <a:lstStyle/>
          <a:p>
            <a:endParaRPr lang="en-IN"/>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151</TotalTime>
  <Words>969</Words>
  <Application>Microsoft Office PowerPoint</Application>
  <PresentationFormat>Custom</PresentationFormat>
  <Paragraphs>100</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 Black</vt:lpstr>
      <vt:lpstr>Arimo Bold</vt:lpstr>
      <vt:lpstr>Corbel</vt:lpstr>
      <vt:lpstr>Algerian</vt:lpstr>
      <vt:lpstr>Wingdings</vt:lpstr>
      <vt:lpstr>Arimo</vt:lpstr>
      <vt:lpstr>Arial</vt:lpstr>
      <vt:lpstr>Parallax</vt:lpstr>
      <vt:lpstr>PowerPoint Presentation</vt:lpstr>
      <vt:lpstr>INTRODUCTION</vt:lpstr>
      <vt:lpstr>PowerPoint Presentation</vt:lpstr>
      <vt:lpstr>PowerPoint Presentation</vt:lpstr>
      <vt:lpstr>PowerPoint Presentation</vt:lpstr>
      <vt:lpstr>Login and Registration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DOC-20251106-WA0012.</dc:title>
  <dc:creator>yaswanth</dc:creator>
  <cp:lastModifiedBy>HUZAIFA</cp:lastModifiedBy>
  <cp:revision>5</cp:revision>
  <dcterms:created xsi:type="dcterms:W3CDTF">2006-08-16T00:00:00Z</dcterms:created>
  <dcterms:modified xsi:type="dcterms:W3CDTF">2025-11-21T15:13:41Z</dcterms:modified>
  <dc:identifier>DAG373Swalo</dc:identifier>
</cp:coreProperties>
</file>