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9" r:id="rId15"/>
    <p:sldId id="268" r:id="rId16"/>
    <p:sldId id="270"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ctrTitle"/>
          </p:nvPr>
        </p:nvSpPr>
        <p:spPr/>
        <p:txBody>
          <a:bodyPr>
            <a:noAutofit/>
          </a:bodyPr>
          <a:lstStyle/>
          <a:p>
            <a:r>
              <a:rPr sz="6600" b="1">
                <a:solidFill>
                  <a:srgbClr val="5A3C28"/>
                </a:solidFill>
                <a:latin typeface="Segoe UI" panose="020B0502040204020203"/>
              </a:rPr>
              <a:t>Café Management System</a:t>
            </a:r>
            <a:endParaRPr sz="6600" b="1">
              <a:solidFill>
                <a:srgbClr val="5A3C28"/>
              </a:solidFill>
              <a:latin typeface="Segoe UI" panose="020B0502040204020203"/>
            </a:endParaRPr>
          </a:p>
        </p:txBody>
      </p:sp>
      <p:sp>
        <p:nvSpPr>
          <p:cNvPr id="3" name="Subtitle 2"/>
          <p:cNvSpPr>
            <a:spLocks noGrp="1"/>
          </p:cNvSpPr>
          <p:nvPr>
            <p:ph type="subTitle" idx="1"/>
          </p:nvPr>
        </p:nvSpPr>
        <p:spPr>
          <a:xfrm>
            <a:off x="1257935" y="3886200"/>
            <a:ext cx="5438140" cy="1980565"/>
          </a:xfrm>
        </p:spPr>
        <p:txBody>
          <a:bodyPr>
            <a:normAutofit fontScale="70000"/>
          </a:bodyPr>
          <a:lstStyle/>
          <a:p>
            <a:endParaRPr sz="2200"/>
          </a:p>
          <a:p>
            <a:pPr algn="l"/>
            <a:r>
              <a:rPr sz="2200" b="1">
                <a:solidFill>
                  <a:srgbClr val="000000"/>
                </a:solidFill>
                <a:latin typeface="Segoe UI" panose="020B0502040204020203"/>
              </a:rPr>
              <a:t>Team Members:</a:t>
            </a:r>
            <a:endParaRPr sz="2200" b="1">
              <a:solidFill>
                <a:srgbClr val="000000"/>
              </a:solidFill>
              <a:latin typeface="Segoe UI" panose="020B0502040204020203"/>
            </a:endParaRPr>
          </a:p>
          <a:p>
            <a:pPr algn="l"/>
            <a:r>
              <a:rPr lang="en-US" sz="2200">
                <a:solidFill>
                  <a:srgbClr val="000000"/>
                </a:solidFill>
                <a:latin typeface="Segoe UI" panose="020B0502040204020203"/>
              </a:rPr>
              <a:t>Harish-20241IST0065</a:t>
            </a:r>
            <a:br>
              <a:rPr lang="en-US" sz="2200">
                <a:solidFill>
                  <a:srgbClr val="000000"/>
                </a:solidFill>
                <a:latin typeface="Segoe UI" panose="020B0502040204020203"/>
              </a:rPr>
            </a:br>
            <a:r>
              <a:rPr lang="en-US" sz="2200">
                <a:solidFill>
                  <a:srgbClr val="000000"/>
                </a:solidFill>
                <a:latin typeface="Segoe UI" panose="020B0502040204020203"/>
                <a:sym typeface="+mn-ea"/>
              </a:rPr>
              <a:t>Kanishka Suthar-20241IST0066</a:t>
            </a:r>
            <a:endParaRPr lang="en-US" sz="2200">
              <a:solidFill>
                <a:srgbClr val="000000"/>
              </a:solidFill>
              <a:latin typeface="Segoe UI" panose="020B0502040204020203"/>
            </a:endParaRPr>
          </a:p>
          <a:p>
            <a:pPr algn="l"/>
            <a:r>
              <a:rPr lang="en-US" sz="2200">
                <a:solidFill>
                  <a:srgbClr val="000000"/>
                </a:solidFill>
                <a:latin typeface="Segoe UI" panose="020B0502040204020203"/>
              </a:rPr>
              <a:t>Zubair-20241IST0067</a:t>
            </a:r>
            <a:br>
              <a:rPr lang="en-US" sz="2200">
                <a:solidFill>
                  <a:srgbClr val="000000"/>
                </a:solidFill>
                <a:latin typeface="Segoe UI" panose="020B0502040204020203"/>
              </a:rPr>
            </a:br>
            <a:r>
              <a:rPr lang="en-US" sz="2200">
                <a:solidFill>
                  <a:srgbClr val="000000"/>
                </a:solidFill>
                <a:latin typeface="Segoe UI" panose="020B0502040204020203"/>
              </a:rPr>
              <a:t>Divya-20241IST0068</a:t>
            </a:r>
            <a:endParaRPr lang="en-US" sz="2200">
              <a:solidFill>
                <a:srgbClr val="000000"/>
              </a:solidFill>
              <a:latin typeface="Segoe UI" panose="020B0502040204020203"/>
            </a:endParaRPr>
          </a:p>
          <a:p>
            <a:pPr algn="l"/>
            <a:r>
              <a:rPr sz="2200">
                <a:solidFill>
                  <a:srgbClr val="000000"/>
                </a:solidFill>
                <a:latin typeface="Segoe UI" panose="020B0502040204020203"/>
                <a:sym typeface="+mn-ea"/>
              </a:rPr>
              <a:t>Fathima Nowshad – 20241IST</a:t>
            </a:r>
            <a:r>
              <a:rPr lang="en-US" sz="2200">
                <a:solidFill>
                  <a:srgbClr val="000000"/>
                </a:solidFill>
                <a:latin typeface="Segoe UI" panose="020B0502040204020203"/>
                <a:sym typeface="+mn-ea"/>
              </a:rPr>
              <a:t>0069</a:t>
            </a:r>
            <a:endParaRPr sz="2200">
              <a:solidFill>
                <a:srgbClr val="000000"/>
              </a:solidFill>
              <a:latin typeface="Segoe UI" panose="020B0502040204020203"/>
            </a:endParaRPr>
          </a:p>
          <a:p>
            <a:endParaRPr sz="2200"/>
          </a:p>
          <a:p>
            <a:endParaRPr sz="2200">
              <a:solidFill>
                <a:srgbClr val="000000"/>
              </a:solidFill>
              <a:latin typeface="Segoe UI" panose="020B050204020402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Introduction</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800">
                <a:solidFill>
                  <a:srgbClr val="000000"/>
                </a:solidFill>
                <a:latin typeface="Segoe UI" panose="020B0502040204020203"/>
              </a:rPr>
              <a:t>The Café Management System is designed to simplify and digitize all café operations within a campus. It enables users to order food online, view menus, make cashless payments, and track orders in real time. This system enhances convenience, transparency, and operational efficiency for both customers and administrators.</a:t>
            </a:r>
            <a:endParaRPr sz="2800">
              <a:solidFill>
                <a:srgbClr val="000000"/>
              </a:solidFill>
              <a:latin typeface="Segoe UI" panose="020B05020402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Problem Statement</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200">
                <a:solidFill>
                  <a:srgbClr val="000000"/>
                </a:solidFill>
                <a:latin typeface="Segoe UI" panose="020B0502040204020203"/>
              </a:rPr>
              <a:t>1. Manual ordering and billing processes lead to long queues, delays, and errors.</a:t>
            </a:r>
            <a:endParaRPr sz="2200">
              <a:solidFill>
                <a:srgbClr val="000000"/>
              </a:solidFill>
              <a:latin typeface="Segoe UI" panose="020B0502040204020203"/>
            </a:endParaRPr>
          </a:p>
          <a:p>
            <a:r>
              <a:rPr sz="2200">
                <a:solidFill>
                  <a:srgbClr val="000000"/>
                </a:solidFill>
                <a:latin typeface="Segoe UI" panose="020B0502040204020203"/>
              </a:rPr>
              <a:t>2. Inventory and sales are often tracked manually, causing inefficiency and wastage.</a:t>
            </a:r>
            <a:endParaRPr sz="2200">
              <a:solidFill>
                <a:srgbClr val="000000"/>
              </a:solidFill>
              <a:latin typeface="Segoe UI" panose="020B0502040204020203"/>
            </a:endParaRPr>
          </a:p>
          <a:p>
            <a:r>
              <a:rPr sz="2200">
                <a:solidFill>
                  <a:srgbClr val="000000"/>
                </a:solidFill>
                <a:latin typeface="Segoe UI" panose="020B0502040204020203"/>
              </a:rPr>
              <a:t>3. Lack of centralized control makes it difficult to monitor transactions and stock levels.</a:t>
            </a:r>
            <a:endParaRPr sz="2200">
              <a:solidFill>
                <a:srgbClr val="000000"/>
              </a:solidFill>
              <a:latin typeface="Segoe UI" panose="020B0502040204020203"/>
            </a:endParaRPr>
          </a:p>
          <a:p>
            <a:r>
              <a:rPr sz="2200">
                <a:solidFill>
                  <a:srgbClr val="000000"/>
                </a:solidFill>
                <a:latin typeface="Segoe UI" panose="020B0502040204020203"/>
              </a:rPr>
              <a:t>4. Limited data insights prevent effective decision-making and resource planning.</a:t>
            </a:r>
            <a:endParaRPr sz="2200">
              <a:solidFill>
                <a:srgbClr val="000000"/>
              </a:solidFill>
              <a:latin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Objectives</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200">
                <a:solidFill>
                  <a:srgbClr val="000000"/>
                </a:solidFill>
                <a:latin typeface="Segoe UI" panose="020B0502040204020203"/>
              </a:rPr>
              <a:t>The objective of the Café Management System is to digitize and streamline food ordering, billing, and inventory operations within the campus. It allows students, faculty, and staff to order meals online, view menus, make cashless payments, and track order status in real time.</a:t>
            </a:r>
            <a:endParaRPr sz="2200">
              <a:solidFill>
                <a:srgbClr val="000000"/>
              </a:solidFill>
              <a:latin typeface="Segoe UI" panose="020B0502040204020203"/>
            </a:endParaRPr>
          </a:p>
          <a:p>
            <a:endParaRPr sz="2200"/>
          </a:p>
          <a:p>
            <a:r>
              <a:rPr sz="2200">
                <a:solidFill>
                  <a:srgbClr val="000000"/>
                </a:solidFill>
                <a:latin typeface="Segoe UI" panose="020B0502040204020203"/>
              </a:rPr>
              <a:t>Administrators can manage food items, update prices, monitor stock levels, and analyze sales reports for efficient resource planning.</a:t>
            </a:r>
            <a:endParaRPr sz="2200">
              <a:solidFill>
                <a:srgbClr val="000000"/>
              </a:solidFill>
              <a:latin typeface="Segoe UI" panose="020B0502040204020203"/>
            </a:endParaRPr>
          </a:p>
          <a:p>
            <a:endParaRPr sz="2200"/>
          </a:p>
          <a:p>
            <a:r>
              <a:rPr sz="2200">
                <a:solidFill>
                  <a:srgbClr val="000000"/>
                </a:solidFill>
                <a:latin typeface="Segoe UI" panose="020B0502040204020203"/>
              </a:rPr>
              <a:t>The ultimate goal is to provide convenience, transparency, and operational efficiency in café services while reducing manual errors and waiting times.</a:t>
            </a:r>
            <a:endParaRPr sz="2200">
              <a:solidFill>
                <a:srgbClr val="000000"/>
              </a:solidFill>
              <a:latin typeface="Segoe UI" panose="020B050204020402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Scope</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800">
                <a:solidFill>
                  <a:srgbClr val="000000"/>
                </a:solidFill>
                <a:latin typeface="Segoe UI" panose="020B0502040204020203"/>
              </a:rPr>
              <a:t>The system covers core café functions such as online ordering, billing, menu management, and inventory control. It is suitable for campus canteens and small cafés aiming to implement a digital ordering system. Administrators can easily monitor orders, track sales, and optimize resources using built-in analytics.</a:t>
            </a:r>
            <a:endParaRPr sz="2800">
              <a:solidFill>
                <a:srgbClr val="000000"/>
              </a:solidFill>
              <a:latin typeface="Segoe UI" panose="020B050204020402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Existing System</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800">
                <a:solidFill>
                  <a:srgbClr val="000000"/>
                </a:solidFill>
                <a:latin typeface="Segoe UI" panose="020B0502040204020203"/>
              </a:rPr>
              <a:t>Most campus cafés still rely on manual order taking and paper-based billing systems. Inventory tracking is often inaccurate, and there is no system for students or staff to pre-order food or make cashless payments. This leads to delays, customer dissatisfaction, and resource mismanagement.</a:t>
            </a:r>
            <a:endParaRPr sz="2800">
              <a:solidFill>
                <a:srgbClr val="000000"/>
              </a:solidFill>
              <a:latin typeface="Segoe UI" panose="020B050204020402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Proposed System</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800">
                <a:solidFill>
                  <a:srgbClr val="000000"/>
                </a:solidFill>
                <a:latin typeface="Segoe UI" panose="020B0502040204020203"/>
              </a:rPr>
              <a:t>The Café Management System provides an integrated online platform for ordering, billing, and stock management. It enables users to view menus, place orders, and make payments digitally. Administrators can manage items, monitor sales, and maintain real-time inventory, improving overall efficiency.</a:t>
            </a:r>
            <a:endParaRPr sz="2800">
              <a:solidFill>
                <a:srgbClr val="000000"/>
              </a:solidFill>
              <a:latin typeface="Segoe UI" panose="020B050204020402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Features</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pPr marL="0" indent="0">
              <a:buNone/>
            </a:pPr>
            <a:r>
              <a:rPr>
                <a:solidFill>
                  <a:srgbClr val="000000"/>
                </a:solidFill>
                <a:latin typeface="Segoe UI" panose="020B0502040204020203"/>
              </a:rPr>
              <a:t>• Online Food Ordering</a:t>
            </a:r>
            <a:endParaRPr>
              <a:solidFill>
                <a:srgbClr val="000000"/>
              </a:solidFill>
              <a:latin typeface="Segoe UI" panose="020B0502040204020203"/>
            </a:endParaRPr>
          </a:p>
          <a:p>
            <a:pPr marL="0" indent="0">
              <a:buNone/>
            </a:pPr>
            <a:r>
              <a:rPr>
                <a:solidFill>
                  <a:srgbClr val="000000"/>
                </a:solidFill>
                <a:latin typeface="Segoe UI" panose="020B0502040204020203"/>
              </a:rPr>
              <a:t>• Digital Billing and Payment</a:t>
            </a:r>
            <a:endParaRPr>
              <a:solidFill>
                <a:srgbClr val="000000"/>
              </a:solidFill>
              <a:latin typeface="Segoe UI" panose="020B0502040204020203"/>
            </a:endParaRPr>
          </a:p>
          <a:p>
            <a:pPr marL="0" indent="0">
              <a:buNone/>
            </a:pPr>
            <a:r>
              <a:rPr>
                <a:solidFill>
                  <a:srgbClr val="000000"/>
                </a:solidFill>
                <a:latin typeface="Segoe UI" panose="020B0502040204020203"/>
              </a:rPr>
              <a:t>• Inventory and Stock Management</a:t>
            </a:r>
            <a:endParaRPr>
              <a:solidFill>
                <a:srgbClr val="000000"/>
              </a:solidFill>
              <a:latin typeface="Segoe UI" panose="020B0502040204020203"/>
            </a:endParaRPr>
          </a:p>
          <a:p>
            <a:pPr marL="0" indent="0">
              <a:buNone/>
            </a:pPr>
            <a:r>
              <a:rPr>
                <a:solidFill>
                  <a:srgbClr val="000000"/>
                </a:solidFill>
                <a:latin typeface="Segoe UI" panose="020B0502040204020203"/>
              </a:rPr>
              <a:t>• Menu Updates and Price Control</a:t>
            </a:r>
            <a:endParaRPr>
              <a:solidFill>
                <a:srgbClr val="000000"/>
              </a:solidFill>
              <a:latin typeface="Segoe UI" panose="020B0502040204020203"/>
            </a:endParaRPr>
          </a:p>
          <a:p>
            <a:pPr marL="0" indent="0">
              <a:buNone/>
            </a:pPr>
            <a:r>
              <a:rPr>
                <a:solidFill>
                  <a:srgbClr val="000000"/>
                </a:solidFill>
                <a:latin typeface="Segoe UI" panose="020B0502040204020203"/>
              </a:rPr>
              <a:t>• Order Tracking</a:t>
            </a:r>
            <a:endParaRPr>
              <a:solidFill>
                <a:srgbClr val="000000"/>
              </a:solidFill>
              <a:latin typeface="Segoe UI" panose="020B0502040204020203"/>
            </a:endParaRPr>
          </a:p>
          <a:p>
            <a:pPr marL="0" indent="0">
              <a:buNone/>
            </a:pPr>
            <a:r>
              <a:rPr>
                <a:solidFill>
                  <a:srgbClr val="000000"/>
                </a:solidFill>
                <a:latin typeface="Segoe UI" panose="020B0502040204020203"/>
              </a:rPr>
              <a:t>• Admin Dashboard</a:t>
            </a:r>
            <a:endParaRPr>
              <a:solidFill>
                <a:srgbClr val="000000"/>
              </a:solidFill>
              <a:latin typeface="Segoe UI" panose="020B050204020402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Modules</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200">
                <a:solidFill>
                  <a:srgbClr val="000000"/>
                </a:solidFill>
                <a:latin typeface="Segoe UI" panose="020B0502040204020203"/>
              </a:rPr>
              <a:t>User Module – Allows registration, login, browsing menu, placing orders, and viewing order status.</a:t>
            </a:r>
            <a:endParaRPr sz="2200">
              <a:solidFill>
                <a:srgbClr val="000000"/>
              </a:solidFill>
              <a:latin typeface="Segoe UI" panose="020B0502040204020203"/>
            </a:endParaRPr>
          </a:p>
          <a:p>
            <a:endParaRPr sz="2200"/>
          </a:p>
          <a:p>
            <a:r>
              <a:rPr sz="2200">
                <a:solidFill>
                  <a:srgbClr val="000000"/>
                </a:solidFill>
                <a:latin typeface="Segoe UI" panose="020B0502040204020203"/>
              </a:rPr>
              <a:t>Admin Module – Manages menu items, prices, orders, inventory, and reports.</a:t>
            </a:r>
            <a:endParaRPr sz="2200">
              <a:solidFill>
                <a:srgbClr val="000000"/>
              </a:solidFill>
              <a:latin typeface="Segoe UI" panose="020B0502040204020203"/>
            </a:endParaRPr>
          </a:p>
          <a:p>
            <a:endParaRPr sz="2200"/>
          </a:p>
          <a:p>
            <a:r>
              <a:rPr sz="2200">
                <a:solidFill>
                  <a:srgbClr val="000000"/>
                </a:solidFill>
                <a:latin typeface="Segoe UI" panose="020B0502040204020203"/>
              </a:rPr>
              <a:t>Inventory Module – Tracks stock levels, updates inventory, and generates alerts for low stock.</a:t>
            </a:r>
            <a:endParaRPr sz="2200">
              <a:solidFill>
                <a:srgbClr val="000000"/>
              </a:solidFill>
              <a:latin typeface="Segoe UI" panose="020B050204020402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Tools &amp; Technologies Used</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pPr marL="0" indent="0">
              <a:buNone/>
            </a:pPr>
            <a:r>
              <a:rPr sz="2200">
                <a:solidFill>
                  <a:srgbClr val="000000"/>
                </a:solidFill>
                <a:latin typeface="Segoe UI" panose="020B0502040204020203"/>
              </a:rPr>
              <a:t>Frontend:</a:t>
            </a:r>
            <a:endParaRPr sz="2200">
              <a:solidFill>
                <a:srgbClr val="000000"/>
              </a:solidFill>
              <a:latin typeface="Segoe UI" panose="020B0502040204020203"/>
            </a:endParaRPr>
          </a:p>
          <a:p>
            <a:pPr marL="0" indent="0">
              <a:buNone/>
            </a:pPr>
            <a:r>
              <a:rPr sz="2200">
                <a:solidFill>
                  <a:srgbClr val="000000"/>
                </a:solidFill>
                <a:latin typeface="Segoe UI" panose="020B0502040204020203"/>
              </a:rPr>
              <a:t>• HTML – Page structure and layout</a:t>
            </a:r>
            <a:endParaRPr sz="2200">
              <a:solidFill>
                <a:srgbClr val="000000"/>
              </a:solidFill>
              <a:latin typeface="Segoe UI" panose="020B0502040204020203"/>
            </a:endParaRPr>
          </a:p>
          <a:p>
            <a:pPr marL="0" indent="0">
              <a:buNone/>
            </a:pPr>
            <a:r>
              <a:rPr sz="2200">
                <a:solidFill>
                  <a:srgbClr val="000000"/>
                </a:solidFill>
                <a:latin typeface="Segoe UI" panose="020B0502040204020203"/>
              </a:rPr>
              <a:t>• CSS – Styling and responsiveness</a:t>
            </a:r>
            <a:endParaRPr sz="2200">
              <a:solidFill>
                <a:srgbClr val="000000"/>
              </a:solidFill>
              <a:latin typeface="Segoe UI" panose="020B0502040204020203"/>
            </a:endParaRPr>
          </a:p>
          <a:p>
            <a:pPr marL="0" indent="0">
              <a:buNone/>
            </a:pPr>
            <a:r>
              <a:rPr sz="2200">
                <a:solidFill>
                  <a:srgbClr val="000000"/>
                </a:solidFill>
                <a:latin typeface="Segoe UI" panose="020B0502040204020203"/>
              </a:rPr>
              <a:t>• JavaScript – Dynamic functionality</a:t>
            </a:r>
            <a:endParaRPr sz="2200">
              <a:solidFill>
                <a:srgbClr val="000000"/>
              </a:solidFill>
              <a:latin typeface="Segoe UI" panose="020B0502040204020203"/>
            </a:endParaRPr>
          </a:p>
          <a:p>
            <a:endParaRPr sz="2200"/>
          </a:p>
          <a:p>
            <a:pPr marL="0" indent="0">
              <a:buNone/>
            </a:pPr>
            <a:r>
              <a:rPr sz="2200">
                <a:solidFill>
                  <a:srgbClr val="000000"/>
                </a:solidFill>
                <a:latin typeface="Segoe UI" panose="020B0502040204020203"/>
              </a:rPr>
              <a:t>Backend:</a:t>
            </a:r>
            <a:endParaRPr sz="2200">
              <a:solidFill>
                <a:srgbClr val="000000"/>
              </a:solidFill>
              <a:latin typeface="Segoe UI" panose="020B0502040204020203"/>
            </a:endParaRPr>
          </a:p>
          <a:p>
            <a:pPr marL="0" indent="0">
              <a:buNone/>
            </a:pPr>
            <a:r>
              <a:rPr sz="2200">
                <a:solidFill>
                  <a:srgbClr val="000000"/>
                </a:solidFill>
                <a:latin typeface="Segoe UI" panose="020B0502040204020203"/>
              </a:rPr>
              <a:t>• PHP </a:t>
            </a:r>
            <a:endParaRPr sz="2200">
              <a:solidFill>
                <a:srgbClr val="000000"/>
              </a:solidFill>
              <a:latin typeface="Segoe UI" panose="020B0502040204020203"/>
            </a:endParaRPr>
          </a:p>
          <a:p>
            <a:pPr marL="0" indent="0">
              <a:buNone/>
            </a:pPr>
            <a:r>
              <a:rPr sz="2200">
                <a:solidFill>
                  <a:srgbClr val="000000"/>
                </a:solidFill>
                <a:latin typeface="Segoe UI" panose="020B0502040204020203"/>
              </a:rPr>
              <a:t>• MySQL – Database for storing user, order, and inventory data</a:t>
            </a:r>
            <a:endParaRPr sz="2200">
              <a:solidFill>
                <a:srgbClr val="000000"/>
              </a:solidFill>
              <a:latin typeface="Segoe UI" panose="020B0502040204020203"/>
            </a:endParaRPr>
          </a:p>
          <a:p>
            <a:endParaRPr sz="2200"/>
          </a:p>
          <a:p>
            <a:pPr marL="0" indent="0">
              <a:buNone/>
            </a:pPr>
            <a:r>
              <a:rPr sz="2200">
                <a:solidFill>
                  <a:srgbClr val="000000"/>
                </a:solidFill>
                <a:latin typeface="Segoe UI" panose="020B0502040204020203"/>
              </a:rPr>
              <a:t>Tools:</a:t>
            </a:r>
            <a:endParaRPr sz="2200">
              <a:solidFill>
                <a:srgbClr val="000000"/>
              </a:solidFill>
              <a:latin typeface="Segoe UI" panose="020B0502040204020203"/>
            </a:endParaRPr>
          </a:p>
          <a:p>
            <a:pPr marL="0" indent="0">
              <a:buNone/>
            </a:pPr>
            <a:r>
              <a:rPr sz="2200">
                <a:solidFill>
                  <a:srgbClr val="000000"/>
                </a:solidFill>
                <a:latin typeface="Segoe UI" panose="020B0502040204020203"/>
              </a:rPr>
              <a:t>• Visual Studio Code</a:t>
            </a:r>
            <a:endParaRPr sz="2200">
              <a:solidFill>
                <a:srgbClr val="000000"/>
              </a:solidFill>
              <a:latin typeface="Segoe UI" panose="020B0502040204020203"/>
            </a:endParaRPr>
          </a:p>
          <a:p>
            <a:pPr marL="0" indent="0">
              <a:buNone/>
            </a:pPr>
            <a:endParaRPr sz="2200">
              <a:solidFill>
                <a:srgbClr val="000000"/>
              </a:solidFill>
              <a:latin typeface="Segoe UI" panose="020B05020402040202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Workflow / Process Flow</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200">
                <a:solidFill>
                  <a:srgbClr val="000000"/>
                </a:solidFill>
                <a:latin typeface="Segoe UI" panose="020B0502040204020203"/>
              </a:rPr>
              <a:t>The system works as follows:</a:t>
            </a:r>
            <a:endParaRPr sz="2200">
              <a:solidFill>
                <a:srgbClr val="000000"/>
              </a:solidFill>
              <a:latin typeface="Segoe UI" panose="020B0502040204020203"/>
            </a:endParaRPr>
          </a:p>
          <a:p>
            <a:endParaRPr sz="2200"/>
          </a:p>
          <a:p>
            <a:r>
              <a:rPr sz="2200">
                <a:solidFill>
                  <a:srgbClr val="000000"/>
                </a:solidFill>
                <a:latin typeface="Segoe UI" panose="020B0502040204020203"/>
              </a:rPr>
              <a:t>1. User logs in and browses the menu.</a:t>
            </a:r>
            <a:endParaRPr sz="2200">
              <a:solidFill>
                <a:srgbClr val="000000"/>
              </a:solidFill>
              <a:latin typeface="Segoe UI" panose="020B0502040204020203"/>
            </a:endParaRPr>
          </a:p>
          <a:p>
            <a:r>
              <a:rPr sz="2200">
                <a:solidFill>
                  <a:srgbClr val="000000"/>
                </a:solidFill>
                <a:latin typeface="Segoe UI" panose="020B0502040204020203"/>
              </a:rPr>
              <a:t>2. User places an order and makes payment online.</a:t>
            </a:r>
            <a:endParaRPr sz="2200">
              <a:solidFill>
                <a:srgbClr val="000000"/>
              </a:solidFill>
              <a:latin typeface="Segoe UI" panose="020B0502040204020203"/>
            </a:endParaRPr>
          </a:p>
          <a:p>
            <a:r>
              <a:rPr sz="2200">
                <a:solidFill>
                  <a:srgbClr val="000000"/>
                </a:solidFill>
                <a:latin typeface="Segoe UI" panose="020B0502040204020203"/>
              </a:rPr>
              <a:t>3. The system updates order details and notifies the café admin.</a:t>
            </a:r>
            <a:endParaRPr sz="2200">
              <a:solidFill>
                <a:srgbClr val="000000"/>
              </a:solidFill>
              <a:latin typeface="Segoe UI" panose="020B0502040204020203"/>
            </a:endParaRPr>
          </a:p>
          <a:p>
            <a:r>
              <a:rPr sz="2200">
                <a:solidFill>
                  <a:srgbClr val="000000"/>
                </a:solidFill>
                <a:latin typeface="Segoe UI" panose="020B0502040204020203"/>
              </a:rPr>
              <a:t>4. Admin processes the order and updates inventory accordingly.</a:t>
            </a:r>
            <a:endParaRPr sz="2200">
              <a:solidFill>
                <a:srgbClr val="000000"/>
              </a:solidFill>
              <a:latin typeface="Segoe UI" panose="020B0502040204020203"/>
            </a:endParaRPr>
          </a:p>
          <a:p>
            <a:r>
              <a:rPr sz="2200">
                <a:solidFill>
                  <a:srgbClr val="000000"/>
                </a:solidFill>
                <a:latin typeface="Segoe UI" panose="020B0502040204020203"/>
              </a:rPr>
              <a:t>5. Real-time order status and reports are displayed on dashboards.</a:t>
            </a:r>
            <a:endParaRPr sz="2200">
              <a:solidFill>
                <a:srgbClr val="000000"/>
              </a:solidFill>
              <a:latin typeface="Segoe UI" panose="020B050204020402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Applications</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pPr marL="0" indent="0">
              <a:buNone/>
            </a:pPr>
            <a:r>
              <a:rPr sz="2800">
                <a:solidFill>
                  <a:srgbClr val="000000"/>
                </a:solidFill>
                <a:latin typeface="Segoe UI" panose="020B0502040204020203"/>
              </a:rPr>
              <a:t>• Used by campus cafés and canteens for efficient management.</a:t>
            </a:r>
            <a:endParaRPr sz="2800">
              <a:solidFill>
                <a:srgbClr val="000000"/>
              </a:solidFill>
              <a:latin typeface="Segoe UI" panose="020B0502040204020203"/>
            </a:endParaRPr>
          </a:p>
          <a:p>
            <a:pPr marL="0" indent="0">
              <a:buNone/>
            </a:pPr>
            <a:r>
              <a:rPr sz="2800">
                <a:solidFill>
                  <a:srgbClr val="000000"/>
                </a:solidFill>
                <a:latin typeface="Segoe UI" panose="020B0502040204020203"/>
              </a:rPr>
              <a:t>• Helps in reducing wait times and improving service speed.</a:t>
            </a:r>
            <a:endParaRPr sz="2800">
              <a:solidFill>
                <a:srgbClr val="000000"/>
              </a:solidFill>
              <a:latin typeface="Segoe UI" panose="020B0502040204020203"/>
            </a:endParaRPr>
          </a:p>
          <a:p>
            <a:pPr marL="0" indent="0">
              <a:buNone/>
            </a:pPr>
            <a:r>
              <a:rPr sz="2800">
                <a:solidFill>
                  <a:srgbClr val="000000"/>
                </a:solidFill>
                <a:latin typeface="Segoe UI" panose="020B0502040204020203"/>
              </a:rPr>
              <a:t>• Useful for small restaurants implementing digital billing.</a:t>
            </a:r>
            <a:endParaRPr sz="2800">
              <a:solidFill>
                <a:srgbClr val="000000"/>
              </a:solidFill>
              <a:latin typeface="Segoe UI" panose="020B0502040204020203"/>
            </a:endParaRPr>
          </a:p>
          <a:p>
            <a:pPr marL="0" indent="0">
              <a:buNone/>
            </a:pPr>
            <a:r>
              <a:rPr sz="2800">
                <a:solidFill>
                  <a:srgbClr val="000000"/>
                </a:solidFill>
                <a:latin typeface="Segoe UI" panose="020B0502040204020203"/>
              </a:rPr>
              <a:t>• Enhances transparency and accountability in daily operations.</a:t>
            </a:r>
            <a:endParaRPr sz="2800">
              <a:solidFill>
                <a:srgbClr val="000000"/>
              </a:solidFill>
              <a:latin typeface="Segoe UI" panose="020B0502040204020203"/>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Future Scope</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pPr marL="0" indent="0">
              <a:buNone/>
            </a:pPr>
            <a:r>
              <a:rPr sz="2800">
                <a:solidFill>
                  <a:srgbClr val="000000"/>
                </a:solidFill>
                <a:latin typeface="Segoe UI" panose="020B0502040204020203"/>
              </a:rPr>
              <a:t>• Integration with mobile apps for on-the-go ordering.</a:t>
            </a:r>
            <a:endParaRPr sz="2800">
              <a:solidFill>
                <a:srgbClr val="000000"/>
              </a:solidFill>
              <a:latin typeface="Segoe UI" panose="020B0502040204020203"/>
            </a:endParaRPr>
          </a:p>
          <a:p>
            <a:pPr marL="0" indent="0">
              <a:buNone/>
            </a:pPr>
            <a:r>
              <a:rPr sz="2800">
                <a:solidFill>
                  <a:srgbClr val="000000"/>
                </a:solidFill>
                <a:latin typeface="Segoe UI" panose="020B0502040204020203"/>
              </a:rPr>
              <a:t>• AI-based sales prediction and inventory automation.</a:t>
            </a:r>
            <a:endParaRPr sz="2800">
              <a:solidFill>
                <a:srgbClr val="000000"/>
              </a:solidFill>
              <a:latin typeface="Segoe UI" panose="020B0502040204020203"/>
            </a:endParaRPr>
          </a:p>
          <a:p>
            <a:pPr marL="0" indent="0">
              <a:buNone/>
            </a:pPr>
            <a:r>
              <a:rPr sz="2800">
                <a:solidFill>
                  <a:srgbClr val="000000"/>
                </a:solidFill>
                <a:latin typeface="Segoe UI" panose="020B0502040204020203"/>
              </a:rPr>
              <a:t>• Support for multiple branches and vendors.</a:t>
            </a:r>
            <a:endParaRPr sz="2800">
              <a:solidFill>
                <a:srgbClr val="000000"/>
              </a:solidFill>
              <a:latin typeface="Segoe UI" panose="020B0502040204020203"/>
            </a:endParaRPr>
          </a:p>
          <a:p>
            <a:pPr marL="0" indent="0">
              <a:buNone/>
            </a:pPr>
            <a:r>
              <a:rPr sz="2800">
                <a:solidFill>
                  <a:srgbClr val="000000"/>
                </a:solidFill>
                <a:latin typeface="Segoe UI" panose="020B0502040204020203"/>
              </a:rPr>
              <a:t>• Feedback and review module for customer insights.</a:t>
            </a:r>
            <a:endParaRPr sz="2800">
              <a:solidFill>
                <a:srgbClr val="000000"/>
              </a:solidFill>
              <a:latin typeface="Segoe UI" panose="020B050204020402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5A3C28"/>
                </a:solidFill>
                <a:latin typeface="Segoe UI" panose="020B0502040204020203"/>
              </a:rPr>
              <a:t>Conclusion</a:t>
            </a:r>
            <a:endParaRPr sz="4000" b="1">
              <a:solidFill>
                <a:srgbClr val="5A3C28"/>
              </a:solidFill>
              <a:latin typeface="Segoe UI" panose="020B0502040204020203"/>
            </a:endParaRPr>
          </a:p>
        </p:txBody>
      </p:sp>
      <p:sp>
        <p:nvSpPr>
          <p:cNvPr id="3" name="Content Placeholder 2"/>
          <p:cNvSpPr>
            <a:spLocks noGrp="1"/>
          </p:cNvSpPr>
          <p:nvPr>
            <p:ph idx="1"/>
          </p:nvPr>
        </p:nvSpPr>
        <p:spPr/>
        <p:txBody>
          <a:bodyPr/>
          <a:lstStyle/>
          <a:p>
            <a:r>
              <a:rPr sz="2800">
                <a:solidFill>
                  <a:srgbClr val="000000"/>
                </a:solidFill>
                <a:latin typeface="Segoe UI" panose="020B0502040204020203"/>
              </a:rPr>
              <a:t>The Café Management System digitizes the entire café workflow, from ordering to billing and inventory. It minimizes manual work, improves service efficiency, and ensures customer satisfaction. This system serves as a valuable web-based application for modern campus environments.</a:t>
            </a:r>
            <a:endParaRPr sz="2800">
              <a:solidFill>
                <a:srgbClr val="000000"/>
              </a:solidFill>
              <a:latin typeface="Segoe UI" panose="020B050204020402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Title 1"/>
          <p:cNvSpPr>
            <a:spLocks noGrp="1"/>
          </p:cNvSpPr>
          <p:nvPr>
            <p:ph type="title"/>
          </p:nvPr>
        </p:nvSpPr>
        <p:spPr>
          <a:xfrm>
            <a:off x="457200" y="274955"/>
            <a:ext cx="8229600" cy="4699000"/>
          </a:xfrm>
        </p:spPr>
        <p:txBody>
          <a:bodyPr/>
          <a:lstStyle/>
          <a:p>
            <a:r>
              <a:rPr sz="9600" b="1">
                <a:solidFill>
                  <a:srgbClr val="5A3C28"/>
                </a:solidFill>
                <a:latin typeface="Segoe UI" panose="020B0502040204020203"/>
              </a:rPr>
              <a:t>Thank You</a:t>
            </a:r>
            <a:endParaRPr sz="9600" b="1">
              <a:solidFill>
                <a:srgbClr val="5A3C28"/>
              </a:solidFill>
              <a:latin typeface="Segoe UI" panose="020B0502040204020203"/>
            </a:endParaRPr>
          </a:p>
        </p:txBody>
      </p:sp>
      <p:sp>
        <p:nvSpPr>
          <p:cNvPr id="3" name="Content Placeholder 2"/>
          <p:cNvSpPr>
            <a:spLocks noGrp="1"/>
          </p:cNvSpPr>
          <p:nvPr>
            <p:ph idx="1"/>
          </p:nvPr>
        </p:nvSpPr>
        <p:spPr/>
        <p:txBody>
          <a:bodyPr/>
          <a:lstStyle/>
          <a:p>
            <a:pPr marL="0" indent="0">
              <a:buNone/>
            </a:pPr>
            <a:r>
              <a:rPr lang="en-US" sz="2200">
                <a:solidFill>
                  <a:srgbClr val="000000"/>
                </a:solidFill>
                <a:latin typeface="Segoe UI" panose="020B0502040204020203"/>
              </a:rPr>
              <a:t>,</a:t>
            </a:r>
            <a:endParaRPr lang="en-US" sz="2200">
              <a:solidFill>
                <a:srgbClr val="000000"/>
              </a:solidFill>
              <a:latin typeface="Segoe UI" panose="020B0502040204020203"/>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4109</Words>
  <Application>WPS Presentation</Application>
  <PresentationFormat>On-screen Show (4:3)</PresentationFormat>
  <Paragraphs>104</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SimSun</vt:lpstr>
      <vt:lpstr>Wingdings</vt:lpstr>
      <vt:lpstr>Arial</vt:lpstr>
      <vt:lpstr>Segoe UI</vt:lpstr>
      <vt:lpstr>Calibri</vt:lpstr>
      <vt:lpstr>Microsoft YaHei</vt:lpstr>
      <vt:lpstr>Arial Unicode MS</vt:lpstr>
      <vt:lpstr>Office Theme</vt:lpstr>
      <vt:lpstr>Café Management System</vt:lpstr>
      <vt:lpstr>Introduction</vt:lpstr>
      <vt:lpstr>Problem Statement</vt:lpstr>
      <vt:lpstr>Objectives</vt:lpstr>
      <vt:lpstr>Scope</vt:lpstr>
      <vt:lpstr>Existing System</vt:lpstr>
      <vt:lpstr>Proposed System</vt:lpstr>
      <vt:lpstr>Features</vt:lpstr>
      <vt:lpstr>Modules</vt:lpstr>
      <vt:lpstr>Tools &amp; Technologies Used</vt:lpstr>
      <vt:lpstr>Workflow / Process Flow</vt:lpstr>
      <vt:lpstr>Applications</vt:lpstr>
      <vt:lpstr>Future Scope</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WPS_1727624564</cp:lastModifiedBy>
  <cp:revision>2</cp:revision>
  <dcterms:created xsi:type="dcterms:W3CDTF">2013-01-27T09:14:00Z</dcterms:created>
  <dcterms:modified xsi:type="dcterms:W3CDTF">2025-11-13T18:21:55Z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244F36C6A8EC480ABCD41D57EF4958BF_13</vt:lpwstr>
  </property>
  <property fmtid="{D5CDD505-2E9C-101B-9397-08002B2CF9AE}" pid="3" name="KSOProductBuildVer">
    <vt:lpwstr>1033-12.2.0.22549</vt:lpwstr>
  </property>
</Properties>
</file>