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slide" Target="slides/slide12.xml" /><Relationship Id="rId18" Type="http://schemas.openxmlformats.org/officeDocument/2006/relationships/theme" Target="theme/theme1.xml" /><Relationship Id="rId3" Type="http://schemas.openxmlformats.org/officeDocument/2006/relationships/slide" Target="slides/slide2.xml" /><Relationship Id="rId7" Type="http://schemas.openxmlformats.org/officeDocument/2006/relationships/slide" Target="slides/slide6.xml" /><Relationship Id="rId12" Type="http://schemas.openxmlformats.org/officeDocument/2006/relationships/slide" Target="slides/slide11.xml" /><Relationship Id="rId17" Type="http://schemas.openxmlformats.org/officeDocument/2006/relationships/viewProps" Target="viewProps.xml" /><Relationship Id="rId2" Type="http://schemas.openxmlformats.org/officeDocument/2006/relationships/slide" Target="slides/slide1.xml" /><Relationship Id="rId16" Type="http://schemas.openxmlformats.org/officeDocument/2006/relationships/presProps" Target="presProps.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5" Type="http://schemas.openxmlformats.org/officeDocument/2006/relationships/slide" Target="slides/slide4.xml" /><Relationship Id="rId15" Type="http://schemas.openxmlformats.org/officeDocument/2006/relationships/slide" Target="slides/slide14.xml" /><Relationship Id="rId10" Type="http://schemas.openxmlformats.org/officeDocument/2006/relationships/slide" Target="slides/slide9.xml" /><Relationship Id="rId19" Type="http://schemas.openxmlformats.org/officeDocument/2006/relationships/tableStyles" Target="tableStyles.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slide" Target="slides/slide13.xml" /></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 /><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4="http://schemas.microsoft.com/office/drawing/2010/main">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en-US"/>
              <a:t>Click to edit Master title style</a:t>
            </a:r>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a:xfrm>
            <a:off x="7077511" y="5410201"/>
            <a:ext cx="2743200" cy="365125"/>
          </a:xfrm>
        </p:spPr>
        <p:txBody>
          <a:bodyPr/>
          <a:lstStyle/>
          <a:p>
            <a:fld id="{48A87A34-81AB-432B-8DAE-1953F412C126}" type="datetimeFigureOut">
              <a:rPr lang="en-US" dirty="0"/>
              <a:t>11/13/2025</a:t>
            </a:fld>
            <a:endParaRPr lang="en-US"/>
          </a:p>
        </p:txBody>
      </p:sp>
      <p:sp>
        <p:nvSpPr>
          <p:cNvPr id="5" name="Footer Placeholder 4"/>
          <p:cNvSpPr>
            <a:spLocks noGrp="1"/>
          </p:cNvSpPr>
          <p:nvPr>
            <p:ph type="ftr" sz="quarter" idx="11"/>
          </p:nvPr>
        </p:nvSpPr>
        <p:spPr>
          <a:xfrm>
            <a:off x="1876424" y="5410201"/>
            <a:ext cx="5124886" cy="365125"/>
          </a:xfrm>
        </p:spPr>
        <p:txBody>
          <a:bodyPr/>
          <a:lstStyle/>
          <a:p>
            <a:endParaRPr lang="en-US"/>
          </a:p>
        </p:txBody>
      </p:sp>
      <p:sp>
        <p:nvSpPr>
          <p:cNvPr id="6" name="Slide Number Placeholder 5"/>
          <p:cNvSpPr>
            <a:spLocks noGrp="1"/>
          </p:cNvSpPr>
          <p:nvPr>
            <p:ph type="sldNum" sz="quarter" idx="12"/>
          </p:nvPr>
        </p:nvSpPr>
        <p:spPr>
          <a:xfrm>
            <a:off x="9896911" y="5410199"/>
            <a:ext cx="771089" cy="365125"/>
          </a:xfrm>
        </p:spPr>
        <p:txBody>
          <a:bodyPr/>
          <a:lstStyle/>
          <a:p>
            <a:fld id="{6D22F896-40B5-4ADD-8801-0D06FADFA095}" type="slidenum">
              <a:rPr lang="en-US" dirty="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11/13/2025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dirty="0"/>
              <a:t>11/13/2025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dirty="0"/>
              <a:t>11/13/2025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en-US"/>
              <a:t>Click to edit Master title style</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1410" y="3073397"/>
            <a:ext cx="4878391"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3073397"/>
            <a:ext cx="4875210"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dirty="0"/>
              <a:t>11/13/2025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dirty="0"/>
              <a:t>11/13/2025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dirty="0"/>
              <a:t>11/13/2025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11/13/2025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11/13/2025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n-US"/>
              <a:t>Click icon to add picture</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11/13/2025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11/13/2025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11/13/2025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11/13/2025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en-US"/>
              <a:t>Click to edit Master title style</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11/13/2025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11/13/2025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11/13/2025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11/13/2025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13" Type="http://schemas.openxmlformats.org/officeDocument/2006/relationships/slideLayout" Target="../slideLayouts/slideLayout13.xml" /><Relationship Id="rId18" Type="http://schemas.openxmlformats.org/officeDocument/2006/relationships/theme" Target="../theme/theme1.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slideLayout" Target="../slideLayouts/slideLayout12.xml" /><Relationship Id="rId17" Type="http://schemas.openxmlformats.org/officeDocument/2006/relationships/slideLayout" Target="../slideLayouts/slideLayout17.xml" /><Relationship Id="rId2" Type="http://schemas.openxmlformats.org/officeDocument/2006/relationships/slideLayout" Target="../slideLayouts/slideLayout2.xml" /><Relationship Id="rId16" Type="http://schemas.openxmlformats.org/officeDocument/2006/relationships/slideLayout" Target="../slideLayouts/slideLayout16.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5" Type="http://schemas.openxmlformats.org/officeDocument/2006/relationships/slideLayout" Target="../slideLayouts/slideLayout15.xml" /><Relationship Id="rId10" Type="http://schemas.openxmlformats.org/officeDocument/2006/relationships/slideLayout" Target="../slideLayouts/slideLayout10.xml" /><Relationship Id="rId19" Type="http://schemas.openxmlformats.org/officeDocument/2006/relationships/image" Target="../media/image2.png" /><Relationship Id="rId4" Type="http://schemas.openxmlformats.org/officeDocument/2006/relationships/slideLayout" Target="../slideLayouts/slideLayout4.xml" /><Relationship Id="rId9" Type="http://schemas.openxmlformats.org/officeDocument/2006/relationships/slideLayout" Target="../slideLayouts/slideLayout9.xml" /><Relationship Id="rId14" Type="http://schemas.openxmlformats.org/officeDocument/2006/relationships/slideLayout" Target="../slideLayouts/slideLayout14.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4="http://schemas.microsoft.com/office/drawing/2010/main">
                <a:solidFill>
                  <a:srgbClr val="FFFFFF"/>
                </a:solidFill>
              </a14:hiddenFill>
            </a:ext>
          </a:extLst>
        </p:spPr>
      </p:pic>
      <p:grpSp>
        <p:nvGrpSpPr>
          <p:cNvPr id="8" name="Group 7"/>
          <p:cNvGrpSpPr/>
          <p:nvPr/>
        </p:nvGrpSpPr>
        <p:grpSpPr>
          <a:xfrm>
            <a:off x="-14288" y="0"/>
            <a:ext cx="12053888" cy="6858001"/>
            <a:chOff x="-14288" y="0"/>
            <a:chExt cx="12053888" cy="6858001"/>
          </a:xfrm>
        </p:grpSpPr>
        <p:grpSp>
          <p:nvGrpSpPr>
            <p:cNvPr id="9" name="Group 8"/>
            <p:cNvGrpSpPr/>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grpSp>
        <p:grpSp>
          <p:nvGrpSpPr>
            <p:cNvPr id="10" name="Group 9"/>
            <p:cNvGrpSpPr/>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48A87A34-81AB-432B-8DAE-1953F412C126}" type="datetimeFigureOut">
              <a:rPr lang="en-US" dirty="0"/>
              <a:pPr/>
              <a:t>11/13/2025</a:t>
            </a:fld>
            <a:endParaRPr lang="en-US"/>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6D22F896-40B5-4ADD-8801-0D06FADFA095}" type="slidenum">
              <a:rPr lang="en-US" dirty="0"/>
              <a:pPr/>
              <a:t>‹#›</a:t>
            </a:fld>
            <a:endParaRPr lang="en-US"/>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6" r:id="rId12"/>
    <p:sldLayoutId id="2147483663" r:id="rId13"/>
    <p:sldLayoutId id="2147483667" r:id="rId14"/>
    <p:sldLayoutId id="2147483668" r:id="rId15"/>
    <p:sldLayoutId id="2147483658" r:id="rId16"/>
    <p:sldLayoutId id="2147483659" r:id="rId17"/>
  </p:sldLayoutIdLst>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png" /><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 standalone="yes"?>
<Relationships xmlns="http://schemas.openxmlformats.org/package/2006/relationships"><Relationship Id="rId2" Type="http://schemas.openxmlformats.org/officeDocument/2006/relationships/image" Target="../media/image4.png" /><Relationship Id="rId1" Type="http://schemas.openxmlformats.org/officeDocument/2006/relationships/slideLayout" Target="../slideLayouts/slideLayout2.xml" /></Relationships>
</file>

<file path=ppt/slides/_rels/slide9.xml.rels><?xml version="1.0" encoding="UTF-8" standalone="yes"?>
<Relationships xmlns="http://schemas.openxmlformats.org/package/2006/relationships"><Relationship Id="rId3" Type="http://schemas.openxmlformats.org/officeDocument/2006/relationships/image" Target="../media/image6.png" /><Relationship Id="rId2" Type="http://schemas.openxmlformats.org/officeDocument/2006/relationships/image" Target="../media/image5.png" /><Relationship Id="rId1" Type="http://schemas.openxmlformats.org/officeDocument/2006/relationships/slideLayout" Target="../slideLayouts/slideLayout2.xml" /><Relationship Id="rId5" Type="http://schemas.openxmlformats.org/officeDocument/2006/relationships/image" Target="../media/image8.png" /><Relationship Id="rId4" Type="http://schemas.openxmlformats.org/officeDocument/2006/relationships/image" Target="../media/image7.png" /></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64656B-8D58-1B88-A86C-99E6F4248288}"/>
              </a:ext>
            </a:extLst>
          </p:cNvPr>
          <p:cNvSpPr>
            <a:spLocks noGrp="1"/>
          </p:cNvSpPr>
          <p:nvPr>
            <p:ph type="ctrTitle"/>
          </p:nvPr>
        </p:nvSpPr>
        <p:spPr>
          <a:xfrm>
            <a:off x="2200889" y="1036699"/>
            <a:ext cx="8791575" cy="2387600"/>
          </a:xfrm>
        </p:spPr>
        <p:txBody>
          <a:bodyPr>
            <a:normAutofit fontScale="90000"/>
          </a:bodyPr>
          <a:lstStyle/>
          <a:p>
            <a:pPr algn="ctr"/>
            <a:br>
              <a:rPr lang="en-US"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r>
              <a:rPr lang="en-IN" u="sng" dirty="0">
                <a:latin typeface="Algerian" panose="04020705040A02060702" pitchFamily="82" charset="0"/>
              </a:rPr>
              <a:t>STUDENT’S INTRANET WEBSITE</a:t>
            </a:r>
            <a:br>
              <a:rPr lang="en-IN" u="sng" dirty="0">
                <a:latin typeface="Algerian" panose="04020705040A02060702" pitchFamily="82" charset="0"/>
              </a:rPr>
            </a:br>
            <a:br>
              <a:rPr lang="en-IN" u="sng" dirty="0">
                <a:latin typeface="Algerian" panose="04020705040A02060702" pitchFamily="82" charset="0"/>
              </a:rPr>
            </a:br>
            <a:r>
              <a:rPr lang="en-IN" u="sng" dirty="0">
                <a:latin typeface="Algerian" panose="04020705040A02060702" pitchFamily="82" charset="0"/>
              </a:rPr>
              <a:t>PRESIDENCY UNIVERSITY</a:t>
            </a:r>
            <a:br>
              <a:rPr lang="en-IN" u="sng" dirty="0">
                <a:latin typeface="Algerian" panose="04020705040A02060702" pitchFamily="82" charset="0"/>
              </a:rPr>
            </a:br>
            <a:br>
              <a:rPr lang="en-IN" u="sng" dirty="0">
                <a:latin typeface="Algerian" panose="04020705040A02060702" pitchFamily="82" charset="0"/>
              </a:rPr>
            </a:br>
            <a:endParaRPr lang="en-IN" u="sng" dirty="0">
              <a:latin typeface="Algerian" panose="04020705040A02060702" pitchFamily="82" charset="0"/>
            </a:endParaRPr>
          </a:p>
        </p:txBody>
      </p:sp>
      <p:sp>
        <p:nvSpPr>
          <p:cNvPr id="3" name="Subtitle 2">
            <a:extLst>
              <a:ext uri="{FF2B5EF4-FFF2-40B4-BE49-F238E27FC236}">
                <a16:creationId xmlns:a16="http://schemas.microsoft.com/office/drawing/2014/main" id="{1F7F525F-1A1A-A7C4-19B0-9C7253C04F63}"/>
              </a:ext>
            </a:extLst>
          </p:cNvPr>
          <p:cNvSpPr>
            <a:spLocks noGrp="1"/>
          </p:cNvSpPr>
          <p:nvPr>
            <p:ph type="subTitle" idx="1"/>
          </p:nvPr>
        </p:nvSpPr>
        <p:spPr>
          <a:xfrm>
            <a:off x="2063237" y="2349908"/>
            <a:ext cx="8791575" cy="3982065"/>
          </a:xfrm>
        </p:spPr>
        <p:txBody>
          <a:bodyPr>
            <a:normAutofit/>
          </a:bodyPr>
          <a:lstStyle/>
          <a:p>
            <a:r>
              <a:rPr lang="en-US" dirty="0">
                <a:solidFill>
                  <a:schemeClr val="tx1"/>
                </a:solidFill>
              </a:rPr>
              <a:t>Web technology mini project </a:t>
            </a:r>
          </a:p>
          <a:p>
            <a:r>
              <a:rPr lang="en-US" dirty="0">
                <a:solidFill>
                  <a:schemeClr val="tx1"/>
                </a:solidFill>
              </a:rPr>
              <a:t>presented by: SARAH RAMZEEN (20241IST0075)</a:t>
            </a:r>
          </a:p>
          <a:p>
            <a:r>
              <a:rPr lang="en-US" dirty="0">
                <a:solidFill>
                  <a:schemeClr val="tx1"/>
                </a:solidFill>
              </a:rPr>
              <a:t>                       VARUN SWAMY (20241IST0076)</a:t>
            </a:r>
          </a:p>
          <a:p>
            <a:r>
              <a:rPr lang="en-US" dirty="0">
                <a:solidFill>
                  <a:schemeClr val="tx1"/>
                </a:solidFill>
              </a:rPr>
              <a:t>                        VETRI SELVAN (20241IST0077)</a:t>
            </a:r>
          </a:p>
          <a:p>
            <a:r>
              <a:rPr lang="en-US" dirty="0">
                <a:solidFill>
                  <a:schemeClr val="tx1"/>
                </a:solidFill>
              </a:rPr>
              <a:t>                        SREELEKHA (20241IST0078)</a:t>
            </a:r>
          </a:p>
          <a:p>
            <a:r>
              <a:rPr lang="en-US" dirty="0">
                <a:solidFill>
                  <a:schemeClr val="tx1"/>
                </a:solidFill>
              </a:rPr>
              <a:t>                        PAVITHRA (20241IST0079)</a:t>
            </a:r>
          </a:p>
          <a:p>
            <a:r>
              <a:rPr lang="en-US" dirty="0">
                <a:solidFill>
                  <a:schemeClr val="tx1"/>
                </a:solidFill>
              </a:rPr>
              <a:t>Course name: web technology </a:t>
            </a:r>
          </a:p>
          <a:p>
            <a:r>
              <a:rPr lang="en-US" dirty="0">
                <a:solidFill>
                  <a:schemeClr val="tx1"/>
                </a:solidFill>
              </a:rPr>
              <a:t>Course </a:t>
            </a:r>
            <a:r>
              <a:rPr lang="en-US" dirty="0" err="1">
                <a:solidFill>
                  <a:schemeClr val="tx1"/>
                </a:solidFill>
              </a:rPr>
              <a:t>incharge</a:t>
            </a:r>
            <a:r>
              <a:rPr lang="en-US" dirty="0">
                <a:solidFill>
                  <a:schemeClr val="tx1"/>
                </a:solidFill>
              </a:rPr>
              <a:t>: </a:t>
            </a:r>
            <a:r>
              <a:rPr lang="en-US" dirty="0" err="1">
                <a:solidFill>
                  <a:schemeClr val="tx1"/>
                </a:solidFill>
              </a:rPr>
              <a:t>sunil</a:t>
            </a:r>
            <a:r>
              <a:rPr lang="en-US" dirty="0">
                <a:solidFill>
                  <a:schemeClr val="tx1"/>
                </a:solidFill>
              </a:rPr>
              <a:t> </a:t>
            </a:r>
            <a:r>
              <a:rPr lang="en-US" dirty="0" err="1">
                <a:solidFill>
                  <a:schemeClr val="tx1"/>
                </a:solidFill>
              </a:rPr>
              <a:t>kumar</a:t>
            </a:r>
            <a:r>
              <a:rPr lang="en-US" dirty="0">
                <a:solidFill>
                  <a:schemeClr val="tx1"/>
                </a:solidFill>
              </a:rPr>
              <a:t> Sahoo </a:t>
            </a:r>
          </a:p>
          <a:p>
            <a:endParaRPr lang="en-IN" dirty="0"/>
          </a:p>
        </p:txBody>
      </p:sp>
      <p:pic>
        <p:nvPicPr>
          <p:cNvPr id="4" name="Picture 3">
            <a:extLst>
              <a:ext uri="{FF2B5EF4-FFF2-40B4-BE49-F238E27FC236}">
                <a16:creationId xmlns:a16="http://schemas.microsoft.com/office/drawing/2014/main" id="{7EBDF51E-86B0-9977-5977-1ECF8ED2AF97}"/>
              </a:ext>
            </a:extLst>
          </p:cNvPr>
          <p:cNvPicPr>
            <a:picLocks noChangeAspect="1"/>
          </p:cNvPicPr>
          <p:nvPr/>
        </p:nvPicPr>
        <p:blipFill>
          <a:blip r:embed="rId2"/>
          <a:stretch>
            <a:fillRect/>
          </a:stretch>
        </p:blipFill>
        <p:spPr>
          <a:xfrm>
            <a:off x="7986444" y="2578893"/>
            <a:ext cx="3848944" cy="3848944"/>
          </a:xfrm>
          <a:prstGeom prst="rect">
            <a:avLst/>
          </a:prstGeom>
        </p:spPr>
      </p:pic>
    </p:spTree>
    <p:extLst>
      <p:ext uri="{BB962C8B-B14F-4D97-AF65-F5344CB8AC3E}">
        <p14:creationId xmlns:p14="http://schemas.microsoft.com/office/powerpoint/2010/main" val="31629193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DA0298-E959-E756-B4C2-E74734E5D972}"/>
              </a:ext>
            </a:extLst>
          </p:cNvPr>
          <p:cNvSpPr>
            <a:spLocks noGrp="1"/>
          </p:cNvSpPr>
          <p:nvPr>
            <p:ph type="title"/>
          </p:nvPr>
        </p:nvSpPr>
        <p:spPr>
          <a:xfrm>
            <a:off x="1141413" y="126905"/>
            <a:ext cx="9905998" cy="1478570"/>
          </a:xfrm>
        </p:spPr>
        <p:txBody>
          <a:bodyPr/>
          <a:lstStyle/>
          <a:p>
            <a:r>
              <a:rPr lang="en-US" dirty="0">
                <a:solidFill>
                  <a:schemeClr val="bg1"/>
                </a:solidFill>
              </a:rPr>
              <a:t>INTRODUCTION:</a:t>
            </a:r>
            <a:endParaRPr lang="en-IN" dirty="0">
              <a:solidFill>
                <a:schemeClr val="bg1"/>
              </a:solidFill>
            </a:endParaRPr>
          </a:p>
        </p:txBody>
      </p:sp>
      <p:sp>
        <p:nvSpPr>
          <p:cNvPr id="3" name="Content Placeholder 2">
            <a:extLst>
              <a:ext uri="{FF2B5EF4-FFF2-40B4-BE49-F238E27FC236}">
                <a16:creationId xmlns:a16="http://schemas.microsoft.com/office/drawing/2014/main" id="{D396E8E1-3E6A-C55D-06DB-66769736A26F}"/>
              </a:ext>
            </a:extLst>
          </p:cNvPr>
          <p:cNvSpPr>
            <a:spLocks noGrp="1"/>
          </p:cNvSpPr>
          <p:nvPr>
            <p:ph idx="1"/>
          </p:nvPr>
        </p:nvSpPr>
        <p:spPr>
          <a:xfrm>
            <a:off x="1141412" y="1386348"/>
            <a:ext cx="9905999" cy="5102942"/>
          </a:xfrm>
        </p:spPr>
        <p:txBody>
          <a:bodyPr/>
          <a:lstStyle/>
          <a:p>
            <a:r>
              <a:rPr lang="en-US" dirty="0"/>
              <a:t>The Students’ Intranet Website is a secure web-based platform designed to facilitate communication, collaboration, and information sharing within an educational institution. It acts as a digital communication hub for both students and faculty, enabling the exchange of ideas, academic updates, and announcements through a centralized network.</a:t>
            </a:r>
          </a:p>
          <a:p>
            <a:r>
              <a:rPr lang="en-US" dirty="0"/>
              <a:t>This intranet system enhances the campus environment by offering features such as discussion forums, academic notifications, and peer-to-peer networking. The main goal is to create a connected academic community that fosters knowledge exchange, improves communication efficiency, and reduces information gaps.</a:t>
            </a:r>
          </a:p>
        </p:txBody>
      </p:sp>
    </p:spTree>
    <p:extLst>
      <p:ext uri="{BB962C8B-B14F-4D97-AF65-F5344CB8AC3E}">
        <p14:creationId xmlns:p14="http://schemas.microsoft.com/office/powerpoint/2010/main" val="8852488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611AAC-CF7B-576A-D93F-E3A056BFFF0B}"/>
              </a:ext>
            </a:extLst>
          </p:cNvPr>
          <p:cNvSpPr>
            <a:spLocks noGrp="1"/>
          </p:cNvSpPr>
          <p:nvPr>
            <p:ph type="title"/>
          </p:nvPr>
        </p:nvSpPr>
        <p:spPr>
          <a:xfrm>
            <a:off x="1141412" y="209984"/>
            <a:ext cx="10362329" cy="1713630"/>
          </a:xfrm>
        </p:spPr>
        <p:txBody>
          <a:bodyPr>
            <a:normAutofit/>
          </a:bodyPr>
          <a:lstStyle/>
          <a:p>
            <a:r>
              <a:rPr lang="en-IN" sz="4400" dirty="0">
                <a:solidFill>
                  <a:schemeClr val="bg1"/>
                </a:solidFill>
              </a:rPr>
              <a:t>OBJECTIVES :</a:t>
            </a:r>
            <a:br>
              <a:rPr lang="en-IN" sz="4400" dirty="0"/>
            </a:br>
            <a:br>
              <a:rPr lang="en-IN" dirty="0"/>
            </a:br>
            <a:r>
              <a:rPr lang="en-IN" dirty="0">
                <a:solidFill>
                  <a:schemeClr val="bg1"/>
                </a:solidFill>
              </a:rPr>
              <a:t>1</a:t>
            </a:r>
            <a:r>
              <a:rPr lang="en-IN" sz="3200" dirty="0">
                <a:solidFill>
                  <a:schemeClr val="bg1"/>
                </a:solidFill>
              </a:rPr>
              <a:t>.</a:t>
            </a:r>
            <a:r>
              <a:rPr lang="en-US" sz="3200" dirty="0">
                <a:solidFill>
                  <a:schemeClr val="bg1"/>
                </a:solidFill>
              </a:rPr>
              <a:t> To Create a Centralized Communication Platform</a:t>
            </a:r>
            <a:endParaRPr lang="en-IN" sz="3200" dirty="0">
              <a:solidFill>
                <a:schemeClr val="bg1"/>
              </a:solidFill>
            </a:endParaRPr>
          </a:p>
        </p:txBody>
      </p:sp>
      <p:sp>
        <p:nvSpPr>
          <p:cNvPr id="3" name="Content Placeholder 2">
            <a:extLst>
              <a:ext uri="{FF2B5EF4-FFF2-40B4-BE49-F238E27FC236}">
                <a16:creationId xmlns:a16="http://schemas.microsoft.com/office/drawing/2014/main" id="{A3F2FC67-AF4B-6A4B-D684-EC9D3C1ABC21}"/>
              </a:ext>
            </a:extLst>
          </p:cNvPr>
          <p:cNvSpPr>
            <a:spLocks noGrp="1"/>
          </p:cNvSpPr>
          <p:nvPr>
            <p:ph idx="1"/>
          </p:nvPr>
        </p:nvSpPr>
        <p:spPr>
          <a:xfrm>
            <a:off x="1141412" y="2153264"/>
            <a:ext cx="9905999" cy="4404851"/>
          </a:xfrm>
        </p:spPr>
        <p:txBody>
          <a:bodyPr/>
          <a:lstStyle/>
          <a:p>
            <a:pPr>
              <a:buFont typeface="Courier New" panose="02070309020205020404" pitchFamily="49" charset="0"/>
              <a:buChar char="o"/>
            </a:pPr>
            <a:r>
              <a:rPr lang="en-US" dirty="0"/>
              <a:t> To Develop a secure and unified space where students and faculty can interact easily.</a:t>
            </a:r>
          </a:p>
          <a:p>
            <a:pPr>
              <a:buFont typeface="Courier New" panose="02070309020205020404" pitchFamily="49" charset="0"/>
              <a:buChar char="o"/>
            </a:pPr>
            <a:r>
              <a:rPr lang="en-US" dirty="0"/>
              <a:t> Replace scattered communication methods like notice boards, WhatsApp, and email with one integrated system and ensuring that every user receives timely academic updates and event information.</a:t>
            </a:r>
          </a:p>
          <a:p>
            <a:pPr>
              <a:buFont typeface="Courier New" panose="02070309020205020404" pitchFamily="49" charset="0"/>
              <a:buChar char="o"/>
            </a:pPr>
            <a:r>
              <a:rPr lang="en-US" dirty="0"/>
              <a:t> To Enhance Collaboration within the </a:t>
            </a:r>
            <a:r>
              <a:rPr lang="en-US" dirty="0" err="1"/>
              <a:t>InstitutionEnable</a:t>
            </a:r>
            <a:r>
              <a:rPr lang="en-US" dirty="0"/>
              <a:t> knowledge sharing through discussion forums and academic threads.</a:t>
            </a:r>
          </a:p>
          <a:p>
            <a:pPr>
              <a:buFont typeface="Courier New" panose="02070309020205020404" pitchFamily="49" charset="0"/>
              <a:buChar char="o"/>
            </a:pPr>
            <a:r>
              <a:rPr lang="en-US" dirty="0"/>
              <a:t> Support teamwork in projects, group discussions, and peer-to-peer learning.</a:t>
            </a:r>
            <a:endParaRPr lang="en-IN" dirty="0"/>
          </a:p>
          <a:p>
            <a:endParaRPr lang="en-IN" dirty="0"/>
          </a:p>
        </p:txBody>
      </p:sp>
    </p:spTree>
    <p:extLst>
      <p:ext uri="{BB962C8B-B14F-4D97-AF65-F5344CB8AC3E}">
        <p14:creationId xmlns:p14="http://schemas.microsoft.com/office/powerpoint/2010/main" val="4113661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6FDC5B-609B-00F5-2331-DF5020F85EA8}"/>
              </a:ext>
            </a:extLst>
          </p:cNvPr>
          <p:cNvSpPr>
            <a:spLocks noGrp="1"/>
          </p:cNvSpPr>
          <p:nvPr>
            <p:ph type="title"/>
          </p:nvPr>
        </p:nvSpPr>
        <p:spPr>
          <a:xfrm>
            <a:off x="1347890" y="216310"/>
            <a:ext cx="9905998" cy="1478570"/>
          </a:xfrm>
        </p:spPr>
        <p:txBody>
          <a:bodyPr/>
          <a:lstStyle/>
          <a:p>
            <a:r>
              <a:rPr lang="en-IN" dirty="0">
                <a:solidFill>
                  <a:schemeClr val="bg1"/>
                </a:solidFill>
              </a:rPr>
              <a:t>2. Academic and Functional Objectives</a:t>
            </a:r>
          </a:p>
        </p:txBody>
      </p:sp>
      <p:sp>
        <p:nvSpPr>
          <p:cNvPr id="3" name="Content Placeholder 2">
            <a:extLst>
              <a:ext uri="{FF2B5EF4-FFF2-40B4-BE49-F238E27FC236}">
                <a16:creationId xmlns:a16="http://schemas.microsoft.com/office/drawing/2014/main" id="{E7ACE00E-8364-63B1-7540-EEC640C57BC5}"/>
              </a:ext>
            </a:extLst>
          </p:cNvPr>
          <p:cNvSpPr>
            <a:spLocks noGrp="1"/>
          </p:cNvSpPr>
          <p:nvPr>
            <p:ph idx="1"/>
          </p:nvPr>
        </p:nvSpPr>
        <p:spPr>
          <a:xfrm>
            <a:off x="1265184" y="1779639"/>
            <a:ext cx="9782227" cy="4699819"/>
          </a:xfrm>
        </p:spPr>
        <p:txBody>
          <a:bodyPr/>
          <a:lstStyle/>
          <a:p>
            <a:pPr>
              <a:buFont typeface="Courier New" panose="02070309020205020404" pitchFamily="49" charset="0"/>
              <a:buChar char="o"/>
            </a:pPr>
            <a:r>
              <a:rPr lang="en-US" dirty="0"/>
              <a:t> Improve Academic Resource Accessibility by providing an online repository for notes, circulars, assignments, and class materials.</a:t>
            </a:r>
          </a:p>
          <a:p>
            <a:pPr>
              <a:buFont typeface="Courier New" panose="02070309020205020404" pitchFamily="49" charset="0"/>
              <a:buChar char="o"/>
            </a:pPr>
            <a:r>
              <a:rPr lang="en-US" dirty="0"/>
              <a:t> To Streamline Administrative and Academic Updates by </a:t>
            </a:r>
            <a:r>
              <a:rPr lang="en-US" dirty="0" err="1"/>
              <a:t>Simplifing</a:t>
            </a:r>
            <a:r>
              <a:rPr lang="en-US" dirty="0"/>
              <a:t> the process of posting announcements and event schedules. Reduced delays caused by manual communication. Maintaining transparency and uniform information flow across all departments. </a:t>
            </a:r>
          </a:p>
          <a:p>
            <a:pPr>
              <a:buFont typeface="Courier New" panose="02070309020205020404" pitchFamily="49" charset="0"/>
              <a:buChar char="o"/>
            </a:pPr>
            <a:r>
              <a:rPr lang="en-US" dirty="0"/>
              <a:t> To Integrate Discussion-Based Learning and replacing one-way communication with interactive learning.</a:t>
            </a:r>
            <a:endParaRPr lang="en-IN" dirty="0"/>
          </a:p>
          <a:p>
            <a:endParaRPr lang="en-IN" dirty="0"/>
          </a:p>
        </p:txBody>
      </p:sp>
    </p:spTree>
    <p:extLst>
      <p:ext uri="{BB962C8B-B14F-4D97-AF65-F5344CB8AC3E}">
        <p14:creationId xmlns:p14="http://schemas.microsoft.com/office/powerpoint/2010/main" val="28039843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2D5556-723C-0EC8-D8A6-FD561DBA36D0}"/>
              </a:ext>
            </a:extLst>
          </p:cNvPr>
          <p:cNvSpPr>
            <a:spLocks noGrp="1"/>
          </p:cNvSpPr>
          <p:nvPr>
            <p:ph type="title"/>
          </p:nvPr>
        </p:nvSpPr>
        <p:spPr>
          <a:xfrm>
            <a:off x="1446213" y="136737"/>
            <a:ext cx="9905998" cy="1478570"/>
          </a:xfrm>
        </p:spPr>
        <p:txBody>
          <a:bodyPr/>
          <a:lstStyle/>
          <a:p>
            <a:r>
              <a:rPr lang="en-IN" dirty="0">
                <a:solidFill>
                  <a:schemeClr val="bg1"/>
                </a:solidFill>
              </a:rPr>
              <a:t>3. Technical and Security Objectives</a:t>
            </a:r>
          </a:p>
        </p:txBody>
      </p:sp>
      <p:sp>
        <p:nvSpPr>
          <p:cNvPr id="3" name="Content Placeholder 2">
            <a:extLst>
              <a:ext uri="{FF2B5EF4-FFF2-40B4-BE49-F238E27FC236}">
                <a16:creationId xmlns:a16="http://schemas.microsoft.com/office/drawing/2014/main" id="{65ECC9A8-DF6E-06EC-73C1-D375217F50A1}"/>
              </a:ext>
            </a:extLst>
          </p:cNvPr>
          <p:cNvSpPr>
            <a:spLocks noGrp="1"/>
          </p:cNvSpPr>
          <p:nvPr>
            <p:ph idx="1"/>
          </p:nvPr>
        </p:nvSpPr>
        <p:spPr>
          <a:xfrm>
            <a:off x="1446213" y="1615307"/>
            <a:ext cx="8415543" cy="5242693"/>
          </a:xfrm>
        </p:spPr>
        <p:txBody>
          <a:bodyPr/>
          <a:lstStyle/>
          <a:p>
            <a:pPr>
              <a:buFont typeface="Courier New" panose="02070309020205020404" pitchFamily="49" charset="0"/>
              <a:buChar char="o"/>
            </a:pPr>
            <a:r>
              <a:rPr lang="en-IN" dirty="0"/>
              <a:t> To Ensure Secure and Reliable Access </a:t>
            </a:r>
          </a:p>
          <a:p>
            <a:pPr>
              <a:buFont typeface="Courier New" panose="02070309020205020404" pitchFamily="49" charset="0"/>
              <a:buChar char="o"/>
            </a:pPr>
            <a:r>
              <a:rPr lang="en-IN" dirty="0"/>
              <a:t> To Develop an Efficient and Scalable Web Application using  standard web technologies (HTML, CSS, JavaScript, PHP, MySQL).</a:t>
            </a:r>
          </a:p>
          <a:p>
            <a:pPr>
              <a:buFont typeface="Courier New" panose="02070309020205020404" pitchFamily="49" charset="0"/>
              <a:buChar char="o"/>
            </a:pPr>
            <a:r>
              <a:rPr lang="en-IN" dirty="0"/>
              <a:t> To Promote a Digital Transformation in Campus Communication and reducing dependency on physical paperwork. Foster digital literacy among students.</a:t>
            </a:r>
          </a:p>
          <a:p>
            <a:pPr>
              <a:buFont typeface="Courier New" panose="02070309020205020404" pitchFamily="49" charset="0"/>
              <a:buChar char="o"/>
            </a:pPr>
            <a:r>
              <a:rPr lang="en-IN" dirty="0"/>
              <a:t> Encourage the use of technology for smoother campus management.</a:t>
            </a:r>
          </a:p>
          <a:p>
            <a:endParaRPr lang="en-IN" dirty="0"/>
          </a:p>
        </p:txBody>
      </p:sp>
    </p:spTree>
    <p:extLst>
      <p:ext uri="{BB962C8B-B14F-4D97-AF65-F5344CB8AC3E}">
        <p14:creationId xmlns:p14="http://schemas.microsoft.com/office/powerpoint/2010/main" val="11501599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4B0B3C-6053-56AA-4F1B-8FB041A24ACE}"/>
              </a:ext>
            </a:extLst>
          </p:cNvPr>
          <p:cNvSpPr>
            <a:spLocks noGrp="1"/>
          </p:cNvSpPr>
          <p:nvPr>
            <p:ph type="title"/>
          </p:nvPr>
        </p:nvSpPr>
        <p:spPr>
          <a:xfrm>
            <a:off x="1426548" y="0"/>
            <a:ext cx="9905998" cy="1478570"/>
          </a:xfrm>
        </p:spPr>
        <p:txBody>
          <a:bodyPr/>
          <a:lstStyle/>
          <a:p>
            <a:r>
              <a:rPr lang="en-US" u="sng" dirty="0">
                <a:solidFill>
                  <a:schemeClr val="bg1"/>
                </a:solidFill>
              </a:rPr>
              <a:t>PROBLEM STATEMENT </a:t>
            </a:r>
            <a:r>
              <a:rPr lang="en-US" sz="4000" dirty="0">
                <a:solidFill>
                  <a:schemeClr val="bg1"/>
                </a:solidFill>
              </a:rPr>
              <a:t>:             </a:t>
            </a:r>
            <a:r>
              <a:rPr lang="en-US" u="sng" dirty="0">
                <a:solidFill>
                  <a:schemeClr val="bg1"/>
                </a:solidFill>
              </a:rPr>
              <a:t>SOLUTION</a:t>
            </a:r>
            <a:r>
              <a:rPr lang="en-US" dirty="0">
                <a:solidFill>
                  <a:schemeClr val="bg1"/>
                </a:solidFill>
              </a:rPr>
              <a:t> :</a:t>
            </a:r>
            <a:endParaRPr lang="en-IN" dirty="0">
              <a:solidFill>
                <a:schemeClr val="bg1"/>
              </a:solidFill>
            </a:endParaRPr>
          </a:p>
        </p:txBody>
      </p:sp>
      <p:sp>
        <p:nvSpPr>
          <p:cNvPr id="3" name="Content Placeholder 2">
            <a:extLst>
              <a:ext uri="{FF2B5EF4-FFF2-40B4-BE49-F238E27FC236}">
                <a16:creationId xmlns:a16="http://schemas.microsoft.com/office/drawing/2014/main" id="{B68CCFD9-E9A6-0079-6398-0B99B32F7821}"/>
              </a:ext>
            </a:extLst>
          </p:cNvPr>
          <p:cNvSpPr>
            <a:spLocks noGrp="1"/>
          </p:cNvSpPr>
          <p:nvPr>
            <p:ph idx="1"/>
          </p:nvPr>
        </p:nvSpPr>
        <p:spPr>
          <a:xfrm>
            <a:off x="1141412" y="1317523"/>
            <a:ext cx="4620291" cy="5102942"/>
          </a:xfrm>
        </p:spPr>
        <p:txBody>
          <a:bodyPr/>
          <a:lstStyle/>
          <a:p>
            <a:r>
              <a:rPr lang="en-US" dirty="0"/>
              <a:t>In many institutions, communication is done manually through notice boards, printed circulars, or emails. This often leads to delays, miscommunication, and lack of centralized updates. There is no integrated system for students and faculty to collaborate or discuss academic matters efficiently.</a:t>
            </a:r>
          </a:p>
          <a:p>
            <a:endParaRPr lang="en-IN" dirty="0"/>
          </a:p>
        </p:txBody>
      </p:sp>
      <p:sp>
        <p:nvSpPr>
          <p:cNvPr id="4" name="TextBox 3">
            <a:extLst>
              <a:ext uri="{FF2B5EF4-FFF2-40B4-BE49-F238E27FC236}">
                <a16:creationId xmlns:a16="http://schemas.microsoft.com/office/drawing/2014/main" id="{15EA487E-2B84-92F4-7869-805198A5B13A}"/>
              </a:ext>
            </a:extLst>
          </p:cNvPr>
          <p:cNvSpPr txBox="1"/>
          <p:nvPr/>
        </p:nvSpPr>
        <p:spPr>
          <a:xfrm>
            <a:off x="6538452" y="1331087"/>
            <a:ext cx="4512136" cy="5170646"/>
          </a:xfrm>
          <a:prstGeom prst="rect">
            <a:avLst/>
          </a:prstGeom>
          <a:noFill/>
        </p:spPr>
        <p:txBody>
          <a:bodyPr wrap="square" rtlCol="0">
            <a:spAutoFit/>
          </a:bodyPr>
          <a:lstStyle/>
          <a:p>
            <a:pPr marL="342900" indent="-342900">
              <a:buFont typeface="Arial" panose="020B0604020202020204" pitchFamily="34" charset="0"/>
              <a:buChar char="•"/>
            </a:pPr>
            <a:r>
              <a:rPr lang="en-US" sz="2400" dirty="0"/>
              <a:t>The proposed Students’ Intranet Website offers an internal, secure, and user-friendly platform </a:t>
            </a:r>
            <a:r>
              <a:rPr lang="en-US" sz="2400" dirty="0" err="1"/>
              <a:t>where:Admins</a:t>
            </a:r>
            <a:r>
              <a:rPr lang="en-US" sz="2400" dirty="0"/>
              <a:t> can post announcements and academic </a:t>
            </a:r>
            <a:r>
              <a:rPr lang="en-US" sz="2400" dirty="0" err="1"/>
              <a:t>updates.Faculty</a:t>
            </a:r>
            <a:r>
              <a:rPr lang="en-US" sz="2400" dirty="0"/>
              <a:t> can share materials, assignments, and </a:t>
            </a:r>
            <a:r>
              <a:rPr lang="en-US" sz="2400" dirty="0" err="1"/>
              <a:t>notifications.Students</a:t>
            </a:r>
            <a:r>
              <a:rPr lang="en-US" sz="2400" dirty="0"/>
              <a:t> can access updates, join discussions, and connect with </a:t>
            </a:r>
            <a:r>
              <a:rPr lang="en-US" sz="2400" dirty="0" err="1"/>
              <a:t>peers.This</a:t>
            </a:r>
            <a:r>
              <a:rPr lang="en-US" sz="2400" dirty="0"/>
              <a:t> system ensures faster communication, easy data access, and improved engagement within the campus.</a:t>
            </a:r>
          </a:p>
          <a:p>
            <a:pPr marL="285750" indent="-285750">
              <a:buFont typeface="Arial" panose="020B0604020202020204" pitchFamily="34" charset="0"/>
              <a:buChar char="•"/>
            </a:pPr>
            <a:endParaRPr lang="en-IN" dirty="0"/>
          </a:p>
        </p:txBody>
      </p:sp>
    </p:spTree>
    <p:extLst>
      <p:ext uri="{BB962C8B-B14F-4D97-AF65-F5344CB8AC3E}">
        <p14:creationId xmlns:p14="http://schemas.microsoft.com/office/powerpoint/2010/main" val="39674173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27514A-4495-B6A0-8691-54E55F35B7D1}"/>
              </a:ext>
            </a:extLst>
          </p:cNvPr>
          <p:cNvSpPr>
            <a:spLocks noGrp="1"/>
          </p:cNvSpPr>
          <p:nvPr>
            <p:ph type="title"/>
          </p:nvPr>
        </p:nvSpPr>
        <p:spPr>
          <a:xfrm>
            <a:off x="1367555" y="0"/>
            <a:ext cx="9905998" cy="1478570"/>
          </a:xfrm>
        </p:spPr>
        <p:txBody>
          <a:bodyPr/>
          <a:lstStyle/>
          <a:p>
            <a:r>
              <a:rPr lang="en-IN" dirty="0">
                <a:solidFill>
                  <a:schemeClr val="bg1"/>
                </a:solidFill>
              </a:rPr>
              <a:t>SYSTEM ARCHITECTURE : </a:t>
            </a:r>
          </a:p>
        </p:txBody>
      </p:sp>
      <p:sp>
        <p:nvSpPr>
          <p:cNvPr id="3" name="Content Placeholder 2">
            <a:extLst>
              <a:ext uri="{FF2B5EF4-FFF2-40B4-BE49-F238E27FC236}">
                <a16:creationId xmlns:a16="http://schemas.microsoft.com/office/drawing/2014/main" id="{4B18BF46-8D89-773B-5FA7-4C75E65D007F}"/>
              </a:ext>
            </a:extLst>
          </p:cNvPr>
          <p:cNvSpPr>
            <a:spLocks noGrp="1"/>
          </p:cNvSpPr>
          <p:nvPr>
            <p:ph idx="1"/>
          </p:nvPr>
        </p:nvSpPr>
        <p:spPr>
          <a:xfrm>
            <a:off x="1141412" y="1366684"/>
            <a:ext cx="9905999" cy="5309419"/>
          </a:xfrm>
        </p:spPr>
        <p:txBody>
          <a:bodyPr>
            <a:normAutofit fontScale="92500" lnSpcReduction="10000"/>
          </a:bodyPr>
          <a:lstStyle/>
          <a:p>
            <a:pPr>
              <a:buFont typeface="Courier New" panose="02070309020205020404" pitchFamily="49" charset="0"/>
              <a:buChar char="o"/>
            </a:pPr>
            <a:r>
              <a:rPr lang="en-US" dirty="0"/>
              <a:t>1. </a:t>
            </a:r>
            <a:r>
              <a:rPr lang="en-US" b="1" dirty="0">
                <a:solidFill>
                  <a:schemeClr val="bg1"/>
                </a:solidFill>
              </a:rPr>
              <a:t>Admin Module: </a:t>
            </a:r>
            <a:r>
              <a:rPr lang="en-US" dirty="0"/>
              <a:t>Manage users .Post announcements, circulars, and academic events. Moderate discussion forums and control website content.</a:t>
            </a:r>
          </a:p>
          <a:p>
            <a:pPr>
              <a:buFont typeface="Courier New" panose="02070309020205020404" pitchFamily="49" charset="0"/>
              <a:buChar char="o"/>
            </a:pPr>
            <a:r>
              <a:rPr lang="en-US" dirty="0"/>
              <a:t>2. </a:t>
            </a:r>
            <a:r>
              <a:rPr lang="en-US" b="1" dirty="0">
                <a:solidFill>
                  <a:schemeClr val="bg1"/>
                </a:solidFill>
              </a:rPr>
              <a:t>Faculty Module:</a:t>
            </a:r>
            <a:r>
              <a:rPr lang="en-US" dirty="0">
                <a:solidFill>
                  <a:schemeClr val="bg1"/>
                </a:solidFill>
              </a:rPr>
              <a:t> </a:t>
            </a:r>
            <a:r>
              <a:rPr lang="en-US" dirty="0"/>
              <a:t>Upload assignments, notes, and academic materials. Post class schedules, marks, and event notifications. Interact with students via discussion forums.</a:t>
            </a:r>
          </a:p>
          <a:p>
            <a:pPr>
              <a:buFont typeface="Courier New" panose="02070309020205020404" pitchFamily="49" charset="0"/>
              <a:buChar char="o"/>
            </a:pPr>
            <a:r>
              <a:rPr lang="en-IN" dirty="0"/>
              <a:t>3. </a:t>
            </a:r>
            <a:r>
              <a:rPr lang="en-US" b="1" dirty="0">
                <a:solidFill>
                  <a:schemeClr val="bg1"/>
                </a:solidFill>
              </a:rPr>
              <a:t>Student Module: </a:t>
            </a:r>
            <a:r>
              <a:rPr lang="en-US" dirty="0"/>
              <a:t>View announcements and academic updates. Participate in discussion forums and group activities. Access shared resources and connect with peers.</a:t>
            </a:r>
          </a:p>
          <a:p>
            <a:pPr>
              <a:buFont typeface="Courier New" panose="02070309020205020404" pitchFamily="49" charset="0"/>
              <a:buChar char="o"/>
            </a:pPr>
            <a:r>
              <a:rPr lang="en-US" dirty="0"/>
              <a:t>4. </a:t>
            </a:r>
            <a:r>
              <a:rPr lang="en-US" b="1" dirty="0">
                <a:solidFill>
                  <a:schemeClr val="bg1"/>
                </a:solidFill>
              </a:rPr>
              <a:t>Discussion Forum Module: </a:t>
            </a:r>
            <a:r>
              <a:rPr lang="en-US" dirty="0"/>
              <a:t>Enables communication and collaboration among students and teachers. Provides category-wise threads for easy discussion management.</a:t>
            </a:r>
            <a:endParaRPr lang="en-IN" dirty="0"/>
          </a:p>
          <a:p>
            <a:pPr>
              <a:buFont typeface="Courier New" panose="02070309020205020404" pitchFamily="49" charset="0"/>
              <a:buChar char="o"/>
            </a:pPr>
            <a:r>
              <a:rPr lang="en-US" dirty="0"/>
              <a:t>5</a:t>
            </a:r>
            <a:r>
              <a:rPr lang="en-US" b="1" dirty="0"/>
              <a:t>. </a:t>
            </a:r>
            <a:r>
              <a:rPr lang="en-US" b="1" dirty="0">
                <a:solidFill>
                  <a:schemeClr val="bg1"/>
                </a:solidFill>
              </a:rPr>
              <a:t>Login and Registration Module: </a:t>
            </a:r>
            <a:r>
              <a:rPr lang="en-US" dirty="0"/>
              <a:t>Secure authentication for admin, faculty, and student users. Data validation and session-based login control.</a:t>
            </a:r>
            <a:endParaRPr lang="en-IN" dirty="0"/>
          </a:p>
          <a:p>
            <a:endParaRPr lang="en-IN" dirty="0"/>
          </a:p>
        </p:txBody>
      </p:sp>
    </p:spTree>
    <p:extLst>
      <p:ext uri="{BB962C8B-B14F-4D97-AF65-F5344CB8AC3E}">
        <p14:creationId xmlns:p14="http://schemas.microsoft.com/office/powerpoint/2010/main" val="15045906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AA8023D9-E75C-7D9A-98C9-35BBBD737C22}"/>
              </a:ext>
            </a:extLst>
          </p:cNvPr>
          <p:cNvPicPr>
            <a:picLocks noGrp="1" noChangeAspect="1"/>
          </p:cNvPicPr>
          <p:nvPr>
            <p:ph idx="1"/>
          </p:nvPr>
        </p:nvPicPr>
        <p:blipFill>
          <a:blip r:embed="rId2"/>
          <a:stretch>
            <a:fillRect/>
          </a:stretch>
        </p:blipFill>
        <p:spPr>
          <a:xfrm>
            <a:off x="0" y="0"/>
            <a:ext cx="12192000" cy="6857999"/>
          </a:xfrm>
        </p:spPr>
      </p:pic>
    </p:spTree>
    <p:extLst>
      <p:ext uri="{BB962C8B-B14F-4D97-AF65-F5344CB8AC3E}">
        <p14:creationId xmlns:p14="http://schemas.microsoft.com/office/powerpoint/2010/main" val="31464983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B1E902-8904-BE6A-B3B7-D8FC1B8DED69}"/>
              </a:ext>
            </a:extLst>
          </p:cNvPr>
          <p:cNvSpPr>
            <a:spLocks noGrp="1"/>
          </p:cNvSpPr>
          <p:nvPr>
            <p:ph type="title"/>
          </p:nvPr>
        </p:nvSpPr>
        <p:spPr>
          <a:xfrm>
            <a:off x="1338058" y="0"/>
            <a:ext cx="9905998" cy="1478570"/>
          </a:xfrm>
        </p:spPr>
        <p:txBody>
          <a:bodyPr/>
          <a:lstStyle/>
          <a:p>
            <a:r>
              <a:rPr lang="en-IN" dirty="0">
                <a:solidFill>
                  <a:schemeClr val="bg1"/>
                </a:solidFill>
              </a:rPr>
              <a:t>ADVANTAGES : </a:t>
            </a:r>
          </a:p>
        </p:txBody>
      </p:sp>
      <p:sp>
        <p:nvSpPr>
          <p:cNvPr id="3" name="Content Placeholder 2">
            <a:extLst>
              <a:ext uri="{FF2B5EF4-FFF2-40B4-BE49-F238E27FC236}">
                <a16:creationId xmlns:a16="http://schemas.microsoft.com/office/drawing/2014/main" id="{3929196B-7CAC-B9D1-8E86-95652EE17AB6}"/>
              </a:ext>
            </a:extLst>
          </p:cNvPr>
          <p:cNvSpPr>
            <a:spLocks noGrp="1"/>
          </p:cNvSpPr>
          <p:nvPr>
            <p:ph idx="1"/>
          </p:nvPr>
        </p:nvSpPr>
        <p:spPr>
          <a:xfrm>
            <a:off x="1141412" y="1219200"/>
            <a:ext cx="9905999" cy="4572001"/>
          </a:xfrm>
        </p:spPr>
        <p:txBody>
          <a:bodyPr/>
          <a:lstStyle/>
          <a:p>
            <a:r>
              <a:rPr lang="en-US" dirty="0"/>
              <a:t>Centralized communication and updates.</a:t>
            </a:r>
          </a:p>
          <a:p>
            <a:r>
              <a:rPr lang="en-US" dirty="0"/>
              <a:t>Reduces time and manual work.</a:t>
            </a:r>
          </a:p>
          <a:p>
            <a:r>
              <a:rPr lang="en-US" dirty="0"/>
              <a:t>Improves transparency and engagement.</a:t>
            </a:r>
          </a:p>
          <a:p>
            <a:r>
              <a:rPr lang="en-US" dirty="0"/>
              <a:t>Encourages collaborative learning and teamwork.</a:t>
            </a:r>
          </a:p>
          <a:p>
            <a:r>
              <a:rPr lang="en-US" dirty="0"/>
              <a:t>Secure and restricted access to campus members only.</a:t>
            </a:r>
            <a:endParaRPr lang="en-IN" dirty="0"/>
          </a:p>
          <a:p>
            <a:endParaRPr lang="en-IN" dirty="0"/>
          </a:p>
        </p:txBody>
      </p:sp>
      <p:pic>
        <p:nvPicPr>
          <p:cNvPr id="4" name="Picture 3">
            <a:extLst>
              <a:ext uri="{FF2B5EF4-FFF2-40B4-BE49-F238E27FC236}">
                <a16:creationId xmlns:a16="http://schemas.microsoft.com/office/drawing/2014/main" id="{F6127028-D946-CD3C-FF44-185DC8691B6F}"/>
              </a:ext>
            </a:extLst>
          </p:cNvPr>
          <p:cNvPicPr>
            <a:picLocks noChangeAspect="1"/>
          </p:cNvPicPr>
          <p:nvPr/>
        </p:nvPicPr>
        <p:blipFill>
          <a:blip r:embed="rId2"/>
          <a:stretch>
            <a:fillRect/>
          </a:stretch>
        </p:blipFill>
        <p:spPr>
          <a:xfrm>
            <a:off x="1338058" y="4348624"/>
            <a:ext cx="1944216" cy="1739694"/>
          </a:xfrm>
          <a:prstGeom prst="rect">
            <a:avLst/>
          </a:prstGeom>
        </p:spPr>
      </p:pic>
      <p:pic>
        <p:nvPicPr>
          <p:cNvPr id="5" name="Picture 4">
            <a:extLst>
              <a:ext uri="{FF2B5EF4-FFF2-40B4-BE49-F238E27FC236}">
                <a16:creationId xmlns:a16="http://schemas.microsoft.com/office/drawing/2014/main" id="{AC7415BC-BBA6-5B92-9A0D-FC0067B39462}"/>
              </a:ext>
            </a:extLst>
          </p:cNvPr>
          <p:cNvPicPr>
            <a:picLocks noChangeAspect="1"/>
          </p:cNvPicPr>
          <p:nvPr/>
        </p:nvPicPr>
        <p:blipFill>
          <a:blip r:embed="rId3"/>
          <a:stretch>
            <a:fillRect/>
          </a:stretch>
        </p:blipFill>
        <p:spPr>
          <a:xfrm>
            <a:off x="3845698" y="4348624"/>
            <a:ext cx="1944216" cy="1739694"/>
          </a:xfrm>
          <a:prstGeom prst="rect">
            <a:avLst/>
          </a:prstGeom>
        </p:spPr>
      </p:pic>
      <p:pic>
        <p:nvPicPr>
          <p:cNvPr id="6" name="Picture 5">
            <a:extLst>
              <a:ext uri="{FF2B5EF4-FFF2-40B4-BE49-F238E27FC236}">
                <a16:creationId xmlns:a16="http://schemas.microsoft.com/office/drawing/2014/main" id="{1FB00DF1-F82A-6C6D-007D-04CE588F7DFC}"/>
              </a:ext>
            </a:extLst>
          </p:cNvPr>
          <p:cNvPicPr>
            <a:picLocks noChangeAspect="1"/>
          </p:cNvPicPr>
          <p:nvPr/>
        </p:nvPicPr>
        <p:blipFill>
          <a:blip r:embed="rId4"/>
          <a:stretch>
            <a:fillRect/>
          </a:stretch>
        </p:blipFill>
        <p:spPr>
          <a:xfrm>
            <a:off x="6291057" y="4389713"/>
            <a:ext cx="1921170" cy="1698605"/>
          </a:xfrm>
          <a:prstGeom prst="rect">
            <a:avLst/>
          </a:prstGeom>
        </p:spPr>
      </p:pic>
      <p:pic>
        <p:nvPicPr>
          <p:cNvPr id="7" name="Picture 6">
            <a:extLst>
              <a:ext uri="{FF2B5EF4-FFF2-40B4-BE49-F238E27FC236}">
                <a16:creationId xmlns:a16="http://schemas.microsoft.com/office/drawing/2014/main" id="{08FBA9E4-D751-6E9E-9FF0-EA5FCA8F729A}"/>
              </a:ext>
            </a:extLst>
          </p:cNvPr>
          <p:cNvPicPr>
            <a:picLocks noChangeAspect="1"/>
          </p:cNvPicPr>
          <p:nvPr/>
        </p:nvPicPr>
        <p:blipFill>
          <a:blip r:embed="rId5"/>
          <a:stretch>
            <a:fillRect/>
          </a:stretch>
        </p:blipFill>
        <p:spPr>
          <a:xfrm>
            <a:off x="8657711" y="4379440"/>
            <a:ext cx="1944216" cy="1719150"/>
          </a:xfrm>
          <a:prstGeom prst="rect">
            <a:avLst/>
          </a:prstGeom>
        </p:spPr>
      </p:pic>
    </p:spTree>
    <p:extLst>
      <p:ext uri="{BB962C8B-B14F-4D97-AF65-F5344CB8AC3E}">
        <p14:creationId xmlns:p14="http://schemas.microsoft.com/office/powerpoint/2010/main" val="30782487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40E5EA-4A7B-777B-017B-99B03C7CB869}"/>
              </a:ext>
            </a:extLst>
          </p:cNvPr>
          <p:cNvSpPr>
            <a:spLocks noGrp="1"/>
          </p:cNvSpPr>
          <p:nvPr>
            <p:ph type="title"/>
          </p:nvPr>
        </p:nvSpPr>
        <p:spPr>
          <a:xfrm>
            <a:off x="1338058" y="-109069"/>
            <a:ext cx="9905998" cy="1478570"/>
          </a:xfrm>
        </p:spPr>
        <p:txBody>
          <a:bodyPr/>
          <a:lstStyle/>
          <a:p>
            <a:r>
              <a:rPr lang="en-US" dirty="0">
                <a:solidFill>
                  <a:schemeClr val="bg1"/>
                </a:solidFill>
              </a:rPr>
              <a:t>HTML TAGS USED :</a:t>
            </a:r>
            <a:endParaRPr lang="en-IN" dirty="0">
              <a:solidFill>
                <a:schemeClr val="bg1"/>
              </a:solidFill>
            </a:endParaRPr>
          </a:p>
        </p:txBody>
      </p:sp>
      <p:sp>
        <p:nvSpPr>
          <p:cNvPr id="3" name="Content Placeholder 2">
            <a:extLst>
              <a:ext uri="{FF2B5EF4-FFF2-40B4-BE49-F238E27FC236}">
                <a16:creationId xmlns:a16="http://schemas.microsoft.com/office/drawing/2014/main" id="{BD47EE83-B0E8-05C4-6D4E-541770CA0DEA}"/>
              </a:ext>
            </a:extLst>
          </p:cNvPr>
          <p:cNvSpPr>
            <a:spLocks noGrp="1"/>
          </p:cNvSpPr>
          <p:nvPr>
            <p:ph idx="1"/>
          </p:nvPr>
        </p:nvSpPr>
        <p:spPr>
          <a:xfrm>
            <a:off x="1141413" y="1071716"/>
            <a:ext cx="6970200" cy="5545394"/>
          </a:xfrm>
        </p:spPr>
        <p:txBody>
          <a:bodyPr>
            <a:normAutofit/>
          </a:bodyPr>
          <a:lstStyle/>
          <a:p>
            <a:pPr marL="0" indent="0">
              <a:buNone/>
            </a:pPr>
            <a:r>
              <a:rPr lang="en-US" dirty="0"/>
              <a:t>1. `&lt;!DOCTYPE html&gt;`: The document type declaration</a:t>
            </a:r>
          </a:p>
          <a:p>
            <a:pPr marL="0" indent="0">
              <a:buNone/>
            </a:pPr>
            <a:r>
              <a:rPr lang="en-US" dirty="0"/>
              <a:t>2. `&lt;html&gt;`: The root element of the HTML document</a:t>
            </a:r>
          </a:p>
          <a:p>
            <a:pPr marL="0" indent="0">
              <a:buNone/>
            </a:pPr>
            <a:r>
              <a:rPr lang="en-US" dirty="0"/>
              <a:t>3. `&lt;head&gt;`: The head section of the HTML document</a:t>
            </a:r>
          </a:p>
          <a:p>
            <a:pPr marL="0" indent="0">
              <a:buNone/>
            </a:pPr>
            <a:r>
              <a:rPr lang="en-US" dirty="0"/>
              <a:t>4. `&lt;meta&gt;`: Metadata about the document (charset, viewport)</a:t>
            </a:r>
          </a:p>
          <a:p>
            <a:pPr marL="0" indent="0">
              <a:buNone/>
            </a:pPr>
            <a:r>
              <a:rPr lang="en-US" dirty="0"/>
              <a:t>5. `&lt;title&gt;`: The title of the HTML document</a:t>
            </a:r>
          </a:p>
          <a:p>
            <a:pPr marL="0" indent="0">
              <a:buNone/>
            </a:pPr>
            <a:r>
              <a:rPr lang="en-US" dirty="0"/>
              <a:t>6. `&lt;style&gt;`: Styles for the HTML document</a:t>
            </a:r>
          </a:p>
          <a:p>
            <a:pPr marL="0" indent="0">
              <a:buNone/>
            </a:pPr>
            <a:r>
              <a:rPr lang="en-US" dirty="0"/>
              <a:t>7. `&lt;body&gt;`: The body section of the HTML document</a:t>
            </a:r>
          </a:p>
          <a:p>
            <a:pPr marL="0" indent="0">
              <a:buNone/>
            </a:pPr>
            <a:r>
              <a:rPr lang="en-US" dirty="0"/>
              <a:t>8. `&lt;header&gt;`: The header section of the HTML document</a:t>
            </a:r>
          </a:p>
          <a:p>
            <a:pPr marL="0" indent="0">
              <a:buNone/>
            </a:pPr>
            <a:endParaRPr lang="en-IN" dirty="0"/>
          </a:p>
        </p:txBody>
      </p:sp>
    </p:spTree>
    <p:extLst>
      <p:ext uri="{BB962C8B-B14F-4D97-AF65-F5344CB8AC3E}">
        <p14:creationId xmlns:p14="http://schemas.microsoft.com/office/powerpoint/2010/main" val="31095236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0EC6B2B-9596-456E-1465-40CB5CDB451E}"/>
              </a:ext>
            </a:extLst>
          </p:cNvPr>
          <p:cNvSpPr>
            <a:spLocks noGrp="1"/>
          </p:cNvSpPr>
          <p:nvPr>
            <p:ph idx="1"/>
          </p:nvPr>
        </p:nvSpPr>
        <p:spPr>
          <a:xfrm>
            <a:off x="1143000" y="1030287"/>
            <a:ext cx="9905999" cy="5046048"/>
          </a:xfrm>
        </p:spPr>
        <p:txBody>
          <a:bodyPr>
            <a:normAutofit/>
          </a:bodyPr>
          <a:lstStyle/>
          <a:p>
            <a:pPr marL="0" indent="0">
              <a:buNone/>
            </a:pPr>
            <a:r>
              <a:rPr lang="en-US" dirty="0"/>
              <a:t>9. `&lt;h1&gt;`: A level 1 heading</a:t>
            </a:r>
          </a:p>
          <a:p>
            <a:pPr marL="0" indent="0">
              <a:buNone/>
            </a:pPr>
            <a:r>
              <a:rPr lang="en-US" dirty="0"/>
              <a:t>10. `&lt;nav&gt;`: The navigation section of the HTML document</a:t>
            </a:r>
          </a:p>
          <a:p>
            <a:pPr marL="0" indent="0">
              <a:buNone/>
            </a:pPr>
            <a:r>
              <a:rPr lang="en-US" dirty="0"/>
              <a:t>11. `&lt;ul&gt;`: An unordered list</a:t>
            </a:r>
          </a:p>
          <a:p>
            <a:pPr marL="0" indent="0">
              <a:buNone/>
            </a:pPr>
            <a:r>
              <a:rPr lang="en-US" dirty="0"/>
              <a:t>12. `&lt;li&gt;`: A list item</a:t>
            </a:r>
          </a:p>
          <a:p>
            <a:pPr marL="0" indent="0">
              <a:buNone/>
            </a:pPr>
            <a:r>
              <a:rPr lang="en-US" dirty="0"/>
              <a:t>13. `&lt;a&gt;`: A hyperlink</a:t>
            </a:r>
          </a:p>
          <a:p>
            <a:pPr marL="0" indent="0">
              <a:buNone/>
            </a:pPr>
            <a:r>
              <a:rPr lang="en-US" dirty="0"/>
              <a:t>14. `&lt;main&gt;`: The main content section of the HTML document</a:t>
            </a:r>
          </a:p>
          <a:p>
            <a:pPr marL="0" indent="0">
              <a:buNone/>
            </a:pPr>
            <a:r>
              <a:rPr lang="en-US" dirty="0"/>
              <a:t>15. `&lt;h2&gt;`: A level 2 heading</a:t>
            </a:r>
          </a:p>
          <a:p>
            <a:pPr marL="0" indent="0">
              <a:buNone/>
            </a:pPr>
            <a:r>
              <a:rPr lang="en-US" dirty="0"/>
              <a:t>16. `&lt;p&gt;`: A paragraph</a:t>
            </a:r>
          </a:p>
          <a:p>
            <a:pPr marL="0" indent="0">
              <a:buNone/>
            </a:pPr>
            <a:r>
              <a:rPr lang="en-US" dirty="0"/>
              <a:t>17. `&lt;footer&gt;`: The footer section of the HTML document</a:t>
            </a:r>
            <a:endParaRPr lang="en-IN" dirty="0"/>
          </a:p>
        </p:txBody>
      </p:sp>
    </p:spTree>
    <p:extLst>
      <p:ext uri="{BB962C8B-B14F-4D97-AF65-F5344CB8AC3E}">
        <p14:creationId xmlns:p14="http://schemas.microsoft.com/office/powerpoint/2010/main" val="312217682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65819B-373F-05B0-8601-C9DF7767E12C}"/>
              </a:ext>
            </a:extLst>
          </p:cNvPr>
          <p:cNvSpPr>
            <a:spLocks noGrp="1"/>
          </p:cNvSpPr>
          <p:nvPr>
            <p:ph type="title"/>
          </p:nvPr>
        </p:nvSpPr>
        <p:spPr>
          <a:xfrm>
            <a:off x="1328226" y="-128734"/>
            <a:ext cx="9905998" cy="1478570"/>
          </a:xfrm>
        </p:spPr>
        <p:txBody>
          <a:bodyPr/>
          <a:lstStyle/>
          <a:p>
            <a:r>
              <a:rPr lang="en-US" dirty="0">
                <a:solidFill>
                  <a:schemeClr val="bg1"/>
                </a:solidFill>
              </a:rPr>
              <a:t>HTML ATTRIBUTES USED :</a:t>
            </a:r>
            <a:endParaRPr lang="en-IN" dirty="0">
              <a:solidFill>
                <a:schemeClr val="bg1"/>
              </a:solidFill>
            </a:endParaRPr>
          </a:p>
        </p:txBody>
      </p:sp>
      <p:sp>
        <p:nvSpPr>
          <p:cNvPr id="3" name="Content Placeholder 2">
            <a:extLst>
              <a:ext uri="{FF2B5EF4-FFF2-40B4-BE49-F238E27FC236}">
                <a16:creationId xmlns:a16="http://schemas.microsoft.com/office/drawing/2014/main" id="{FB9A2371-0168-DDC1-262B-DDEEDC23DAA2}"/>
              </a:ext>
            </a:extLst>
          </p:cNvPr>
          <p:cNvSpPr>
            <a:spLocks noGrp="1"/>
          </p:cNvSpPr>
          <p:nvPr>
            <p:ph idx="1"/>
          </p:nvPr>
        </p:nvSpPr>
        <p:spPr>
          <a:xfrm>
            <a:off x="1220070" y="610551"/>
            <a:ext cx="9905999" cy="5427407"/>
          </a:xfrm>
        </p:spPr>
        <p:txBody>
          <a:bodyPr>
            <a:normAutofit/>
          </a:bodyPr>
          <a:lstStyle/>
          <a:p>
            <a:pPr marL="0" indent="0">
              <a:buNone/>
            </a:pPr>
            <a:endParaRPr lang="en-US" dirty="0"/>
          </a:p>
          <a:p>
            <a:pPr marL="0" indent="0">
              <a:buNone/>
            </a:pPr>
            <a:r>
              <a:rPr lang="en-US" dirty="0"/>
              <a:t>1. `lang="</a:t>
            </a:r>
            <a:r>
              <a:rPr lang="en-US" dirty="0" err="1"/>
              <a:t>en</a:t>
            </a:r>
            <a:r>
              <a:rPr lang="en-US" dirty="0"/>
              <a:t>"`: Specifies the language of the HTML document</a:t>
            </a:r>
          </a:p>
          <a:p>
            <a:pPr marL="0" indent="0">
              <a:buNone/>
            </a:pPr>
            <a:r>
              <a:rPr lang="en-US" dirty="0"/>
              <a:t>2. `charset="UTF-8"`: Specifies the character encoding of the HTML document</a:t>
            </a:r>
          </a:p>
          <a:p>
            <a:pPr marL="0" indent="0">
              <a:buNone/>
            </a:pPr>
            <a:r>
              <a:rPr lang="en-US" dirty="0"/>
              <a:t>3. `name="viewport"`: Specifies the viewport settings for mobile devices</a:t>
            </a:r>
          </a:p>
          <a:p>
            <a:pPr marL="0" indent="0">
              <a:buNone/>
            </a:pPr>
            <a:r>
              <a:rPr lang="en-US" dirty="0"/>
              <a:t>4. `content="width=device-width, initial-scale=1.0"`: Specifies the viewport settings (width and initial scale)</a:t>
            </a:r>
          </a:p>
          <a:p>
            <a:pPr marL="0" indent="0">
              <a:buNone/>
            </a:pPr>
            <a:r>
              <a:rPr lang="en-US" dirty="0"/>
              <a:t>5. `</a:t>
            </a:r>
            <a:r>
              <a:rPr lang="en-US" dirty="0" err="1"/>
              <a:t>href</a:t>
            </a:r>
            <a:r>
              <a:rPr lang="en-US" dirty="0"/>
              <a:t>="#"`: Specifies the hyperlink reference (in this case, a placeholder)</a:t>
            </a:r>
          </a:p>
          <a:p>
            <a:pPr marL="0" indent="0">
              <a:buNone/>
            </a:pPr>
            <a:r>
              <a:rPr lang="en-US" dirty="0"/>
              <a:t>6. `style`: Specifies inline styles for an element (used in the `&lt;style&gt;` block)</a:t>
            </a:r>
          </a:p>
          <a:p>
            <a:pPr marL="0" indent="0">
              <a:buNone/>
            </a:pPr>
            <a:r>
              <a:rPr lang="en-US" dirty="0"/>
              <a:t>7. `class`: Not explicitly used, but could be added to elements for styling or scripting purposes</a:t>
            </a:r>
            <a:endParaRPr lang="en-IN" dirty="0"/>
          </a:p>
        </p:txBody>
      </p:sp>
    </p:spTree>
    <p:extLst>
      <p:ext uri="{BB962C8B-B14F-4D97-AF65-F5344CB8AC3E}">
        <p14:creationId xmlns:p14="http://schemas.microsoft.com/office/powerpoint/2010/main" val="72967486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353159-F2F9-4197-DCFF-9144BADF29A3}"/>
              </a:ext>
            </a:extLst>
          </p:cNvPr>
          <p:cNvSpPr>
            <a:spLocks noGrp="1"/>
          </p:cNvSpPr>
          <p:nvPr>
            <p:ph type="title"/>
          </p:nvPr>
        </p:nvSpPr>
        <p:spPr>
          <a:xfrm>
            <a:off x="1347890" y="0"/>
            <a:ext cx="9905998" cy="1478570"/>
          </a:xfrm>
        </p:spPr>
        <p:txBody>
          <a:bodyPr/>
          <a:lstStyle/>
          <a:p>
            <a:r>
              <a:rPr lang="en-IN" dirty="0">
                <a:solidFill>
                  <a:schemeClr val="bg1"/>
                </a:solidFill>
              </a:rPr>
              <a:t>CONCLUSION:</a:t>
            </a:r>
          </a:p>
        </p:txBody>
      </p:sp>
      <p:sp>
        <p:nvSpPr>
          <p:cNvPr id="3" name="Content Placeholder 2">
            <a:extLst>
              <a:ext uri="{FF2B5EF4-FFF2-40B4-BE49-F238E27FC236}">
                <a16:creationId xmlns:a16="http://schemas.microsoft.com/office/drawing/2014/main" id="{3E6841A2-1C65-FC6E-67C2-C579A3304410}"/>
              </a:ext>
            </a:extLst>
          </p:cNvPr>
          <p:cNvSpPr>
            <a:spLocks noGrp="1"/>
          </p:cNvSpPr>
          <p:nvPr>
            <p:ph idx="1"/>
          </p:nvPr>
        </p:nvSpPr>
        <p:spPr>
          <a:xfrm>
            <a:off x="1141412" y="1219200"/>
            <a:ext cx="9905999" cy="5456903"/>
          </a:xfrm>
        </p:spPr>
        <p:txBody>
          <a:bodyPr/>
          <a:lstStyle/>
          <a:p>
            <a:r>
              <a:rPr lang="en-US" dirty="0"/>
              <a:t>The Students’ Intranet Website successfully bridges the communication gap between students and faculty, creating a connected and informed campus environment. It serves as a reliable digital communication hub, promoting collaboration, faster updates, and academic interaction within the institution.</a:t>
            </a:r>
          </a:p>
          <a:p>
            <a:r>
              <a:rPr lang="en-US" dirty="0"/>
              <a:t>This project demonstrates the application of web technologies to design a practical, secure, and efficient intranet system that enhances both learning and communication experiences.</a:t>
            </a:r>
            <a:endParaRPr lang="en-IN" dirty="0"/>
          </a:p>
          <a:p>
            <a:endParaRPr lang="en-IN" dirty="0"/>
          </a:p>
        </p:txBody>
      </p:sp>
    </p:spTree>
    <p:extLst>
      <p:ext uri="{BB962C8B-B14F-4D97-AF65-F5344CB8AC3E}">
        <p14:creationId xmlns:p14="http://schemas.microsoft.com/office/powerpoint/2010/main" val="219939649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2">
            <a:extLst>
              <a:ext uri="{FF2B5EF4-FFF2-40B4-BE49-F238E27FC236}">
                <a16:creationId xmlns:a16="http://schemas.microsoft.com/office/drawing/2014/main" id="{5688B28B-A796-CAD9-1D66-15ECC49ADE90}"/>
              </a:ext>
            </a:extLst>
          </p:cNvPr>
          <p:cNvSpPr>
            <a:spLocks noGrp="1"/>
          </p:cNvSpPr>
          <p:nvPr>
            <p:ph idx="1"/>
          </p:nvPr>
        </p:nvSpPr>
        <p:spPr>
          <a:prstGeom prst="rect">
            <a:avLst/>
          </a:prstGeom>
        </p:spPr>
        <p:txBody>
          <a:bodyPr vert="horz" lIns="121899" tIns="60949" rIns="121899" bIns="60949" rtlCol="0">
            <a:normAutofit/>
          </a:bodyPr>
          <a:lstStyle/>
          <a:p>
            <a:pPr marL="0" indent="0" algn="ctr">
              <a:buNone/>
            </a:pPr>
            <a:r>
              <a:rPr lang="en-US" sz="7200" dirty="0">
                <a:solidFill>
                  <a:schemeClr val="bg1"/>
                </a:solidFill>
              </a:rPr>
              <a:t>THANKYOU</a:t>
            </a:r>
            <a:endParaRPr lang="en-IN" sz="7200" dirty="0">
              <a:solidFill>
                <a:schemeClr val="bg1"/>
              </a:solidFill>
            </a:endParaRPr>
          </a:p>
        </p:txBody>
      </p:sp>
    </p:spTree>
    <p:extLst>
      <p:ext uri="{BB962C8B-B14F-4D97-AF65-F5344CB8AC3E}">
        <p14:creationId xmlns:p14="http://schemas.microsoft.com/office/powerpoint/2010/main" val="1125198912"/>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 /></Relationships>
</file>

<file path=ppt/theme/theme1.xml><?xml version="1.0" encoding="utf-8"?>
<a:theme xmlns:a="http://schemas.openxmlformats.org/drawingml/2006/main" name="Circuit">
  <a:themeElements>
    <a:clrScheme name="Circuit">
      <a:dk1>
        <a:sysClr val="windowText" lastClr="000000"/>
      </a:dk1>
      <a:lt1>
        <a:sysClr val="window" lastClr="FFFFFF"/>
      </a:lt1>
      <a:dk2>
        <a:srgbClr val="134770"/>
      </a:dk2>
      <a:lt2>
        <a:srgbClr val="82FFFF"/>
      </a:lt2>
      <a:accent1>
        <a:srgbClr val="9ACD4C"/>
      </a:accent1>
      <a:accent2>
        <a:srgbClr val="FAA93A"/>
      </a:accent2>
      <a:accent3>
        <a:srgbClr val="D35940"/>
      </a:accent3>
      <a:accent4>
        <a:srgbClr val="B258D3"/>
      </a:accent4>
      <a:accent5>
        <a:srgbClr val="63A0CC"/>
      </a:accent5>
      <a:accent6>
        <a:srgbClr val="8AC4A7"/>
      </a:accent6>
      <a:hlink>
        <a:srgbClr val="B8FA56"/>
      </a:hlink>
      <a:folHlink>
        <a:srgbClr val="7AF8CC"/>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90000"/>
                <a:satMod val="150000"/>
                <a:lumMod val="16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0911B802-464C-4241-8DD9-B60FF88E379F}"/>
    </a:ext>
  </a:extLst>
</a:theme>
</file>

<file path=docProps/app.xml><?xml version="1.0" encoding="utf-8"?>
<Properties xmlns="http://schemas.openxmlformats.org/officeDocument/2006/extended-properties" xmlns:vt="http://schemas.openxmlformats.org/officeDocument/2006/docPropsVTypes">
  <Template>TM04033919[[fn=Circuit]]</Template>
  <TotalTime>44</TotalTime>
  <Words>1420</Words>
  <Application>Microsoft Office PowerPoint</Application>
  <PresentationFormat>Widescreen</PresentationFormat>
  <Paragraphs>72</Paragraphs>
  <Slides>14</Slides>
  <Notes>0</Notes>
  <HiddenSlides>0</HiddenSlides>
  <MMClips>0</MMClips>
  <ScaleCrop>false</ScaleCrop>
  <HeadingPairs>
    <vt:vector size="4" baseType="variant">
      <vt:variant>
        <vt:lpstr>Theme</vt:lpstr>
      </vt:variant>
      <vt:variant>
        <vt:i4>1</vt:i4>
      </vt:variant>
      <vt:variant>
        <vt:lpstr>Slide Titles</vt:lpstr>
      </vt:variant>
      <vt:variant>
        <vt:i4>14</vt:i4>
      </vt:variant>
    </vt:vector>
  </HeadingPairs>
  <TitlesOfParts>
    <vt:vector size="15" baseType="lpstr">
      <vt:lpstr>Circuit</vt:lpstr>
      <vt:lpstr>                                                                                                                                                                                                                                                                                                                                                                          STUDENT’S INTRANET WEBSITE  PRESIDENCY UNIVERSITY  </vt:lpstr>
      <vt:lpstr>INTRODUCTION:</vt:lpstr>
      <vt:lpstr>OBJECTIVES :  1. To Create a Centralized Communication Platform</vt:lpstr>
      <vt:lpstr>2. Academic and Functional Objectives</vt:lpstr>
      <vt:lpstr>3. Technical and Security Objectives</vt:lpstr>
      <vt:lpstr>PROBLEM STATEMENT :             SOLUTION :</vt:lpstr>
      <vt:lpstr>SYSTEM ARCHITECTURE : </vt:lpstr>
      <vt:lpstr>PowerPoint Presentation</vt:lpstr>
      <vt:lpstr>ADVANTAGES : </vt:lpstr>
      <vt:lpstr>HTML TAGS USED :</vt:lpstr>
      <vt:lpstr>PowerPoint Presentation</vt:lpstr>
      <vt:lpstr>HTML ATTRIBUTES USED :</vt:lpstr>
      <vt:lpstr>CONCLUSION: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STUDENT’S INTRANET WEBSITE  PRESIDENCY UNIVERSITY  </dc:title>
  <dc:creator>Sarah Ramzeen</dc:creator>
  <cp:lastModifiedBy>Sarah Ramzeen</cp:lastModifiedBy>
  <cp:revision>3</cp:revision>
  <dcterms:created xsi:type="dcterms:W3CDTF">2025-11-13T16:00:35Z</dcterms:created>
  <dcterms:modified xsi:type="dcterms:W3CDTF">2025-11-13T16:48:35Z</dcterms:modified>
</cp:coreProperties>
</file>