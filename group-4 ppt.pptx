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23984" y="5143500"/>
            <a:ext cx="6125118" cy="6102845"/>
          </a:xfrm>
          <a:custGeom>
            <a:avLst/>
            <a:gdLst/>
            <a:ahLst/>
            <a:cxnLst/>
            <a:rect r="r" b="b" t="t" l="l"/>
            <a:pathLst>
              <a:path h="6102845" w="6125118">
                <a:moveTo>
                  <a:pt x="0" y="0"/>
                </a:moveTo>
                <a:lnTo>
                  <a:pt x="6125118" y="0"/>
                </a:lnTo>
                <a:lnTo>
                  <a:pt x="6125118" y="6102845"/>
                </a:lnTo>
                <a:lnTo>
                  <a:pt x="0" y="6102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" t="0" r="-5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5549360" cy="6228873"/>
          </a:xfrm>
          <a:custGeom>
            <a:avLst/>
            <a:gdLst/>
            <a:ahLst/>
            <a:cxnLst/>
            <a:rect r="r" b="b" t="t" l="l"/>
            <a:pathLst>
              <a:path h="6228873" w="5549360">
                <a:moveTo>
                  <a:pt x="5549360" y="6228873"/>
                </a:moveTo>
                <a:lnTo>
                  <a:pt x="0" y="6228873"/>
                </a:lnTo>
                <a:lnTo>
                  <a:pt x="0" y="0"/>
                </a:lnTo>
                <a:lnTo>
                  <a:pt x="5549360" y="0"/>
                </a:lnTo>
                <a:lnTo>
                  <a:pt x="5549360" y="62288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9" t="0" r="-2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6087" y="1880991"/>
            <a:ext cx="9083213" cy="6525018"/>
          </a:xfrm>
          <a:custGeom>
            <a:avLst/>
            <a:gdLst/>
            <a:ahLst/>
            <a:cxnLst/>
            <a:rect r="r" b="b" t="t" l="l"/>
            <a:pathLst>
              <a:path h="6525018" w="9083213">
                <a:moveTo>
                  <a:pt x="0" y="0"/>
                </a:moveTo>
                <a:lnTo>
                  <a:pt x="9083213" y="0"/>
                </a:lnTo>
                <a:lnTo>
                  <a:pt x="9083213" y="6525018"/>
                </a:lnTo>
                <a:lnTo>
                  <a:pt x="0" y="65250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9" r="0" b="-4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13453"/>
            <a:ext cx="7147387" cy="174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 spc="7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COURSE MANAGEMENT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01283"/>
            <a:ext cx="7147387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b="true" sz="3600" spc="36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algn="l">
              <a:lnSpc>
                <a:spcPts val="4680"/>
              </a:lnSpc>
            </a:pPr>
            <a:r>
              <a:rPr lang="en-US" b="true" sz="3600" spc="36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Poorvi  20241IST0080</a:t>
            </a:r>
          </a:p>
          <a:p>
            <a:pPr algn="l">
              <a:lnSpc>
                <a:spcPts val="4680"/>
              </a:lnSpc>
            </a:pPr>
            <a:r>
              <a:rPr lang="en-US" b="true" sz="3600" spc="36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Madan  20241IST0081</a:t>
            </a:r>
          </a:p>
          <a:p>
            <a:pPr algn="l">
              <a:lnSpc>
                <a:spcPts val="4680"/>
              </a:lnSpc>
            </a:pPr>
            <a:r>
              <a:rPr lang="en-US" b="true" sz="3600" spc="36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Srujan   20241IST0082</a:t>
            </a:r>
          </a:p>
          <a:p>
            <a:pPr algn="l">
              <a:lnSpc>
                <a:spcPts val="4680"/>
              </a:lnSpc>
            </a:pPr>
            <a:r>
              <a:rPr lang="en-US" b="true" sz="3600" spc="36">
                <a:solidFill>
                  <a:srgbClr val="6439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Charan  20241IST0083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8958" y="1028700"/>
            <a:ext cx="7930342" cy="8229600"/>
          </a:xfrm>
          <a:custGeom>
            <a:avLst/>
            <a:gdLst/>
            <a:ahLst/>
            <a:cxnLst/>
            <a:rect r="r" b="b" t="t" l="l"/>
            <a:pathLst>
              <a:path h="8229600" w="7930342">
                <a:moveTo>
                  <a:pt x="0" y="0"/>
                </a:moveTo>
                <a:lnTo>
                  <a:pt x="7930342" y="0"/>
                </a:lnTo>
                <a:lnTo>
                  <a:pt x="793034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5" t="0" r="-8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731386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65047"/>
            <a:ext cx="7731386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The Course Management Website is designed to organize, deliver, and track academic courses for both instructors and students.</a:t>
            </a:r>
          </a:p>
          <a:p>
            <a:pPr algn="l">
              <a:lnSpc>
                <a:spcPts val="351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5770" y="1028700"/>
            <a:ext cx="9058179" cy="5967236"/>
          </a:xfrm>
          <a:custGeom>
            <a:avLst/>
            <a:gdLst/>
            <a:ahLst/>
            <a:cxnLst/>
            <a:rect r="r" b="b" t="t" l="l"/>
            <a:pathLst>
              <a:path h="5967236" w="9058179">
                <a:moveTo>
                  <a:pt x="0" y="0"/>
                </a:moveTo>
                <a:lnTo>
                  <a:pt x="9058179" y="0"/>
                </a:lnTo>
                <a:lnTo>
                  <a:pt x="9058179" y="5967236"/>
                </a:lnTo>
                <a:lnTo>
                  <a:pt x="0" y="5967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0" r="0" b="-4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147070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051" y="2672080"/>
            <a:ext cx="714707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220" indent="-205740" lvl="2">
              <a:lnSpc>
                <a:spcPts val="3510"/>
              </a:lnSpc>
              <a:buFont typeface="Arial"/>
              <a:buChar char="⚬"/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 Centralized e-learning management</a:t>
            </a:r>
          </a:p>
          <a:p>
            <a:pPr algn="l" marL="617220" indent="-205740" lvl="2">
              <a:lnSpc>
                <a:spcPts val="3510"/>
              </a:lnSpc>
              <a:buFont typeface="Arial"/>
              <a:buChar char="⚬"/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 Improved transparency</a:t>
            </a:r>
          </a:p>
          <a:p>
            <a:pPr algn="l" marL="617220" indent="-205740" lvl="2">
              <a:lnSpc>
                <a:spcPts val="3510"/>
              </a:lnSpc>
              <a:buFont typeface="Arial"/>
              <a:buChar char="⚬"/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 Enhanced collaboration</a:t>
            </a:r>
          </a:p>
          <a:p>
            <a:pPr algn="l" marL="617220" indent="-205740" lvl="2">
              <a:lnSpc>
                <a:spcPts val="3510"/>
              </a:lnSpc>
              <a:buFont typeface="Arial"/>
              <a:buChar char="⚬"/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 Blended learning support</a:t>
            </a:r>
          </a:p>
          <a:p>
            <a:pPr algn="l" marL="617220" indent="-205740" lvl="2">
              <a:lnSpc>
                <a:spcPts val="351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5770" y="1028700"/>
            <a:ext cx="9058179" cy="5967236"/>
          </a:xfrm>
          <a:custGeom>
            <a:avLst/>
            <a:gdLst/>
            <a:ahLst/>
            <a:cxnLst/>
            <a:rect r="r" b="b" t="t" l="l"/>
            <a:pathLst>
              <a:path h="5967236" w="9058179">
                <a:moveTo>
                  <a:pt x="0" y="0"/>
                </a:moveTo>
                <a:lnTo>
                  <a:pt x="9058179" y="0"/>
                </a:lnTo>
                <a:lnTo>
                  <a:pt x="9058179" y="5967236"/>
                </a:lnTo>
                <a:lnTo>
                  <a:pt x="0" y="5967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0" r="0" b="-4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147070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051" y="2672080"/>
            <a:ext cx="7147070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 Course Management System (CMS) allows faculty to upload course content, and students to access and submit work online.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4510" y="1808212"/>
            <a:ext cx="9585945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Features(The pages)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600950" y="3979456"/>
            <a:ext cx="3086100" cy="5278844"/>
            <a:chOff x="0" y="0"/>
            <a:chExt cx="4114800" cy="7038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14800" cy="7038467"/>
            </a:xfrm>
            <a:custGeom>
              <a:avLst/>
              <a:gdLst/>
              <a:ahLst/>
              <a:cxnLst/>
              <a:rect r="r" b="b" t="t" l="l"/>
              <a:pathLst>
                <a:path h="7038467" w="4114800">
                  <a:moveTo>
                    <a:pt x="76200" y="0"/>
                  </a:moveTo>
                  <a:lnTo>
                    <a:pt x="4038600" y="0"/>
                  </a:lnTo>
                  <a:cubicBezTo>
                    <a:pt x="4080637" y="0"/>
                    <a:pt x="4114800" y="34163"/>
                    <a:pt x="4114800" y="76200"/>
                  </a:cubicBezTo>
                  <a:lnTo>
                    <a:pt x="4114800" y="6962267"/>
                  </a:lnTo>
                  <a:cubicBezTo>
                    <a:pt x="4114800" y="7004304"/>
                    <a:pt x="4080637" y="7038467"/>
                    <a:pt x="4038600" y="7038467"/>
                  </a:cubicBezTo>
                  <a:lnTo>
                    <a:pt x="76200" y="7038467"/>
                  </a:lnTo>
                  <a:cubicBezTo>
                    <a:pt x="34163" y="7038467"/>
                    <a:pt x="0" y="7004304"/>
                    <a:pt x="0" y="6962267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600950" y="3870960"/>
            <a:ext cx="3086100" cy="5387340"/>
            <a:chOff x="0" y="0"/>
            <a:chExt cx="4114800" cy="7183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4800" cy="7183120"/>
            </a:xfrm>
            <a:custGeom>
              <a:avLst/>
              <a:gdLst/>
              <a:ahLst/>
              <a:cxnLst/>
              <a:rect r="r" b="b" t="t" l="l"/>
              <a:pathLst>
                <a:path h="71831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183120"/>
                  </a:lnTo>
                  <a:lnTo>
                    <a:pt x="0" y="7183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4114800" cy="711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799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Assignment Submission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29925" y="3979456"/>
            <a:ext cx="3086100" cy="5278844"/>
            <a:chOff x="0" y="0"/>
            <a:chExt cx="4114800" cy="70384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4800" cy="7038467"/>
            </a:xfrm>
            <a:custGeom>
              <a:avLst/>
              <a:gdLst/>
              <a:ahLst/>
              <a:cxnLst/>
              <a:rect r="r" b="b" t="t" l="l"/>
              <a:pathLst>
                <a:path h="7038467" w="4114800">
                  <a:moveTo>
                    <a:pt x="76200" y="0"/>
                  </a:moveTo>
                  <a:lnTo>
                    <a:pt x="4038600" y="0"/>
                  </a:lnTo>
                  <a:cubicBezTo>
                    <a:pt x="4080637" y="0"/>
                    <a:pt x="4114800" y="34163"/>
                    <a:pt x="4114800" y="76200"/>
                  </a:cubicBezTo>
                  <a:lnTo>
                    <a:pt x="4114800" y="6962267"/>
                  </a:lnTo>
                  <a:cubicBezTo>
                    <a:pt x="4114800" y="7004304"/>
                    <a:pt x="4080637" y="7038467"/>
                    <a:pt x="4038600" y="7038467"/>
                  </a:cubicBezTo>
                  <a:lnTo>
                    <a:pt x="76200" y="7038467"/>
                  </a:lnTo>
                  <a:cubicBezTo>
                    <a:pt x="34163" y="7038467"/>
                    <a:pt x="0" y="7004304"/>
                    <a:pt x="0" y="6962267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829925" y="3870960"/>
            <a:ext cx="3086100" cy="5387340"/>
            <a:chOff x="0" y="0"/>
            <a:chExt cx="4114800" cy="7183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14800" cy="7183120"/>
            </a:xfrm>
            <a:custGeom>
              <a:avLst/>
              <a:gdLst/>
              <a:ahLst/>
              <a:cxnLst/>
              <a:rect r="r" b="b" t="t" l="l"/>
              <a:pathLst>
                <a:path h="71831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183120"/>
                  </a:lnTo>
                  <a:lnTo>
                    <a:pt x="0" y="7183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4114800" cy="711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799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Grading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59778" y="3979456"/>
            <a:ext cx="3086100" cy="5278844"/>
            <a:chOff x="0" y="0"/>
            <a:chExt cx="4114800" cy="70384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4800" cy="7038467"/>
            </a:xfrm>
            <a:custGeom>
              <a:avLst/>
              <a:gdLst/>
              <a:ahLst/>
              <a:cxnLst/>
              <a:rect r="r" b="b" t="t" l="l"/>
              <a:pathLst>
                <a:path h="7038467" w="4114800">
                  <a:moveTo>
                    <a:pt x="76200" y="0"/>
                  </a:moveTo>
                  <a:lnTo>
                    <a:pt x="4038600" y="0"/>
                  </a:lnTo>
                  <a:cubicBezTo>
                    <a:pt x="4080637" y="0"/>
                    <a:pt x="4114800" y="34163"/>
                    <a:pt x="4114800" y="76200"/>
                  </a:cubicBezTo>
                  <a:lnTo>
                    <a:pt x="4114800" y="6962267"/>
                  </a:lnTo>
                  <a:cubicBezTo>
                    <a:pt x="4114800" y="7004304"/>
                    <a:pt x="4080637" y="7038467"/>
                    <a:pt x="4038600" y="7038467"/>
                  </a:cubicBezTo>
                  <a:lnTo>
                    <a:pt x="76200" y="7038467"/>
                  </a:lnTo>
                  <a:cubicBezTo>
                    <a:pt x="34163" y="7038467"/>
                    <a:pt x="0" y="7004304"/>
                    <a:pt x="0" y="6962267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059778" y="3870960"/>
            <a:ext cx="3086100" cy="5387340"/>
            <a:chOff x="0" y="0"/>
            <a:chExt cx="4114800" cy="718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14800" cy="7183120"/>
            </a:xfrm>
            <a:custGeom>
              <a:avLst/>
              <a:gdLst/>
              <a:ahLst/>
              <a:cxnLst/>
              <a:rect r="r" b="b" t="t" l="l"/>
              <a:pathLst>
                <a:path h="71831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183120"/>
                  </a:lnTo>
                  <a:lnTo>
                    <a:pt x="0" y="7183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66675"/>
              <a:ext cx="4114800" cy="711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799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Progress Tracking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71097" y="3979456"/>
            <a:ext cx="3086100" cy="5278844"/>
            <a:chOff x="0" y="0"/>
            <a:chExt cx="4114800" cy="70384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4800" cy="7038467"/>
            </a:xfrm>
            <a:custGeom>
              <a:avLst/>
              <a:gdLst/>
              <a:ahLst/>
              <a:cxnLst/>
              <a:rect r="r" b="b" t="t" l="l"/>
              <a:pathLst>
                <a:path h="7038467" w="4114800">
                  <a:moveTo>
                    <a:pt x="76200" y="0"/>
                  </a:moveTo>
                  <a:lnTo>
                    <a:pt x="4038600" y="0"/>
                  </a:lnTo>
                  <a:cubicBezTo>
                    <a:pt x="4080637" y="0"/>
                    <a:pt x="4114800" y="34163"/>
                    <a:pt x="4114800" y="76200"/>
                  </a:cubicBezTo>
                  <a:lnTo>
                    <a:pt x="4114800" y="6962267"/>
                  </a:lnTo>
                  <a:cubicBezTo>
                    <a:pt x="4114800" y="7004304"/>
                    <a:pt x="4080637" y="7038467"/>
                    <a:pt x="4038600" y="7038467"/>
                  </a:cubicBezTo>
                  <a:lnTo>
                    <a:pt x="76200" y="7038467"/>
                  </a:lnTo>
                  <a:cubicBezTo>
                    <a:pt x="34163" y="7038467"/>
                    <a:pt x="0" y="7004304"/>
                    <a:pt x="0" y="6962267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371097" y="3870960"/>
            <a:ext cx="3086100" cy="5387340"/>
            <a:chOff x="0" y="0"/>
            <a:chExt cx="4114800" cy="7183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800" cy="7183120"/>
            </a:xfrm>
            <a:custGeom>
              <a:avLst/>
              <a:gdLst/>
              <a:ahLst/>
              <a:cxnLst/>
              <a:rect r="r" b="b" t="t" l="l"/>
              <a:pathLst>
                <a:path h="71831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183120"/>
                  </a:lnTo>
                  <a:lnTo>
                    <a:pt x="0" y="7183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76200"/>
              <a:ext cx="4114800" cy="710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8"/>
                </a:lnSpc>
              </a:pPr>
              <a:r>
                <a:rPr lang="en-US" sz="2799" spc="19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Lecture Uploads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600"/>
                </a:lnSpc>
              </a:pPr>
              <a:r>
                <a:rPr lang="en-US" sz="2799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page for students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42122" y="3979456"/>
            <a:ext cx="3086100" cy="5278844"/>
            <a:chOff x="0" y="0"/>
            <a:chExt cx="4114800" cy="70384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4800" cy="7038467"/>
            </a:xfrm>
            <a:custGeom>
              <a:avLst/>
              <a:gdLst/>
              <a:ahLst/>
              <a:cxnLst/>
              <a:rect r="r" b="b" t="t" l="l"/>
              <a:pathLst>
                <a:path h="7038467" w="4114800">
                  <a:moveTo>
                    <a:pt x="76200" y="0"/>
                  </a:moveTo>
                  <a:lnTo>
                    <a:pt x="4038600" y="0"/>
                  </a:lnTo>
                  <a:cubicBezTo>
                    <a:pt x="4080637" y="0"/>
                    <a:pt x="4114800" y="34163"/>
                    <a:pt x="4114800" y="76200"/>
                  </a:cubicBezTo>
                  <a:lnTo>
                    <a:pt x="4114800" y="6962267"/>
                  </a:lnTo>
                  <a:cubicBezTo>
                    <a:pt x="4114800" y="7004304"/>
                    <a:pt x="4080637" y="7038467"/>
                    <a:pt x="4038600" y="7038467"/>
                  </a:cubicBezTo>
                  <a:lnTo>
                    <a:pt x="76200" y="7038467"/>
                  </a:lnTo>
                  <a:cubicBezTo>
                    <a:pt x="34163" y="7038467"/>
                    <a:pt x="0" y="7004304"/>
                    <a:pt x="0" y="6962267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2122" y="3870960"/>
            <a:ext cx="3086100" cy="5387340"/>
            <a:chOff x="0" y="0"/>
            <a:chExt cx="4114800" cy="718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800" cy="7183120"/>
            </a:xfrm>
            <a:custGeom>
              <a:avLst/>
              <a:gdLst/>
              <a:ahLst/>
              <a:cxnLst/>
              <a:rect r="r" b="b" t="t" l="l"/>
              <a:pathLst>
                <a:path h="71831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183120"/>
                  </a:lnTo>
                  <a:lnTo>
                    <a:pt x="0" y="7183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76200"/>
              <a:ext cx="4114800" cy="710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8"/>
                </a:lnSpc>
              </a:pPr>
              <a:r>
                <a:rPr lang="en-US" sz="2799" spc="19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Faculty page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600"/>
                </a:lnSpc>
              </a:pPr>
              <a:r>
                <a:rPr lang="en-US" sz="2799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Student page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43878" y="3479075"/>
            <a:ext cx="3086100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3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72853" y="3479075"/>
            <a:ext cx="3086100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3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00950" y="3479075"/>
            <a:ext cx="3086100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3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30803" y="3479075"/>
            <a:ext cx="3086100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3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59778" y="3479075"/>
            <a:ext cx="3086100" cy="3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32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7117" y="1028700"/>
            <a:ext cx="8262183" cy="7300765"/>
          </a:xfrm>
          <a:custGeom>
            <a:avLst/>
            <a:gdLst/>
            <a:ahLst/>
            <a:cxnLst/>
            <a:rect r="r" b="b" t="t" l="l"/>
            <a:pathLst>
              <a:path h="7300765" w="8262183">
                <a:moveTo>
                  <a:pt x="0" y="0"/>
                </a:moveTo>
                <a:lnTo>
                  <a:pt x="8262183" y="0"/>
                </a:lnTo>
                <a:lnTo>
                  <a:pt x="8262183" y="7300765"/>
                </a:lnTo>
                <a:lnTo>
                  <a:pt x="0" y="7300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731386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Allocate resources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91030"/>
            <a:ext cx="7731386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Determine the types and quantities of resources needed for each project task, including personnel, equipment, materials, and facilities.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3677" y="1266825"/>
            <a:ext cx="14680646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Roles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903619" y="2967895"/>
          <a:ext cx="14478000" cy="3530600"/>
        </p:xfrm>
        <a:graphic>
          <a:graphicData uri="http://schemas.openxmlformats.org/drawingml/2006/table">
            <a:tbl>
              <a:tblPr/>
              <a:tblGrid>
                <a:gridCol w="5689421"/>
                <a:gridCol w="8788579"/>
              </a:tblGrid>
              <a:tr h="1037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b="true" sz="2400" spc="23">
                          <a:solidFill>
                            <a:srgbClr val="FDE9E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NAME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F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b="true" sz="2400" spc="24">
                          <a:solidFill>
                            <a:srgbClr val="FDE9E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ROLE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C76"/>
                    </a:solidFill>
                  </a:tcPr>
                </a:tc>
              </a:tr>
              <a:tr h="12434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400" spc="18">
                          <a:solidFill>
                            <a:srgbClr val="64392D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FACULTY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B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2400" spc="15">
                          <a:solidFill>
                            <a:srgbClr val="64392D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Upload Materials, create quizzes, evaluate students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BA"/>
                    </a:solidFill>
                  </a:tcPr>
                </a:tc>
              </a:tr>
              <a:tr h="1249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400" spc="18">
                          <a:solidFill>
                            <a:srgbClr val="64392D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365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B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2400" spc="15">
                          <a:solidFill>
                            <a:srgbClr val="64392D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Access Materials, Submit assignments, view progress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A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2184" y="1028700"/>
            <a:ext cx="8757116" cy="5302036"/>
          </a:xfrm>
          <a:custGeom>
            <a:avLst/>
            <a:gdLst/>
            <a:ahLst/>
            <a:cxnLst/>
            <a:rect r="r" b="b" t="t" l="l"/>
            <a:pathLst>
              <a:path h="5302036" w="8757116">
                <a:moveTo>
                  <a:pt x="0" y="0"/>
                </a:moveTo>
                <a:lnTo>
                  <a:pt x="8757116" y="0"/>
                </a:lnTo>
                <a:lnTo>
                  <a:pt x="8757116" y="5302036"/>
                </a:lnTo>
                <a:lnTo>
                  <a:pt x="0" y="5302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1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5347" y="4114540"/>
            <a:ext cx="11301259" cy="5579997"/>
            <a:chOff x="0" y="0"/>
            <a:chExt cx="15068345" cy="74399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68296" cy="7440041"/>
            </a:xfrm>
            <a:custGeom>
              <a:avLst/>
              <a:gdLst/>
              <a:ahLst/>
              <a:cxnLst/>
              <a:rect r="r" b="b" t="t" l="l"/>
              <a:pathLst>
                <a:path h="7440041" w="15068296">
                  <a:moveTo>
                    <a:pt x="0" y="0"/>
                  </a:moveTo>
                  <a:lnTo>
                    <a:pt x="15068296" y="0"/>
                  </a:lnTo>
                  <a:lnTo>
                    <a:pt x="15068296" y="7440041"/>
                  </a:lnTo>
                  <a:lnTo>
                    <a:pt x="0" y="7440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" t="0" r="-1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4018" y="1266825"/>
            <a:ext cx="736730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62535" y="1028700"/>
            <a:ext cx="7996765" cy="7051693"/>
          </a:xfrm>
          <a:custGeom>
            <a:avLst/>
            <a:gdLst/>
            <a:ahLst/>
            <a:cxnLst/>
            <a:rect r="r" b="b" t="t" l="l"/>
            <a:pathLst>
              <a:path h="7051693" w="7996765">
                <a:moveTo>
                  <a:pt x="0" y="0"/>
                </a:moveTo>
                <a:lnTo>
                  <a:pt x="7996765" y="0"/>
                </a:lnTo>
                <a:lnTo>
                  <a:pt x="7996765" y="7051693"/>
                </a:lnTo>
                <a:lnTo>
                  <a:pt x="0" y="705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0" t="0" r="-1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785" y="2349599"/>
            <a:ext cx="7367308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3785" y="3707456"/>
            <a:ext cx="7699938" cy="182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b="true" sz="3700" spc="37">
                <a:solidFill>
                  <a:srgbClr val="F26B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Simplifies course management</a:t>
            </a:r>
          </a:p>
          <a:p>
            <a:pPr algn="l">
              <a:lnSpc>
                <a:spcPts val="3700"/>
              </a:lnSpc>
            </a:pPr>
            <a:r>
              <a:rPr lang="en-US" b="true" sz="3700" spc="37">
                <a:solidFill>
                  <a:srgbClr val="F26B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Enhances digital learning</a:t>
            </a:r>
          </a:p>
          <a:p>
            <a:pPr algn="l">
              <a:lnSpc>
                <a:spcPts val="3700"/>
              </a:lnSpc>
            </a:pPr>
            <a:r>
              <a:rPr lang="en-US" b="true" sz="3700" spc="37">
                <a:solidFill>
                  <a:srgbClr val="F26B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Improves communication</a:t>
            </a:r>
          </a:p>
          <a:p>
            <a:pPr algn="l">
              <a:lnSpc>
                <a:spcPts val="3700"/>
              </a:lnSpc>
            </a:pPr>
            <a:r>
              <a:rPr lang="en-US" b="true" sz="3700" spc="37">
                <a:solidFill>
                  <a:srgbClr val="F26B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Transparent evaluation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02449" y="1028700"/>
            <a:ext cx="7956851" cy="7315844"/>
          </a:xfrm>
          <a:custGeom>
            <a:avLst/>
            <a:gdLst/>
            <a:ahLst/>
            <a:cxnLst/>
            <a:rect r="r" b="b" t="t" l="l"/>
            <a:pathLst>
              <a:path h="7315844" w="7956851">
                <a:moveTo>
                  <a:pt x="0" y="0"/>
                </a:moveTo>
                <a:lnTo>
                  <a:pt x="7956851" y="0"/>
                </a:lnTo>
                <a:lnTo>
                  <a:pt x="7956851" y="7315844"/>
                </a:lnTo>
                <a:lnTo>
                  <a:pt x="0" y="731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367308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 spc="63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24685"/>
            <a:ext cx="7367308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→ Internal Dependency</a:t>
            </a:r>
          </a:p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→ Technical Familiarity</a:t>
            </a:r>
          </a:p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→ Security and Maintenance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0174" y="3206121"/>
            <a:ext cx="38100" cy="898817"/>
            <a:chOff x="0" y="0"/>
            <a:chExt cx="50800" cy="1198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1198372"/>
            </a:xfrm>
            <a:custGeom>
              <a:avLst/>
              <a:gdLst/>
              <a:ahLst/>
              <a:cxnLst/>
              <a:rect r="r" b="b" t="t" l="l"/>
              <a:pathLst>
                <a:path h="1198372" w="50800">
                  <a:moveTo>
                    <a:pt x="50800" y="25400"/>
                  </a:moveTo>
                  <a:lnTo>
                    <a:pt x="50800" y="1172972"/>
                  </a:lnTo>
                  <a:cubicBezTo>
                    <a:pt x="50800" y="1186942"/>
                    <a:pt x="39370" y="1198372"/>
                    <a:pt x="25400" y="1198372"/>
                  </a:cubicBezTo>
                  <a:cubicBezTo>
                    <a:pt x="11430" y="1198372"/>
                    <a:pt x="0" y="1186942"/>
                    <a:pt x="0" y="117297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close/>
                </a:path>
              </a:pathLst>
            </a:custGeom>
            <a:solidFill>
              <a:srgbClr val="6439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321544" y="2532318"/>
            <a:ext cx="2595359" cy="692854"/>
          </a:xfrm>
          <a:custGeom>
            <a:avLst/>
            <a:gdLst/>
            <a:ahLst/>
            <a:cxnLst/>
            <a:rect r="r" b="b" t="t" l="l"/>
            <a:pathLst>
              <a:path h="692854" w="2595359">
                <a:moveTo>
                  <a:pt x="0" y="0"/>
                </a:moveTo>
                <a:lnTo>
                  <a:pt x="2595359" y="0"/>
                </a:lnTo>
                <a:lnTo>
                  <a:pt x="2595359" y="692854"/>
                </a:lnTo>
                <a:lnTo>
                  <a:pt x="0" y="69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71465" y="3206121"/>
            <a:ext cx="38100" cy="722642"/>
            <a:chOff x="0" y="0"/>
            <a:chExt cx="50800" cy="963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" cy="963549"/>
            </a:xfrm>
            <a:custGeom>
              <a:avLst/>
              <a:gdLst/>
              <a:ahLst/>
              <a:cxnLst/>
              <a:rect r="r" b="b" t="t" l="l"/>
              <a:pathLst>
                <a:path h="963549" w="50800">
                  <a:moveTo>
                    <a:pt x="50800" y="25400"/>
                  </a:moveTo>
                  <a:lnTo>
                    <a:pt x="50800" y="938149"/>
                  </a:lnTo>
                  <a:cubicBezTo>
                    <a:pt x="50800" y="952119"/>
                    <a:pt x="39370" y="963549"/>
                    <a:pt x="25400" y="963549"/>
                  </a:cubicBezTo>
                  <a:cubicBezTo>
                    <a:pt x="11430" y="963549"/>
                    <a:pt x="0" y="952119"/>
                    <a:pt x="0" y="938149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close/>
                </a:path>
              </a:pathLst>
            </a:custGeom>
            <a:solidFill>
              <a:srgbClr val="6439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592835" y="2532318"/>
            <a:ext cx="2595359" cy="692854"/>
          </a:xfrm>
          <a:custGeom>
            <a:avLst/>
            <a:gdLst/>
            <a:ahLst/>
            <a:cxnLst/>
            <a:rect r="r" b="b" t="t" l="l"/>
            <a:pathLst>
              <a:path h="692854" w="2595359">
                <a:moveTo>
                  <a:pt x="0" y="0"/>
                </a:moveTo>
                <a:lnTo>
                  <a:pt x="2595359" y="0"/>
                </a:lnTo>
                <a:lnTo>
                  <a:pt x="2595359" y="692854"/>
                </a:lnTo>
                <a:lnTo>
                  <a:pt x="0" y="69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142756" y="3206121"/>
            <a:ext cx="38100" cy="539650"/>
            <a:chOff x="0" y="0"/>
            <a:chExt cx="50800" cy="71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719582"/>
            </a:xfrm>
            <a:custGeom>
              <a:avLst/>
              <a:gdLst/>
              <a:ahLst/>
              <a:cxnLst/>
              <a:rect r="r" b="b" t="t" l="l"/>
              <a:pathLst>
                <a:path h="719582" w="50800">
                  <a:moveTo>
                    <a:pt x="50800" y="25400"/>
                  </a:moveTo>
                  <a:lnTo>
                    <a:pt x="50800" y="694182"/>
                  </a:lnTo>
                  <a:cubicBezTo>
                    <a:pt x="50800" y="708152"/>
                    <a:pt x="39370" y="719582"/>
                    <a:pt x="25400" y="719582"/>
                  </a:cubicBezTo>
                  <a:cubicBezTo>
                    <a:pt x="11430" y="719582"/>
                    <a:pt x="0" y="708152"/>
                    <a:pt x="0" y="69418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close/>
                </a:path>
              </a:pathLst>
            </a:custGeom>
            <a:solidFill>
              <a:srgbClr val="6439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864126" y="2539650"/>
            <a:ext cx="2595359" cy="692854"/>
          </a:xfrm>
          <a:custGeom>
            <a:avLst/>
            <a:gdLst/>
            <a:ahLst/>
            <a:cxnLst/>
            <a:rect r="r" b="b" t="t" l="l"/>
            <a:pathLst>
              <a:path h="692854" w="2595359">
                <a:moveTo>
                  <a:pt x="0" y="0"/>
                </a:moveTo>
                <a:lnTo>
                  <a:pt x="2595359" y="0"/>
                </a:lnTo>
                <a:lnTo>
                  <a:pt x="2595359" y="692854"/>
                </a:lnTo>
                <a:lnTo>
                  <a:pt x="0" y="6928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14046" y="3213453"/>
            <a:ext cx="38100" cy="347134"/>
            <a:chOff x="0" y="0"/>
            <a:chExt cx="50800" cy="4628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462788"/>
            </a:xfrm>
            <a:custGeom>
              <a:avLst/>
              <a:gdLst/>
              <a:ahLst/>
              <a:cxnLst/>
              <a:rect r="r" b="b" t="t" l="l"/>
              <a:pathLst>
                <a:path h="462788" w="50800">
                  <a:moveTo>
                    <a:pt x="50800" y="25400"/>
                  </a:moveTo>
                  <a:lnTo>
                    <a:pt x="50800" y="437388"/>
                  </a:lnTo>
                  <a:cubicBezTo>
                    <a:pt x="50800" y="451358"/>
                    <a:pt x="39370" y="462788"/>
                    <a:pt x="25400" y="462788"/>
                  </a:cubicBezTo>
                  <a:cubicBezTo>
                    <a:pt x="11430" y="462788"/>
                    <a:pt x="0" y="451358"/>
                    <a:pt x="0" y="4373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close/>
                </a:path>
              </a:pathLst>
            </a:custGeom>
            <a:solidFill>
              <a:srgbClr val="6439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22616" y="2532318"/>
            <a:ext cx="2595359" cy="692854"/>
          </a:xfrm>
          <a:custGeom>
            <a:avLst/>
            <a:gdLst/>
            <a:ahLst/>
            <a:cxnLst/>
            <a:rect r="r" b="b" t="t" l="l"/>
            <a:pathLst>
              <a:path h="692854" w="2595359">
                <a:moveTo>
                  <a:pt x="0" y="0"/>
                </a:moveTo>
                <a:lnTo>
                  <a:pt x="2595359" y="0"/>
                </a:lnTo>
                <a:lnTo>
                  <a:pt x="2595359" y="692854"/>
                </a:lnTo>
                <a:lnTo>
                  <a:pt x="0" y="69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03677" y="1059446"/>
            <a:ext cx="14680646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" r="0" b="-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305543" y="4070048"/>
            <a:ext cx="2595359" cy="3208106"/>
            <a:chOff x="0" y="0"/>
            <a:chExt cx="3460479" cy="42774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60369" cy="4277360"/>
            </a:xfrm>
            <a:custGeom>
              <a:avLst/>
              <a:gdLst/>
              <a:ahLst/>
              <a:cxnLst/>
              <a:rect r="r" b="b" t="t" l="l"/>
              <a:pathLst>
                <a:path h="4277360" w="3460369">
                  <a:moveTo>
                    <a:pt x="90551" y="0"/>
                  </a:moveTo>
                  <a:lnTo>
                    <a:pt x="3369818" y="0"/>
                  </a:lnTo>
                  <a:cubicBezTo>
                    <a:pt x="3419856" y="0"/>
                    <a:pt x="3460369" y="40513"/>
                    <a:pt x="3460369" y="90551"/>
                  </a:cubicBezTo>
                  <a:lnTo>
                    <a:pt x="3460369" y="4186809"/>
                  </a:lnTo>
                  <a:cubicBezTo>
                    <a:pt x="3460369" y="4236847"/>
                    <a:pt x="3419856" y="4277360"/>
                    <a:pt x="3369818" y="4277360"/>
                  </a:cubicBezTo>
                  <a:lnTo>
                    <a:pt x="90551" y="4277360"/>
                  </a:lnTo>
                  <a:cubicBezTo>
                    <a:pt x="40513" y="4277360"/>
                    <a:pt x="0" y="4236847"/>
                    <a:pt x="0" y="4186809"/>
                  </a:cubicBezTo>
                  <a:lnTo>
                    <a:pt x="0" y="90551"/>
                  </a:lnTo>
                  <a:cubicBezTo>
                    <a:pt x="0" y="40513"/>
                    <a:pt x="40513" y="0"/>
                    <a:pt x="90551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305543" y="3961552"/>
            <a:ext cx="2595359" cy="3316602"/>
            <a:chOff x="0" y="0"/>
            <a:chExt cx="3460479" cy="44221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0479" cy="4422136"/>
            </a:xfrm>
            <a:custGeom>
              <a:avLst/>
              <a:gdLst/>
              <a:ahLst/>
              <a:cxnLst/>
              <a:rect r="r" b="b" t="t" l="l"/>
              <a:pathLst>
                <a:path h="4422136" w="3460479">
                  <a:moveTo>
                    <a:pt x="0" y="0"/>
                  </a:moveTo>
                  <a:lnTo>
                    <a:pt x="3460479" y="0"/>
                  </a:lnTo>
                  <a:lnTo>
                    <a:pt x="3460479" y="4422136"/>
                  </a:lnTo>
                  <a:lnTo>
                    <a:pt x="0" y="4422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460479" cy="4450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000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Advanced Analytics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86435" y="3876183"/>
            <a:ext cx="2595359" cy="3208106"/>
            <a:chOff x="0" y="0"/>
            <a:chExt cx="3460479" cy="42774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60369" cy="4277360"/>
            </a:xfrm>
            <a:custGeom>
              <a:avLst/>
              <a:gdLst/>
              <a:ahLst/>
              <a:cxnLst/>
              <a:rect r="r" b="b" t="t" l="l"/>
              <a:pathLst>
                <a:path h="4277360" w="3460369">
                  <a:moveTo>
                    <a:pt x="90551" y="0"/>
                  </a:moveTo>
                  <a:lnTo>
                    <a:pt x="3369818" y="0"/>
                  </a:lnTo>
                  <a:cubicBezTo>
                    <a:pt x="3419856" y="0"/>
                    <a:pt x="3460369" y="40513"/>
                    <a:pt x="3460369" y="90551"/>
                  </a:cubicBezTo>
                  <a:lnTo>
                    <a:pt x="3460369" y="4186809"/>
                  </a:lnTo>
                  <a:cubicBezTo>
                    <a:pt x="3460369" y="4236847"/>
                    <a:pt x="3419856" y="4277360"/>
                    <a:pt x="3369818" y="4277360"/>
                  </a:cubicBezTo>
                  <a:lnTo>
                    <a:pt x="90551" y="4277360"/>
                  </a:lnTo>
                  <a:cubicBezTo>
                    <a:pt x="40513" y="4277360"/>
                    <a:pt x="0" y="4236847"/>
                    <a:pt x="0" y="4186809"/>
                  </a:cubicBezTo>
                  <a:lnTo>
                    <a:pt x="0" y="90551"/>
                  </a:lnTo>
                  <a:cubicBezTo>
                    <a:pt x="0" y="40513"/>
                    <a:pt x="40513" y="0"/>
                    <a:pt x="90551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586435" y="3767687"/>
            <a:ext cx="2595359" cy="3316602"/>
            <a:chOff x="0" y="0"/>
            <a:chExt cx="3460479" cy="44221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60479" cy="4422136"/>
            </a:xfrm>
            <a:custGeom>
              <a:avLst/>
              <a:gdLst/>
              <a:ahLst/>
              <a:cxnLst/>
              <a:rect r="r" b="b" t="t" l="l"/>
              <a:pathLst>
                <a:path h="4422136" w="3460479">
                  <a:moveTo>
                    <a:pt x="0" y="0"/>
                  </a:moveTo>
                  <a:lnTo>
                    <a:pt x="3460479" y="0"/>
                  </a:lnTo>
                  <a:lnTo>
                    <a:pt x="3460479" y="4422136"/>
                  </a:lnTo>
                  <a:lnTo>
                    <a:pt x="0" y="4422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460479" cy="4450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000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Cloud storage optimization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854525" y="3674986"/>
            <a:ext cx="2595359" cy="3208106"/>
            <a:chOff x="0" y="0"/>
            <a:chExt cx="3460479" cy="42774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60369" cy="4277360"/>
            </a:xfrm>
            <a:custGeom>
              <a:avLst/>
              <a:gdLst/>
              <a:ahLst/>
              <a:cxnLst/>
              <a:rect r="r" b="b" t="t" l="l"/>
              <a:pathLst>
                <a:path h="4277360" w="3460369">
                  <a:moveTo>
                    <a:pt x="90551" y="0"/>
                  </a:moveTo>
                  <a:lnTo>
                    <a:pt x="3369818" y="0"/>
                  </a:lnTo>
                  <a:cubicBezTo>
                    <a:pt x="3419856" y="0"/>
                    <a:pt x="3460369" y="40513"/>
                    <a:pt x="3460369" y="90551"/>
                  </a:cubicBezTo>
                  <a:lnTo>
                    <a:pt x="3460369" y="4186809"/>
                  </a:lnTo>
                  <a:cubicBezTo>
                    <a:pt x="3460369" y="4236847"/>
                    <a:pt x="3419856" y="4277360"/>
                    <a:pt x="3369818" y="4277360"/>
                  </a:cubicBezTo>
                  <a:lnTo>
                    <a:pt x="90551" y="4277360"/>
                  </a:lnTo>
                  <a:cubicBezTo>
                    <a:pt x="40513" y="4277360"/>
                    <a:pt x="0" y="4236847"/>
                    <a:pt x="0" y="4186809"/>
                  </a:cubicBezTo>
                  <a:lnTo>
                    <a:pt x="0" y="90551"/>
                  </a:lnTo>
                  <a:cubicBezTo>
                    <a:pt x="0" y="40513"/>
                    <a:pt x="40513" y="0"/>
                    <a:pt x="90551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854525" y="3566490"/>
            <a:ext cx="2595359" cy="3316602"/>
            <a:chOff x="0" y="0"/>
            <a:chExt cx="3460479" cy="4422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60479" cy="4422136"/>
            </a:xfrm>
            <a:custGeom>
              <a:avLst/>
              <a:gdLst/>
              <a:ahLst/>
              <a:cxnLst/>
              <a:rect r="r" b="b" t="t" l="l"/>
              <a:pathLst>
                <a:path h="4422136" w="3460479">
                  <a:moveTo>
                    <a:pt x="0" y="0"/>
                  </a:moveTo>
                  <a:lnTo>
                    <a:pt x="3460479" y="0"/>
                  </a:lnTo>
                  <a:lnTo>
                    <a:pt x="3460479" y="4422136"/>
                  </a:lnTo>
                  <a:lnTo>
                    <a:pt x="0" y="4422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460479" cy="4450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000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Mobile App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122616" y="3473789"/>
            <a:ext cx="2595359" cy="3208106"/>
            <a:chOff x="0" y="0"/>
            <a:chExt cx="3460479" cy="42774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60369" cy="4277360"/>
            </a:xfrm>
            <a:custGeom>
              <a:avLst/>
              <a:gdLst/>
              <a:ahLst/>
              <a:cxnLst/>
              <a:rect r="r" b="b" t="t" l="l"/>
              <a:pathLst>
                <a:path h="4277360" w="3460369">
                  <a:moveTo>
                    <a:pt x="90551" y="0"/>
                  </a:moveTo>
                  <a:lnTo>
                    <a:pt x="3369818" y="0"/>
                  </a:lnTo>
                  <a:cubicBezTo>
                    <a:pt x="3419856" y="0"/>
                    <a:pt x="3460369" y="40513"/>
                    <a:pt x="3460369" y="90551"/>
                  </a:cubicBezTo>
                  <a:lnTo>
                    <a:pt x="3460369" y="4186809"/>
                  </a:lnTo>
                  <a:cubicBezTo>
                    <a:pt x="3460369" y="4236847"/>
                    <a:pt x="3419856" y="4277360"/>
                    <a:pt x="3369818" y="4277360"/>
                  </a:cubicBezTo>
                  <a:lnTo>
                    <a:pt x="90551" y="4277360"/>
                  </a:lnTo>
                  <a:cubicBezTo>
                    <a:pt x="40513" y="4277360"/>
                    <a:pt x="0" y="4236847"/>
                    <a:pt x="0" y="4186809"/>
                  </a:cubicBezTo>
                  <a:lnTo>
                    <a:pt x="0" y="90551"/>
                  </a:lnTo>
                  <a:cubicBezTo>
                    <a:pt x="0" y="40513"/>
                    <a:pt x="40513" y="0"/>
                    <a:pt x="90551" y="0"/>
                  </a:cubicBezTo>
                  <a:close/>
                </a:path>
              </a:pathLst>
            </a:custGeom>
            <a:solidFill>
              <a:srgbClr val="F8D0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122616" y="3365293"/>
            <a:ext cx="2595359" cy="3316602"/>
            <a:chOff x="0" y="0"/>
            <a:chExt cx="3460479" cy="44221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60479" cy="4422136"/>
            </a:xfrm>
            <a:custGeom>
              <a:avLst/>
              <a:gdLst/>
              <a:ahLst/>
              <a:cxnLst/>
              <a:rect r="r" b="b" t="t" l="l"/>
              <a:pathLst>
                <a:path h="4422136" w="3460479">
                  <a:moveTo>
                    <a:pt x="0" y="0"/>
                  </a:moveTo>
                  <a:lnTo>
                    <a:pt x="3460479" y="0"/>
                  </a:lnTo>
                  <a:lnTo>
                    <a:pt x="3460479" y="4422136"/>
                  </a:lnTo>
                  <a:lnTo>
                    <a:pt x="0" y="4422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460479" cy="4450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00"/>
                </a:lnSpc>
              </a:pPr>
              <a:r>
                <a:rPr lang="en-US" sz="2000" spc="20">
                  <a:solidFill>
                    <a:srgbClr val="6439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Integration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6903" y="5734264"/>
            <a:ext cx="5532198" cy="5512081"/>
          </a:xfrm>
          <a:custGeom>
            <a:avLst/>
            <a:gdLst/>
            <a:ahLst/>
            <a:cxnLst/>
            <a:rect r="r" b="b" t="t" l="l"/>
            <a:pathLst>
              <a:path h="5512081" w="5532198">
                <a:moveTo>
                  <a:pt x="0" y="0"/>
                </a:moveTo>
                <a:lnTo>
                  <a:pt x="5532198" y="0"/>
                </a:lnTo>
                <a:lnTo>
                  <a:pt x="5532198" y="5512081"/>
                </a:lnTo>
                <a:lnTo>
                  <a:pt x="0" y="551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453165" y="-1738657"/>
            <a:ext cx="4561415" cy="5119956"/>
          </a:xfrm>
          <a:custGeom>
            <a:avLst/>
            <a:gdLst/>
            <a:ahLst/>
            <a:cxnLst/>
            <a:rect r="r" b="b" t="t" l="l"/>
            <a:pathLst>
              <a:path h="5119956" w="4561415">
                <a:moveTo>
                  <a:pt x="4561415" y="5119956"/>
                </a:moveTo>
                <a:lnTo>
                  <a:pt x="0" y="5119956"/>
                </a:lnTo>
                <a:lnTo>
                  <a:pt x="0" y="0"/>
                </a:lnTo>
                <a:lnTo>
                  <a:pt x="4561415" y="0"/>
                </a:lnTo>
                <a:lnTo>
                  <a:pt x="4561415" y="51199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49687" y="1028700"/>
            <a:ext cx="8409613" cy="7264929"/>
          </a:xfrm>
          <a:custGeom>
            <a:avLst/>
            <a:gdLst/>
            <a:ahLst/>
            <a:cxnLst/>
            <a:rect r="r" b="b" t="t" l="l"/>
            <a:pathLst>
              <a:path h="7264929" w="8409613">
                <a:moveTo>
                  <a:pt x="0" y="0"/>
                </a:moveTo>
                <a:lnTo>
                  <a:pt x="8409613" y="0"/>
                </a:lnTo>
                <a:lnTo>
                  <a:pt x="8409613" y="7264929"/>
                </a:lnTo>
                <a:lnTo>
                  <a:pt x="0" y="72649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7731386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b="true" sz="6199" spc="61">
                <a:solidFill>
                  <a:srgbClr val="365F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91030"/>
            <a:ext cx="7731386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27">
                <a:solidFill>
                  <a:srgbClr val="64392D"/>
                </a:solidFill>
                <a:latin typeface="Canva Sans"/>
                <a:ea typeface="Canva Sans"/>
                <a:cs typeface="Canva Sans"/>
                <a:sym typeface="Canva Sans"/>
              </a:rPr>
              <a:t>An integrated e-learning platform fostering efficient academic management and digital education.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DAG5UszMveA</dc:identifier>
  <dcterms:modified xsi:type="dcterms:W3CDTF">2011-08-01T06:04:30Z</dcterms:modified>
  <cp:revision>1</cp:revision>
  <dc:title>Blue Green Pink Creative Project Management Presentation.pptx</dc:title>
</cp:coreProperties>
</file>